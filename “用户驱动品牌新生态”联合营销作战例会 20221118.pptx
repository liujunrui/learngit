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Lst>
  <p:notesMasterIdLst>
    <p:notesMasterId r:id="rId17"/>
  </p:notesMasterIdLst>
  <p:sldIdLst>
    <p:sldId id="256" r:id="rId3"/>
    <p:sldId id="264" r:id="rId4"/>
    <p:sldId id="265" r:id="rId5"/>
    <p:sldId id="279" r:id="rId6"/>
    <p:sldId id="267" r:id="rId7"/>
    <p:sldId id="281" r:id="rId8"/>
    <p:sldId id="269" r:id="rId9"/>
    <p:sldId id="270" r:id="rId10"/>
    <p:sldId id="278" r:id="rId11"/>
    <p:sldId id="272" r:id="rId12"/>
    <p:sldId id="282" r:id="rId13"/>
    <p:sldId id="276" r:id="rId14"/>
    <p:sldId id="280" r:id="rId15"/>
    <p:sldId id="277"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C6FF"/>
    <a:srgbClr val="FFE300"/>
    <a:srgbClr val="C00000"/>
    <a:srgbClr val="6699FF"/>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86" autoAdjust="0"/>
    <p:restoredTop sz="94660"/>
  </p:normalViewPr>
  <p:slideViewPr>
    <p:cSldViewPr>
      <p:cViewPr varScale="1">
        <p:scale>
          <a:sx n="72" d="100"/>
          <a:sy n="72" d="100"/>
        </p:scale>
        <p:origin x="448" y="5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A8708A-8067-4A10-AA82-AE72C2C8F2C0}" type="datetimeFigureOut">
              <a:rPr lang="zh-CN" altLang="en-US" smtClean="0"/>
              <a:pPr/>
              <a:t>2022/11/18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993FEE-E93C-47F2-8A09-FB729FAB345D}" type="slidenum">
              <a:rPr lang="zh-CN" altLang="en-US" smtClean="0"/>
              <a:pPr/>
              <a:t>‹#›</a:t>
            </a:fld>
            <a:endParaRPr lang="zh-CN" altLang="en-US"/>
          </a:p>
        </p:txBody>
      </p:sp>
    </p:spTree>
    <p:extLst>
      <p:ext uri="{BB962C8B-B14F-4D97-AF65-F5344CB8AC3E}">
        <p14:creationId xmlns:p14="http://schemas.microsoft.com/office/powerpoint/2010/main" val="1826513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图像占位符 2"/>
          <p:cNvSpPr>
            <a:spLocks noGrp="1" noRot="1" noChangeAspect="1"/>
          </p:cNvSpPr>
          <p:nvPr>
            <p:ph type="sldImg"/>
          </p:nvPr>
        </p:nvSpPr>
        <p:spPr>
          <a:xfrm>
            <a:off x="1289050" y="146050"/>
            <a:ext cx="7440613" cy="418623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8893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30"/>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25813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20247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5"/>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97825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07640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20259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13518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18478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05939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4351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10096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3"/>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3"/>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97304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65245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cstate="print"/>
          <a:srcRect/>
          <a:stretch>
            <a:fillRect/>
          </a:stretch>
        </p:blipFill>
        <p:spPr>
          <a:xfrm>
            <a:off x="0" y="3039201"/>
            <a:ext cx="4044558" cy="3809650"/>
          </a:xfrm>
          <a:prstGeom prst="rect">
            <a:avLst/>
          </a:prstGeom>
          <a:noFill/>
          <a:ln>
            <a:noFill/>
          </a:ln>
        </p:spPr>
      </p:pic>
    </p:spTree>
    <p:extLst>
      <p:ext uri="{BB962C8B-B14F-4D97-AF65-F5344CB8AC3E}">
        <p14:creationId xmlns:p14="http://schemas.microsoft.com/office/powerpoint/2010/main" val="35746289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light">
    <p:spTree>
      <p:nvGrpSpPr>
        <p:cNvPr id="1" name=""/>
        <p:cNvGrpSpPr/>
        <p:nvPr/>
      </p:nvGrpSpPr>
      <p:grpSpPr>
        <a:xfrm>
          <a:off x="0" y="0"/>
          <a:ext cx="0" cy="0"/>
          <a:chOff x="0" y="0"/>
          <a:chExt cx="0" cy="0"/>
        </a:xfrm>
      </p:grpSpPr>
      <p:cxnSp>
        <p:nvCxnSpPr>
          <p:cNvPr id="3" name="直接连接符 2"/>
          <p:cNvCxnSpPr/>
          <p:nvPr userDrawn="1"/>
        </p:nvCxnSpPr>
        <p:spPr>
          <a:xfrm>
            <a:off x="0" y="620688"/>
            <a:ext cx="12192000" cy="0"/>
          </a:xfrm>
          <a:prstGeom prst="line">
            <a:avLst/>
          </a:prstGeom>
          <a:ln w="25400">
            <a:gradFill flip="none" rotWithShape="1">
              <a:gsLst>
                <a:gs pos="100000">
                  <a:srgbClr val="06C1FF"/>
                </a:gs>
                <a:gs pos="40000">
                  <a:srgbClr val="C00000"/>
                </a:gs>
                <a:gs pos="100000">
                  <a:srgbClr val="00B0F0"/>
                </a:gs>
                <a:gs pos="100000">
                  <a:schemeClr val="accent1">
                    <a:lumMod val="45000"/>
                    <a:lumOff val="55000"/>
                  </a:schemeClr>
                </a:gs>
                <a:gs pos="100000">
                  <a:srgbClr val="00B0F0"/>
                </a:gs>
              </a:gsLst>
              <a:path path="circle">
                <a:fillToRect t="100000" r="100000"/>
              </a:path>
              <a:tileRect l="-100000" b="-100000"/>
            </a:gra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userDrawn="1"/>
        </p:nvSpPr>
        <p:spPr>
          <a:xfrm>
            <a:off x="0" y="44624"/>
            <a:ext cx="191344" cy="5040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userDrawn="1"/>
        </p:nvSpPr>
        <p:spPr>
          <a:xfrm>
            <a:off x="259241" y="44624"/>
            <a:ext cx="76119" cy="5040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590398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30"/>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7312521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92145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5"/>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77676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335181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888264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475791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589582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096196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796019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522739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3"/>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3"/>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340403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451617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四、现状分析">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22928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有说明">
    <p:spTree>
      <p:nvGrpSpPr>
        <p:cNvPr id="1" name=""/>
        <p:cNvGrpSpPr/>
        <p:nvPr/>
      </p:nvGrpSpPr>
      <p:grpSpPr>
        <a:xfrm>
          <a:off x="0" y="0"/>
          <a:ext cx="0" cy="0"/>
          <a:chOff x="0" y="0"/>
          <a:chExt cx="0" cy="0"/>
        </a:xfrm>
      </p:grpSpPr>
      <p:sp>
        <p:nvSpPr>
          <p:cNvPr id="15" name="文本占位符 14"/>
          <p:cNvSpPr>
            <a:spLocks noGrp="1"/>
          </p:cNvSpPr>
          <p:nvPr>
            <p:ph type="body" sz="quarter" idx="12"/>
          </p:nvPr>
        </p:nvSpPr>
        <p:spPr>
          <a:xfrm>
            <a:off x="0" y="6272999"/>
            <a:ext cx="12192000" cy="576263"/>
          </a:xfrm>
          <a:prstGeom prst="rect">
            <a:avLst/>
          </a:prstGeom>
          <a:solidFill>
            <a:srgbClr val="FFFFCC"/>
          </a:solidFill>
          <a:ln>
            <a:solidFill>
              <a:srgbClr val="FF3300"/>
            </a:solidFill>
          </a:ln>
        </p:spPr>
        <p:txBody>
          <a:bodyPr anchor="ctr" anchorCtr="0"/>
          <a:lstStyle>
            <a:lvl1pPr marL="342900" indent="-342900" algn="ctr">
              <a:buNone/>
              <a:defRPr lang="zh-CN" altLang="en-US" sz="1600" b="0" baseline="0" dirty="0">
                <a:solidFill>
                  <a:schemeClr val="tx1"/>
                </a:solidFill>
                <a:latin typeface="微软雅黑" pitchFamily="34" charset="-122"/>
                <a:ea typeface="微软雅黑" pitchFamily="34" charset="-122"/>
              </a:defRPr>
            </a:lvl1pPr>
          </a:lstStyle>
          <a:p>
            <a:pPr marL="0" lvl="0" indent="0" algn="ctr"/>
            <a:r>
              <a:rPr lang="zh-CN" altLang="en-US" dirty="0"/>
              <a:t>单击此处编辑母版文本样式</a:t>
            </a:r>
          </a:p>
        </p:txBody>
      </p:sp>
    </p:spTree>
    <p:extLst>
      <p:ext uri="{BB962C8B-B14F-4D97-AF65-F5344CB8AC3E}">
        <p14:creationId xmlns:p14="http://schemas.microsoft.com/office/powerpoint/2010/main" val="2188125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image" Target="../media/image4.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image" Target="../media/image3.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11" name="Picture 39" descr="图片4"/>
          <p:cNvPicPr>
            <a:picLocks noChangeAspect="1" noChangeArrowheads="1"/>
          </p:cNvPicPr>
          <p:nvPr userDrawn="1"/>
        </p:nvPicPr>
        <p:blipFill>
          <a:blip r:embed="rId14" cstate="email">
            <a:extLst>
              <a:ext uri="{28A0092B-C50C-407E-A947-70E740481C1C}">
                <a14:useLocalDpi xmlns:a14="http://schemas.microsoft.com/office/drawing/2010/main"/>
              </a:ext>
            </a:extLst>
          </a:blip>
          <a:srcRect/>
          <a:stretch>
            <a:fillRect/>
          </a:stretch>
        </p:blipFill>
        <p:spPr bwMode="auto">
          <a:xfrm>
            <a:off x="0" y="420004"/>
            <a:ext cx="12192000" cy="8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10344472" y="44451"/>
            <a:ext cx="1433603" cy="295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7391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2022/11/18</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12" name="Picture 2"/>
          <p:cNvPicPr>
            <a:picLocks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9494320" y="148442"/>
            <a:ext cx="1406579" cy="289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图片 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1037433" y="141563"/>
            <a:ext cx="964445" cy="289680"/>
          </a:xfrm>
          <a:prstGeom prst="rect">
            <a:avLst/>
          </a:prstGeom>
        </p:spPr>
      </p:pic>
      <p:pic>
        <p:nvPicPr>
          <p:cNvPr id="18" name="图片 17"/>
          <p:cNvPicPr>
            <a:picLocks noChangeAspect="1"/>
          </p:cNvPicPr>
          <p:nvPr userDrawn="1"/>
        </p:nvPicPr>
        <p:blipFill rotWithShape="1">
          <a:blip r:embed="rId20" cstate="print">
            <a:extLst>
              <a:ext uri="{28A0092B-C50C-407E-A947-70E740481C1C}">
                <a14:useLocalDpi xmlns:a14="http://schemas.microsoft.com/office/drawing/2010/main" val="0"/>
              </a:ext>
            </a:extLst>
          </a:blip>
          <a:srcRect l="57069" t="8339" r="39837"/>
          <a:stretch>
            <a:fillRect/>
          </a:stretch>
        </p:blipFill>
        <p:spPr>
          <a:xfrm>
            <a:off x="10950443" y="82425"/>
            <a:ext cx="92174" cy="417554"/>
          </a:xfrm>
          <a:prstGeom prst="rect">
            <a:avLst/>
          </a:prstGeom>
        </p:spPr>
      </p:pic>
    </p:spTree>
    <p:extLst>
      <p:ext uri="{BB962C8B-B14F-4D97-AF65-F5344CB8AC3E}">
        <p14:creationId xmlns:p14="http://schemas.microsoft.com/office/powerpoint/2010/main" val="288234357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4"/>
          <p:cNvSpPr txBox="1">
            <a:spLocks noChangeArrowheads="1"/>
          </p:cNvSpPr>
          <p:nvPr/>
        </p:nvSpPr>
        <p:spPr bwMode="auto">
          <a:xfrm>
            <a:off x="0" y="1916832"/>
            <a:ext cx="12192000" cy="1830116"/>
          </a:xfrm>
          <a:prstGeom prst="rect">
            <a:avLst/>
          </a:prstGeom>
          <a:noFill/>
          <a:ln w="9525">
            <a:noFill/>
            <a:miter lim="800000"/>
          </a:ln>
        </p:spPr>
        <p:txBody>
          <a:bodyPr wrap="square">
            <a:spAutoFit/>
          </a:bodyPr>
          <a:lstStyle/>
          <a:p>
            <a:pPr algn="ctr">
              <a:lnSpc>
                <a:spcPct val="150000"/>
              </a:lnSpc>
            </a:pPr>
            <a:r>
              <a:rPr lang="zh-CN" altLang="en-US" sz="4000" b="1" dirty="0">
                <a:cs typeface="+mn-ea"/>
                <a:sym typeface="+mn-lt"/>
              </a:rPr>
              <a:t>用户驱动品牌新生态”</a:t>
            </a:r>
            <a:endParaRPr lang="en-US" altLang="zh-CN" sz="4000" b="1" dirty="0">
              <a:cs typeface="+mn-ea"/>
              <a:sym typeface="+mn-lt"/>
            </a:endParaRPr>
          </a:p>
          <a:p>
            <a:pPr algn="ctr">
              <a:lnSpc>
                <a:spcPct val="150000"/>
              </a:lnSpc>
            </a:pPr>
            <a:r>
              <a:rPr lang="zh-CN" altLang="en-US" sz="4000" b="1" dirty="0">
                <a:cs typeface="+mn-ea"/>
                <a:sym typeface="+mn-lt"/>
              </a:rPr>
              <a:t>联合营销作战例会</a:t>
            </a:r>
          </a:p>
        </p:txBody>
      </p:sp>
      <p:sp>
        <p:nvSpPr>
          <p:cNvPr id="9" name="TextBox 5"/>
          <p:cNvSpPr txBox="1">
            <a:spLocks noChangeArrowheads="1"/>
          </p:cNvSpPr>
          <p:nvPr/>
        </p:nvSpPr>
        <p:spPr bwMode="auto">
          <a:xfrm>
            <a:off x="0" y="4149080"/>
            <a:ext cx="12192000" cy="461665"/>
          </a:xfrm>
          <a:prstGeom prst="rect">
            <a:avLst/>
          </a:prstGeom>
          <a:noFill/>
          <a:ln w="9525">
            <a:noFill/>
            <a:miter lim="800000"/>
          </a:ln>
        </p:spPr>
        <p:txBody>
          <a:bodyPr wrap="square">
            <a:spAutoFit/>
          </a:bodyPr>
          <a:lstStyle/>
          <a:p>
            <a:pPr algn="ctr"/>
            <a:r>
              <a:rPr lang="en-US" altLang="zh-CN" sz="2400" b="1" dirty="0" smtClean="0">
                <a:cs typeface="+mn-ea"/>
                <a:sym typeface="+mn-lt"/>
              </a:rPr>
              <a:t>2022</a:t>
            </a:r>
            <a:r>
              <a:rPr lang="zh-CN" altLang="en-US" sz="2400" b="1" dirty="0" smtClean="0">
                <a:cs typeface="+mn-ea"/>
                <a:sym typeface="+mn-lt"/>
              </a:rPr>
              <a:t>年</a:t>
            </a:r>
            <a:r>
              <a:rPr lang="en-US" altLang="zh-CN" sz="2400" b="1" dirty="0" smtClean="0">
                <a:cs typeface="+mn-ea"/>
                <a:sym typeface="+mn-lt"/>
              </a:rPr>
              <a:t>11</a:t>
            </a:r>
            <a:r>
              <a:rPr lang="zh-CN" altLang="en-US" sz="2400" b="1" dirty="0" smtClean="0">
                <a:cs typeface="+mn-ea"/>
                <a:sym typeface="+mn-lt"/>
              </a:rPr>
              <a:t>月</a:t>
            </a:r>
            <a:endParaRPr lang="zh-CN" altLang="en-US" sz="2400" b="1" dirty="0">
              <a:cs typeface="+mn-ea"/>
              <a:sym typeface="+mn-lt"/>
            </a:endParaRPr>
          </a:p>
        </p:txBody>
      </p:sp>
      <p:grpSp>
        <p:nvGrpSpPr>
          <p:cNvPr id="19" name="组合 18"/>
          <p:cNvGrpSpPr/>
          <p:nvPr/>
        </p:nvGrpSpPr>
        <p:grpSpPr>
          <a:xfrm>
            <a:off x="0" y="5866349"/>
            <a:ext cx="12192000" cy="986001"/>
            <a:chOff x="0" y="5866349"/>
            <a:chExt cx="12192000" cy="986001"/>
          </a:xfrm>
        </p:grpSpPr>
        <p:pic>
          <p:nvPicPr>
            <p:cNvPr id="11" name="图片 10" descr="模糊的照片上写着字&#10;&#10;描述已自动生成">
              <a:extLst>
                <a:ext uri="{FF2B5EF4-FFF2-40B4-BE49-F238E27FC236}">
                  <a16:creationId xmlns:a16="http://schemas.microsoft.com/office/drawing/2014/main" id="{17A00AB9-633E-4003-96C7-03BC7F210EBF}"/>
                </a:ext>
              </a:extLst>
            </p:cNvPr>
            <p:cNvPicPr>
              <a:picLocks noChangeAspect="1"/>
            </p:cNvPicPr>
            <p:nvPr/>
          </p:nvPicPr>
          <p:blipFill>
            <a:blip r:embed="rId3">
              <a:duotone>
                <a:prstClr val="black"/>
                <a:schemeClr val="tx2">
                  <a:tint val="45000"/>
                  <a:satMod val="400000"/>
                </a:schemeClr>
              </a:duotone>
            </a:blip>
            <a:stretch>
              <a:fillRect/>
            </a:stretch>
          </p:blipFill>
          <p:spPr>
            <a:xfrm>
              <a:off x="4079776" y="6364201"/>
              <a:ext cx="3287688" cy="488149"/>
            </a:xfrm>
            <a:prstGeom prst="rect">
              <a:avLst/>
            </a:prstGeom>
          </p:spPr>
        </p:pic>
        <p:cxnSp>
          <p:nvCxnSpPr>
            <p:cNvPr id="13" name="直接连接符 12"/>
            <p:cNvCxnSpPr/>
            <p:nvPr/>
          </p:nvCxnSpPr>
          <p:spPr>
            <a:xfrm>
              <a:off x="0" y="6237312"/>
              <a:ext cx="121920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8" name="TextBox 5"/>
            <p:cNvSpPr txBox="1">
              <a:spLocks noChangeArrowheads="1"/>
            </p:cNvSpPr>
            <p:nvPr/>
          </p:nvSpPr>
          <p:spPr bwMode="auto">
            <a:xfrm>
              <a:off x="5519936" y="5866349"/>
              <a:ext cx="720080" cy="523875"/>
            </a:xfrm>
            <a:prstGeom prst="rect">
              <a:avLst/>
            </a:prstGeom>
            <a:solidFill>
              <a:schemeClr val="bg1"/>
            </a:solidFill>
            <a:ln w="9525">
              <a:noFill/>
              <a:miter lim="800000"/>
            </a:ln>
          </p:spPr>
          <p:txBody>
            <a:bodyPr wrap="square">
              <a:spAutoFit/>
            </a:bodyPr>
            <a:lstStyle/>
            <a:p>
              <a:pPr algn="ctr"/>
              <a:r>
                <a:rPr lang="en-US" altLang="zh-CN" sz="2800" b="1" dirty="0">
                  <a:solidFill>
                    <a:schemeClr val="bg1">
                      <a:lumMod val="50000"/>
                    </a:schemeClr>
                  </a:solidFill>
                  <a:cs typeface="+mn-ea"/>
                  <a:sym typeface="+mn-lt"/>
                </a:rPr>
                <a:t>.</a:t>
              </a:r>
              <a:endParaRPr lang="zh-CN" altLang="en-US" sz="2800" b="1" dirty="0">
                <a:solidFill>
                  <a:schemeClr val="bg1">
                    <a:lumMod val="50000"/>
                  </a:schemeClr>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3">
            <a:extLst>
              <a:ext uri="{FF2B5EF4-FFF2-40B4-BE49-F238E27FC236}">
                <a16:creationId xmlns:a16="http://schemas.microsoft.com/office/drawing/2014/main" id="{244F23E2-5D46-554D-8A31-E18D5A4F6376}"/>
              </a:ext>
            </a:extLst>
          </p:cNvPr>
          <p:cNvSpPr/>
          <p:nvPr/>
        </p:nvSpPr>
        <p:spPr>
          <a:xfrm>
            <a:off x="1847528" y="836712"/>
            <a:ext cx="3950774" cy="584753"/>
          </a:xfrm>
          <a:prstGeom prst="rect">
            <a:avLst/>
          </a:prstGeom>
          <a:noFill/>
          <a:ln w="9525">
            <a:noFill/>
          </a:ln>
        </p:spPr>
        <p:txBody>
          <a:bodyPr wrap="square" lIns="91419" tIns="45709" rIns="91419" bIns="45709">
            <a:spAutoFit/>
          </a:bodyPr>
          <a:lstStyle/>
          <a:p>
            <a:r>
              <a:rPr lang="zh-CN" altLang="en-US" sz="3200" b="1" dirty="0" smtClean="0">
                <a:latin typeface="思源黑体" panose="020B0500000000000000" pitchFamily="34" charset="-122"/>
                <a:ea typeface="思源黑体" panose="020B0500000000000000" pitchFamily="34" charset="-122"/>
              </a:rPr>
              <a:t>联合营销作战会议</a:t>
            </a:r>
            <a:endParaRPr lang="zh-CN" altLang="en-US" sz="3200" b="1" dirty="0">
              <a:latin typeface="思源黑体" panose="020B0500000000000000" pitchFamily="34" charset="-122"/>
              <a:ea typeface="思源黑体" panose="020B0500000000000000" pitchFamily="34" charset="-122"/>
            </a:endParaRPr>
          </a:p>
        </p:txBody>
      </p:sp>
      <p:sp>
        <p:nvSpPr>
          <p:cNvPr id="27" name="文本框 26"/>
          <p:cNvSpPr txBox="1"/>
          <p:nvPr/>
        </p:nvSpPr>
        <p:spPr>
          <a:xfrm>
            <a:off x="1860300" y="1584568"/>
            <a:ext cx="3121367" cy="369332"/>
          </a:xfrm>
          <a:prstGeom prst="rect">
            <a:avLst/>
          </a:prstGeom>
          <a:noFill/>
        </p:spPr>
        <p:txBody>
          <a:bodyPr wrap="none" rtlCol="0">
            <a:spAutoFit/>
          </a:bodyPr>
          <a:lstStyle/>
          <a:p>
            <a:r>
              <a:rPr lang="zh-CN" altLang="en-US" b="1" dirty="0" smtClean="0">
                <a:latin typeface="思源黑体" panose="020B0500000000000000" pitchFamily="34" charset="-122"/>
                <a:ea typeface="思源黑体" panose="020B0500000000000000" pitchFamily="34" charset="-122"/>
              </a:rPr>
              <a:t>会议时间：</a:t>
            </a:r>
            <a:r>
              <a:rPr lang="en-US" altLang="zh-CN" b="1" dirty="0" smtClean="0">
                <a:latin typeface="思源黑体" panose="020B0500000000000000" pitchFamily="34" charset="-122"/>
                <a:ea typeface="思源黑体" panose="020B0500000000000000" pitchFamily="34" charset="-122"/>
              </a:rPr>
              <a:t>2022</a:t>
            </a:r>
            <a:r>
              <a:rPr lang="zh-CN" altLang="en-US" b="1" dirty="0" smtClean="0">
                <a:latin typeface="思源黑体" panose="020B0500000000000000" pitchFamily="34" charset="-122"/>
                <a:ea typeface="思源黑体" panose="020B0500000000000000" pitchFamily="34" charset="-122"/>
              </a:rPr>
              <a:t>年</a:t>
            </a:r>
            <a:r>
              <a:rPr lang="en-US" altLang="zh-CN" b="1" dirty="0" smtClean="0">
                <a:latin typeface="思源黑体" panose="020B0500000000000000" pitchFamily="34" charset="-122"/>
                <a:ea typeface="思源黑体" panose="020B0500000000000000" pitchFamily="34" charset="-122"/>
              </a:rPr>
              <a:t>11</a:t>
            </a:r>
            <a:r>
              <a:rPr lang="zh-CN" altLang="en-US" b="1" dirty="0" smtClean="0">
                <a:latin typeface="思源黑体" panose="020B0500000000000000" pitchFamily="34" charset="-122"/>
                <a:ea typeface="思源黑体" panose="020B0500000000000000" pitchFamily="34" charset="-122"/>
              </a:rPr>
              <a:t>月</a:t>
            </a:r>
            <a:r>
              <a:rPr lang="en-US" altLang="zh-CN" b="1" dirty="0" smtClean="0">
                <a:latin typeface="思源黑体" panose="020B0500000000000000" pitchFamily="34" charset="-122"/>
                <a:ea typeface="思源黑体" panose="020B0500000000000000" pitchFamily="34" charset="-122"/>
              </a:rPr>
              <a:t>18</a:t>
            </a:r>
            <a:r>
              <a:rPr lang="zh-CN" altLang="en-US" b="1" dirty="0" smtClean="0">
                <a:latin typeface="思源黑体" panose="020B0500000000000000" pitchFamily="34" charset="-122"/>
                <a:ea typeface="思源黑体" panose="020B0500000000000000" pitchFamily="34" charset="-122"/>
              </a:rPr>
              <a:t>日</a:t>
            </a:r>
            <a:endParaRPr lang="zh-CN" altLang="en-US" b="1" dirty="0">
              <a:latin typeface="思源黑体" panose="020B0500000000000000" pitchFamily="34" charset="-122"/>
              <a:ea typeface="思源黑体" panose="020B0500000000000000" pitchFamily="34" charset="-122"/>
            </a:endParaRPr>
          </a:p>
        </p:txBody>
      </p:sp>
      <p:sp>
        <p:nvSpPr>
          <p:cNvPr id="28" name="文本框 27"/>
          <p:cNvSpPr txBox="1"/>
          <p:nvPr/>
        </p:nvSpPr>
        <p:spPr>
          <a:xfrm>
            <a:off x="1847528" y="1982567"/>
            <a:ext cx="1338828" cy="459036"/>
          </a:xfrm>
          <a:prstGeom prst="rect">
            <a:avLst/>
          </a:prstGeom>
          <a:noFill/>
        </p:spPr>
        <p:txBody>
          <a:bodyPr wrap="none" rtlCol="0">
            <a:spAutoFit/>
          </a:bodyPr>
          <a:lstStyle/>
          <a:p>
            <a:pPr>
              <a:lnSpc>
                <a:spcPct val="150000"/>
              </a:lnSpc>
            </a:pPr>
            <a:r>
              <a:rPr lang="zh-CN" altLang="en-US" b="1" dirty="0" smtClean="0">
                <a:latin typeface="思源黑体" panose="020B0500000000000000" pitchFamily="34" charset="-122"/>
                <a:ea typeface="思源黑体" panose="020B0500000000000000" pitchFamily="34" charset="-122"/>
              </a:rPr>
              <a:t>会议议题：</a:t>
            </a:r>
            <a:endParaRPr lang="en-US" altLang="zh-CN" b="1" dirty="0">
              <a:latin typeface="思源黑体" panose="020B0500000000000000" pitchFamily="34" charset="-122"/>
              <a:ea typeface="思源黑体" panose="020B0500000000000000" pitchFamily="34" charset="-122"/>
            </a:endParaRPr>
          </a:p>
        </p:txBody>
      </p:sp>
      <p:sp>
        <p:nvSpPr>
          <p:cNvPr id="35" name="文本框 34"/>
          <p:cNvSpPr txBox="1"/>
          <p:nvPr/>
        </p:nvSpPr>
        <p:spPr>
          <a:xfrm>
            <a:off x="2698146" y="2470270"/>
            <a:ext cx="2376264" cy="507831"/>
          </a:xfrm>
          <a:prstGeom prst="rect">
            <a:avLst/>
          </a:prstGeom>
          <a:noFill/>
        </p:spPr>
        <p:txBody>
          <a:bodyPr wrap="square" rtlCol="0">
            <a:spAutoFit/>
          </a:bodyPr>
          <a:lstStyle/>
          <a:p>
            <a:pPr>
              <a:lnSpc>
                <a:spcPct val="150000"/>
              </a:lnSpc>
            </a:pPr>
            <a:r>
              <a:rPr lang="zh-CN" altLang="en-US" sz="2000" b="1" dirty="0" smtClean="0">
                <a:latin typeface="思源黑体" panose="020B0500000000000000" pitchFamily="34" charset="-122"/>
                <a:ea typeface="思源黑体" panose="020B0500000000000000" pitchFamily="34" charset="-122"/>
              </a:rPr>
              <a:t>一、总体课题进展</a:t>
            </a:r>
            <a:endParaRPr lang="en-US" altLang="zh-CN" sz="2000" b="1" dirty="0" smtClean="0">
              <a:latin typeface="思源黑体" panose="020B0500000000000000" pitchFamily="34" charset="-122"/>
              <a:ea typeface="思源黑体" panose="020B0500000000000000" pitchFamily="34" charset="-122"/>
            </a:endParaRPr>
          </a:p>
        </p:txBody>
      </p:sp>
      <p:sp>
        <p:nvSpPr>
          <p:cNvPr id="36" name="文本框 35"/>
          <p:cNvSpPr txBox="1"/>
          <p:nvPr/>
        </p:nvSpPr>
        <p:spPr>
          <a:xfrm>
            <a:off x="2698146" y="3049613"/>
            <a:ext cx="3519568" cy="553998"/>
          </a:xfrm>
          <a:prstGeom prst="rect">
            <a:avLst/>
          </a:prstGeom>
          <a:noFill/>
        </p:spPr>
        <p:txBody>
          <a:bodyPr wrap="square" rtlCol="0">
            <a:spAutoFit/>
          </a:bodyPr>
          <a:lstStyle/>
          <a:p>
            <a:pPr>
              <a:lnSpc>
                <a:spcPct val="150000"/>
              </a:lnSpc>
            </a:pPr>
            <a:r>
              <a:rPr lang="zh-CN" altLang="en-US" sz="2000" b="1" dirty="0" smtClean="0">
                <a:latin typeface="思源黑体" panose="020B0500000000000000" pitchFamily="34" charset="-122"/>
                <a:ea typeface="思源黑体" panose="020B0500000000000000" pitchFamily="34" charset="-122"/>
              </a:rPr>
              <a:t>二、重点议题</a:t>
            </a:r>
            <a:endParaRPr lang="en-US" altLang="zh-CN" sz="2000" b="1" dirty="0" smtClean="0">
              <a:latin typeface="思源黑体" panose="020B0500000000000000" pitchFamily="34" charset="-122"/>
              <a:ea typeface="思源黑体" panose="020B0500000000000000" pitchFamily="34" charset="-122"/>
            </a:endParaRPr>
          </a:p>
        </p:txBody>
      </p:sp>
      <p:sp>
        <p:nvSpPr>
          <p:cNvPr id="17" name="文本框 16"/>
          <p:cNvSpPr txBox="1"/>
          <p:nvPr/>
        </p:nvSpPr>
        <p:spPr>
          <a:xfrm>
            <a:off x="2783632" y="3821419"/>
            <a:ext cx="5150769" cy="1569660"/>
          </a:xfrm>
          <a:prstGeom prst="rect">
            <a:avLst/>
          </a:prstGeom>
          <a:noFill/>
        </p:spPr>
        <p:txBody>
          <a:bodyPr wrap="none" rtlCol="0">
            <a:spAutoFit/>
          </a:bodyPr>
          <a:lstStyle/>
          <a:p>
            <a:pPr marL="342900" indent="-342900">
              <a:lnSpc>
                <a:spcPct val="150000"/>
              </a:lnSpc>
              <a:buFontTx/>
              <a:buAutoNum type="arabicPeriod"/>
            </a:pPr>
            <a:r>
              <a:rPr lang="zh-CN" altLang="en-US" sz="1600" dirty="0" smtClean="0">
                <a:latin typeface="思源黑体" panose="020B0500000000000000" pitchFamily="34" charset="-122"/>
                <a:ea typeface="思源黑体" panose="020B0500000000000000" pitchFamily="34" charset="-122"/>
              </a:rPr>
              <a:t>数字</a:t>
            </a:r>
            <a:r>
              <a:rPr lang="zh-CN" altLang="en-US" sz="1600" dirty="0">
                <a:latin typeface="思源黑体" panose="020B0500000000000000" pitchFamily="34" charset="-122"/>
                <a:ea typeface="思源黑体" panose="020B0500000000000000" pitchFamily="34" charset="-122"/>
              </a:rPr>
              <a:t>决策中心（</a:t>
            </a:r>
            <a:r>
              <a:rPr lang="en-US" altLang="zh-CN" sz="1600" dirty="0">
                <a:latin typeface="思源黑体" panose="020B0500000000000000" pitchFamily="34" charset="-122"/>
                <a:ea typeface="思源黑体" panose="020B0500000000000000" pitchFamily="34" charset="-122"/>
              </a:rPr>
              <a:t>DMC</a:t>
            </a:r>
            <a:r>
              <a:rPr lang="zh-CN" altLang="en-US" sz="1600" dirty="0">
                <a:latin typeface="思源黑体" panose="020B0500000000000000" pitchFamily="34" charset="-122"/>
                <a:ea typeface="思源黑体" panose="020B0500000000000000" pitchFamily="34" charset="-122"/>
              </a:rPr>
              <a:t>）企划方案汇报 林玟睎 </a:t>
            </a:r>
            <a:r>
              <a:rPr lang="en-US" altLang="zh-CN" sz="1600" dirty="0" smtClean="0">
                <a:latin typeface="思源黑体" panose="020B0500000000000000" pitchFamily="34" charset="-122"/>
                <a:ea typeface="思源黑体" panose="020B0500000000000000" pitchFamily="34" charset="-122"/>
              </a:rPr>
              <a:t>15min</a:t>
            </a:r>
          </a:p>
          <a:p>
            <a:pPr marL="342900" indent="-342900">
              <a:lnSpc>
                <a:spcPct val="150000"/>
              </a:lnSpc>
              <a:buFontTx/>
              <a:buAutoNum type="arabicPeriod"/>
            </a:pPr>
            <a:r>
              <a:rPr lang="zh-CN" altLang="en-US" sz="1600" dirty="0" smtClean="0">
                <a:latin typeface="思源黑体" panose="020B0500000000000000" pitchFamily="34" charset="-122"/>
                <a:ea typeface="思源黑体" panose="020B0500000000000000" pitchFamily="34" charset="-122"/>
              </a:rPr>
              <a:t>主</a:t>
            </a:r>
            <a:r>
              <a:rPr lang="zh-CN" altLang="en-US" sz="1600" dirty="0">
                <a:latin typeface="思源黑体" panose="020B0500000000000000" pitchFamily="34" charset="-122"/>
                <a:ea typeface="思源黑体" panose="020B0500000000000000" pitchFamily="34" charset="-122"/>
              </a:rPr>
              <a:t>数据认责清单汇报 叶和平 </a:t>
            </a:r>
            <a:r>
              <a:rPr lang="en-US" altLang="zh-CN" sz="1600" dirty="0" smtClean="0">
                <a:latin typeface="思源黑体" panose="020B0500000000000000" pitchFamily="34" charset="-122"/>
                <a:ea typeface="思源黑体" panose="020B0500000000000000" pitchFamily="34" charset="-122"/>
              </a:rPr>
              <a:t>5min</a:t>
            </a:r>
          </a:p>
          <a:p>
            <a:pPr marL="342900" indent="-342900">
              <a:lnSpc>
                <a:spcPct val="150000"/>
              </a:lnSpc>
              <a:buFontTx/>
              <a:buAutoNum type="arabicPeriod"/>
            </a:pPr>
            <a:r>
              <a:rPr lang="en-US" altLang="zh-CN" sz="1600" dirty="0" smtClean="0">
                <a:latin typeface="思源黑体" panose="020B0500000000000000" pitchFamily="34" charset="-122"/>
                <a:ea typeface="思源黑体" panose="020B0500000000000000" pitchFamily="34" charset="-122"/>
              </a:rPr>
              <a:t>G22 </a:t>
            </a:r>
            <a:r>
              <a:rPr lang="en-US" altLang="zh-CN" sz="1600" dirty="0">
                <a:latin typeface="思源黑体" panose="020B0500000000000000" pitchFamily="34" charset="-122"/>
                <a:ea typeface="思源黑体" panose="020B0500000000000000" pitchFamily="34" charset="-122"/>
              </a:rPr>
              <a:t>XR</a:t>
            </a:r>
            <a:r>
              <a:rPr lang="zh-CN" altLang="en-US" sz="1600" dirty="0">
                <a:latin typeface="思源黑体" panose="020B0500000000000000" pitchFamily="34" charset="-122"/>
                <a:ea typeface="思源黑体" panose="020B0500000000000000" pitchFamily="34" charset="-122"/>
              </a:rPr>
              <a:t>平台实施内容调整建议 周琴 </a:t>
            </a:r>
            <a:r>
              <a:rPr lang="en-US" altLang="zh-CN" sz="1600" dirty="0" smtClean="0">
                <a:latin typeface="思源黑体" panose="020B0500000000000000" pitchFamily="34" charset="-122"/>
                <a:ea typeface="思源黑体" panose="020B0500000000000000" pitchFamily="34" charset="-122"/>
              </a:rPr>
              <a:t>15min</a:t>
            </a:r>
          </a:p>
          <a:p>
            <a:pPr marL="342900" indent="-342900">
              <a:lnSpc>
                <a:spcPct val="150000"/>
              </a:lnSpc>
              <a:buFontTx/>
              <a:buAutoNum type="arabicPeriod"/>
            </a:pPr>
            <a:r>
              <a:rPr lang="en-US" altLang="zh-CN" sz="1600" dirty="0" smtClean="0">
                <a:latin typeface="思源黑体" panose="020B0500000000000000" pitchFamily="34" charset="-122"/>
                <a:ea typeface="思源黑体" panose="020B0500000000000000" pitchFamily="34" charset="-122"/>
              </a:rPr>
              <a:t>A2</a:t>
            </a:r>
            <a:r>
              <a:rPr lang="zh-CN" altLang="en-US" sz="1600" dirty="0">
                <a:latin typeface="思源黑体" panose="020B0500000000000000" pitchFamily="34" charset="-122"/>
                <a:ea typeface="思源黑体" panose="020B0500000000000000" pitchFamily="34" charset="-122"/>
              </a:rPr>
              <a:t>项目蓝图方案汇报 梁炯 </a:t>
            </a:r>
            <a:r>
              <a:rPr lang="en-US" altLang="zh-CN" sz="1600" dirty="0">
                <a:latin typeface="思源黑体" panose="020B0500000000000000" pitchFamily="34" charset="-122"/>
                <a:ea typeface="思源黑体" panose="020B0500000000000000" pitchFamily="34" charset="-122"/>
              </a:rPr>
              <a:t>30min</a:t>
            </a:r>
            <a:endParaRPr lang="en-US" altLang="zh-CN" sz="1600" dirty="0" smtClean="0">
              <a:latin typeface="思源黑体" panose="020B0500000000000000" pitchFamily="34" charset="-122"/>
              <a:ea typeface="思源黑体" panose="020B0500000000000000" pitchFamily="34" charset="-122"/>
            </a:endParaRPr>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1" name="Rectangle 69">
            <a:extLst>
              <a:ext uri="{FF2B5EF4-FFF2-40B4-BE49-F238E27FC236}">
                <a16:creationId xmlns:a16="http://schemas.microsoft.com/office/drawing/2014/main" id="{41EAED78-0B07-0E64-EE8A-E4FDF7A20D5B}"/>
              </a:ext>
            </a:extLst>
          </p:cNvPr>
          <p:cNvSpPr/>
          <p:nvPr/>
        </p:nvSpPr>
        <p:spPr>
          <a:xfrm>
            <a:off x="1128935" y="5148522"/>
            <a:ext cx="1011810" cy="153223"/>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smtClean="0">
                <a:ln>
                  <a:noFill/>
                </a:ln>
                <a:solidFill>
                  <a:sysClr val="windowText" lastClr="000000"/>
                </a:solidFill>
                <a:effectLst/>
                <a:uLnTx/>
                <a:uFillTx/>
                <a:latin typeface="+mn-ea"/>
                <a:cs typeface="+mn-ea"/>
                <a:sym typeface="+mn-lt"/>
              </a:rPr>
              <a:t>营销有效性系统</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2" name="Rectangle 122">
            <a:extLst>
              <a:ext uri="{FF2B5EF4-FFF2-40B4-BE49-F238E27FC236}">
                <a16:creationId xmlns:a16="http://schemas.microsoft.com/office/drawing/2014/main" id="{A0B7A0EA-5F8A-1E73-6D03-C7C8144E45EE}"/>
              </a:ext>
            </a:extLst>
          </p:cNvPr>
          <p:cNvSpPr/>
          <p:nvPr/>
        </p:nvSpPr>
        <p:spPr>
          <a:xfrm>
            <a:off x="11221737" y="2448823"/>
            <a:ext cx="798849" cy="144000"/>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kern="0" dirty="0" smtClean="0">
                <a:solidFill>
                  <a:sysClr val="windowText" lastClr="000000"/>
                </a:solidFill>
                <a:latin typeface="+mn-ea"/>
                <a:cs typeface="+mn-ea"/>
                <a:sym typeface="+mn-lt"/>
              </a:rPr>
              <a:t>二手车系统</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3" name="Rectangle 122">
            <a:extLst>
              <a:ext uri="{FF2B5EF4-FFF2-40B4-BE49-F238E27FC236}">
                <a16:creationId xmlns:a16="http://schemas.microsoft.com/office/drawing/2014/main" id="{71FED0E7-02F0-49BE-AF66-12D2A1EC47FF}"/>
              </a:ext>
            </a:extLst>
          </p:cNvPr>
          <p:cNvSpPr>
            <a:spLocks/>
          </p:cNvSpPr>
          <p:nvPr/>
        </p:nvSpPr>
        <p:spPr>
          <a:xfrm>
            <a:off x="6453018" y="422692"/>
            <a:ext cx="726389" cy="182264"/>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已有系统</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4" name="Rectangle 90">
            <a:extLst>
              <a:ext uri="{FF2B5EF4-FFF2-40B4-BE49-F238E27FC236}">
                <a16:creationId xmlns:a16="http://schemas.microsoft.com/office/drawing/2014/main" id="{289D157E-38B9-4E3B-9E41-A3AFCD206FDD}"/>
              </a:ext>
            </a:extLst>
          </p:cNvPr>
          <p:cNvSpPr/>
          <p:nvPr/>
        </p:nvSpPr>
        <p:spPr>
          <a:xfrm>
            <a:off x="7203696" y="422692"/>
            <a:ext cx="800222" cy="182264"/>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900" kern="0" dirty="0">
                <a:solidFill>
                  <a:sysClr val="windowText" lastClr="000000"/>
                </a:solidFill>
                <a:latin typeface="+mn-ea"/>
                <a:cs typeface="+mn-ea"/>
                <a:sym typeface="+mn-lt"/>
              </a:rPr>
              <a:t>建设中</a:t>
            </a:r>
            <a:endParaRPr kumimoji="1" lang="en-GB" sz="900" kern="0" dirty="0">
              <a:solidFill>
                <a:sysClr val="windowText" lastClr="000000"/>
              </a:solidFill>
              <a:latin typeface="+mn-ea"/>
              <a:cs typeface="+mn-ea"/>
              <a:sym typeface="+mn-lt"/>
            </a:endParaRPr>
          </a:p>
        </p:txBody>
      </p:sp>
      <p:sp>
        <p:nvSpPr>
          <p:cNvPr id="5" name="Rectangle 231">
            <a:extLst>
              <a:ext uri="{FF2B5EF4-FFF2-40B4-BE49-F238E27FC236}">
                <a16:creationId xmlns:a16="http://schemas.microsoft.com/office/drawing/2014/main" id="{88DFADFD-0552-48B8-AEB0-DBF0B66EB023}"/>
              </a:ext>
            </a:extLst>
          </p:cNvPr>
          <p:cNvSpPr>
            <a:spLocks/>
          </p:cNvSpPr>
          <p:nvPr/>
        </p:nvSpPr>
        <p:spPr>
          <a:xfrm>
            <a:off x="8028207" y="422692"/>
            <a:ext cx="726389" cy="182264"/>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effectLst/>
                <a:uLnTx/>
                <a:uFillTx/>
                <a:latin typeface="+mn-ea"/>
                <a:cs typeface="+mn-ea"/>
                <a:sym typeface="+mn-lt"/>
              </a:rPr>
              <a:t>规划中</a:t>
            </a:r>
            <a:endParaRPr kumimoji="1" lang="en-GB" sz="900" b="0" i="0" u="none" strike="noStrike" kern="0" cap="none" spc="0" normalizeH="0" baseline="0" noProof="0" dirty="0">
              <a:ln>
                <a:noFill/>
              </a:ln>
              <a:effectLst/>
              <a:uLnTx/>
              <a:uFillTx/>
              <a:latin typeface="+mn-ea"/>
              <a:cs typeface="+mn-ea"/>
              <a:sym typeface="+mn-lt"/>
            </a:endParaRPr>
          </a:p>
        </p:txBody>
      </p:sp>
      <p:sp>
        <p:nvSpPr>
          <p:cNvPr id="6" name="标题 1">
            <a:extLst>
              <a:ext uri="{FF2B5EF4-FFF2-40B4-BE49-F238E27FC236}">
                <a16:creationId xmlns:a16="http://schemas.microsoft.com/office/drawing/2014/main" id="{E39209C4-19E8-4A20-B287-B89370FD656E}"/>
              </a:ext>
            </a:extLst>
          </p:cNvPr>
          <p:cNvSpPr txBox="1">
            <a:spLocks/>
          </p:cNvSpPr>
          <p:nvPr/>
        </p:nvSpPr>
        <p:spPr>
          <a:xfrm>
            <a:off x="628651" y="103171"/>
            <a:ext cx="4754520" cy="660400"/>
          </a:xfrm>
          <a:prstGeom prst="rect">
            <a:avLst/>
          </a:prstGeom>
        </p:spPr>
        <p:txBody>
          <a:bodyPr vert="horz" lIns="91440" tIns="45720" rIns="91440" bIns="45720" rtlCol="0" anchor="t">
            <a:noAutofit/>
          </a:bodyPr>
          <a:lstStyle>
            <a:lvl1pPr algn="l" defTabSz="914400" rtl="0" eaLnBrk="1" latinLnBrk="0" hangingPunct="1">
              <a:lnSpc>
                <a:spcPct val="120000"/>
              </a:lnSpc>
              <a:spcBef>
                <a:spcPts val="600"/>
              </a:spcBef>
              <a:buNone/>
              <a:defRPr sz="3000" b="1" i="0" kern="1200" baseline="0">
                <a:solidFill>
                  <a:schemeClr val="tx1"/>
                </a:solidFill>
                <a:latin typeface="黑体" panose="02010609060101010101" charset="-122"/>
                <a:ea typeface="黑体" panose="02010609060101010101" charset="-122"/>
                <a:cs typeface="黑体" panose="02010609060101010101" charset="-122"/>
              </a:defRPr>
            </a:lvl1pPr>
          </a:lstStyle>
          <a:p>
            <a:r>
              <a:rPr lang="zh-CN" altLang="en-US" dirty="0">
                <a:solidFill>
                  <a:schemeClr val="tx2">
                    <a:lumMod val="50000"/>
                  </a:schemeClr>
                </a:solidFill>
                <a:latin typeface="+mn-ea"/>
                <a:ea typeface="+mn-ea"/>
                <a:cs typeface="+mn-ea"/>
                <a:sym typeface="+mn-lt"/>
              </a:rPr>
              <a:t>广汽传祺营销系统蓝图</a:t>
            </a:r>
          </a:p>
        </p:txBody>
      </p:sp>
      <p:sp>
        <p:nvSpPr>
          <p:cNvPr id="7" name="Rectangle 158">
            <a:extLst>
              <a:ext uri="{FF2B5EF4-FFF2-40B4-BE49-F238E27FC236}">
                <a16:creationId xmlns:a16="http://schemas.microsoft.com/office/drawing/2014/main" id="{77AD707B-4646-405A-A17B-5B5098B708BA}"/>
              </a:ext>
            </a:extLst>
          </p:cNvPr>
          <p:cNvSpPr/>
          <p:nvPr/>
        </p:nvSpPr>
        <p:spPr>
          <a:xfrm>
            <a:off x="-1202307" y="1017861"/>
            <a:ext cx="856916" cy="504000"/>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8" name="Rectangle 159">
            <a:extLst>
              <a:ext uri="{FF2B5EF4-FFF2-40B4-BE49-F238E27FC236}">
                <a16:creationId xmlns:a16="http://schemas.microsoft.com/office/drawing/2014/main" id="{8536917F-5B3A-4B44-8FEC-84D562A6466E}"/>
              </a:ext>
            </a:extLst>
          </p:cNvPr>
          <p:cNvSpPr/>
          <p:nvPr/>
        </p:nvSpPr>
        <p:spPr>
          <a:xfrm>
            <a:off x="-1202307" y="1560227"/>
            <a:ext cx="856916" cy="504000"/>
          </a:xfrm>
          <a:prstGeom prst="rect">
            <a:avLst/>
          </a:prstGeom>
          <a:solidFill>
            <a:srgbClr val="F2F2F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9" name="Rectangle 160">
            <a:extLst>
              <a:ext uri="{FF2B5EF4-FFF2-40B4-BE49-F238E27FC236}">
                <a16:creationId xmlns:a16="http://schemas.microsoft.com/office/drawing/2014/main" id="{39507B48-87E2-4112-AD59-0EF3C3F5F972}"/>
              </a:ext>
            </a:extLst>
          </p:cNvPr>
          <p:cNvSpPr/>
          <p:nvPr/>
        </p:nvSpPr>
        <p:spPr>
          <a:xfrm>
            <a:off x="-1202307" y="2102593"/>
            <a:ext cx="856916" cy="504000"/>
          </a:xfrm>
          <a:prstGeom prst="rect">
            <a:avLst/>
          </a:prstGeom>
          <a:solidFill>
            <a:srgbClr val="D0EC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10" name="Rectangle 162">
            <a:extLst>
              <a:ext uri="{FF2B5EF4-FFF2-40B4-BE49-F238E27FC236}">
                <a16:creationId xmlns:a16="http://schemas.microsoft.com/office/drawing/2014/main" id="{C09DF1A8-9CF2-402E-A51D-6E812B07F46A}"/>
              </a:ext>
            </a:extLst>
          </p:cNvPr>
          <p:cNvSpPr/>
          <p:nvPr/>
        </p:nvSpPr>
        <p:spPr>
          <a:xfrm>
            <a:off x="-1202307" y="2644959"/>
            <a:ext cx="856916" cy="504000"/>
          </a:xfrm>
          <a:prstGeom prst="rect">
            <a:avLst/>
          </a:prstGeom>
          <a:solidFill>
            <a:srgbClr val="0070C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11" name="Rectangle 168">
            <a:extLst>
              <a:ext uri="{FF2B5EF4-FFF2-40B4-BE49-F238E27FC236}">
                <a16:creationId xmlns:a16="http://schemas.microsoft.com/office/drawing/2014/main" id="{2056385D-1FDF-48B6-89F9-61492DC23326}"/>
              </a:ext>
            </a:extLst>
          </p:cNvPr>
          <p:cNvSpPr/>
          <p:nvPr/>
        </p:nvSpPr>
        <p:spPr>
          <a:xfrm>
            <a:off x="-1202307" y="3187325"/>
            <a:ext cx="856916" cy="504000"/>
          </a:xfrm>
          <a:prstGeom prst="rect">
            <a:avLst/>
          </a:prstGeom>
          <a:solidFill>
            <a:srgbClr val="5FE9CE"/>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12" name="Rectangle 175">
            <a:extLst>
              <a:ext uri="{FF2B5EF4-FFF2-40B4-BE49-F238E27FC236}">
                <a16:creationId xmlns:a16="http://schemas.microsoft.com/office/drawing/2014/main" id="{97D9CEB7-9F8A-4B0E-9465-DA8C6EE71DA2}"/>
              </a:ext>
            </a:extLst>
          </p:cNvPr>
          <p:cNvSpPr/>
          <p:nvPr/>
        </p:nvSpPr>
        <p:spPr>
          <a:xfrm>
            <a:off x="-1202307" y="3729691"/>
            <a:ext cx="856916" cy="504000"/>
          </a:xfrm>
          <a:prstGeom prst="rect">
            <a:avLst/>
          </a:prstGeom>
          <a:solidFill>
            <a:srgbClr val="FFD9D3"/>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13" name="Rectangle 176">
            <a:extLst>
              <a:ext uri="{FF2B5EF4-FFF2-40B4-BE49-F238E27FC236}">
                <a16:creationId xmlns:a16="http://schemas.microsoft.com/office/drawing/2014/main" id="{C0BBBDDB-C337-4486-A0BC-576BC3B50ABD}"/>
              </a:ext>
            </a:extLst>
          </p:cNvPr>
          <p:cNvSpPr/>
          <p:nvPr/>
        </p:nvSpPr>
        <p:spPr>
          <a:xfrm>
            <a:off x="-1202307" y="4272057"/>
            <a:ext cx="856916" cy="504000"/>
          </a:xfrm>
          <a:prstGeom prst="rect">
            <a:avLst/>
          </a:prstGeom>
          <a:solidFill>
            <a:srgbClr val="FFEACC"/>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14" name="Rectangle 177">
            <a:extLst>
              <a:ext uri="{FF2B5EF4-FFF2-40B4-BE49-F238E27FC236}">
                <a16:creationId xmlns:a16="http://schemas.microsoft.com/office/drawing/2014/main" id="{B12A08F5-DADA-4059-8A75-EE0980DF8B40}"/>
              </a:ext>
            </a:extLst>
          </p:cNvPr>
          <p:cNvSpPr/>
          <p:nvPr/>
        </p:nvSpPr>
        <p:spPr>
          <a:xfrm>
            <a:off x="-1202307" y="4814423"/>
            <a:ext cx="856916" cy="504000"/>
          </a:xfrm>
          <a:prstGeom prst="rect">
            <a:avLst/>
          </a:prstGeom>
          <a:solidFill>
            <a:srgbClr val="FFBF66"/>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15" name="Rectangle 178">
            <a:extLst>
              <a:ext uri="{FF2B5EF4-FFF2-40B4-BE49-F238E27FC236}">
                <a16:creationId xmlns:a16="http://schemas.microsoft.com/office/drawing/2014/main" id="{DB2825B4-0E3A-481A-BA91-1E6AAFE67328}"/>
              </a:ext>
            </a:extLst>
          </p:cNvPr>
          <p:cNvSpPr/>
          <p:nvPr/>
        </p:nvSpPr>
        <p:spPr>
          <a:xfrm>
            <a:off x="-1202307" y="5356789"/>
            <a:ext cx="856916" cy="504000"/>
          </a:xfrm>
          <a:prstGeom prst="rect">
            <a:avLst/>
          </a:prstGeom>
          <a:solidFill>
            <a:srgbClr val="2EC6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j-ea"/>
              <a:ea typeface="+mj-ea"/>
              <a:cs typeface="+mn-ea"/>
              <a:sym typeface="+mn-lt"/>
            </a:endParaRPr>
          </a:p>
        </p:txBody>
      </p:sp>
      <p:sp>
        <p:nvSpPr>
          <p:cNvPr id="16" name="矩形 50">
            <a:extLst>
              <a:ext uri="{FF2B5EF4-FFF2-40B4-BE49-F238E27FC236}">
                <a16:creationId xmlns:a16="http://schemas.microsoft.com/office/drawing/2014/main" id="{3502F434-BB43-4AA5-8C7E-A56D2C4DD907}"/>
              </a:ext>
            </a:extLst>
          </p:cNvPr>
          <p:cNvSpPr/>
          <p:nvPr/>
        </p:nvSpPr>
        <p:spPr>
          <a:xfrm>
            <a:off x="1272765"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知</a:t>
            </a:r>
            <a:endParaRPr kumimoji="0" lang="en-US" altLang="zh-CN" sz="900" b="1" i="0" u="none" strike="noStrike" kern="0" cap="none" spc="0" normalizeH="0" baseline="0" noProof="0">
              <a:ln>
                <a:noFill/>
              </a:ln>
              <a:solidFill>
                <a:srgbClr val="000000"/>
              </a:solidFill>
              <a:effectLst/>
              <a:uLnTx/>
              <a:uFillTx/>
              <a:latin typeface="+mn-ea"/>
              <a:cs typeface="+mn-ea"/>
              <a:sym typeface="+mn-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晓</a:t>
            </a:r>
          </a:p>
        </p:txBody>
      </p:sp>
      <p:sp>
        <p:nvSpPr>
          <p:cNvPr id="17" name="矩形 52">
            <a:extLst>
              <a:ext uri="{FF2B5EF4-FFF2-40B4-BE49-F238E27FC236}">
                <a16:creationId xmlns:a16="http://schemas.microsoft.com/office/drawing/2014/main" id="{CFA04E5B-191C-453A-AB5B-953C5F9A0D09}"/>
              </a:ext>
            </a:extLst>
          </p:cNvPr>
          <p:cNvSpPr/>
          <p:nvPr/>
        </p:nvSpPr>
        <p:spPr>
          <a:xfrm>
            <a:off x="2424641" y="1064284"/>
            <a:ext cx="234000" cy="900000"/>
          </a:xfrm>
          <a:prstGeom prst="rect">
            <a:avLst/>
          </a:prstGeom>
          <a:solidFill>
            <a:srgbClr val="FF4025">
              <a:lumMod val="20000"/>
              <a:lumOff val="80000"/>
            </a:srgbClr>
          </a:solidFill>
          <a:ln w="19050" cap="flat" cmpd="sng" algn="ctr">
            <a:no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咨询预选</a:t>
            </a:r>
          </a:p>
        </p:txBody>
      </p:sp>
      <p:sp>
        <p:nvSpPr>
          <p:cNvPr id="18" name="矩形 51">
            <a:extLst>
              <a:ext uri="{FF2B5EF4-FFF2-40B4-BE49-F238E27FC236}">
                <a16:creationId xmlns:a16="http://schemas.microsoft.com/office/drawing/2014/main" id="{66E63730-BF81-4C86-8FC4-39AE38B8C367}"/>
              </a:ext>
            </a:extLst>
          </p:cNvPr>
          <p:cNvSpPr/>
          <p:nvPr/>
        </p:nvSpPr>
        <p:spPr>
          <a:xfrm>
            <a:off x="1804805" y="1073737"/>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CN" sz="900" b="1" i="0" u="none" strike="noStrike" kern="0" cap="none" spc="0" normalizeH="0" baseline="0" noProof="0">
                <a:ln>
                  <a:noFill/>
                </a:ln>
                <a:solidFill>
                  <a:srgbClr val="000000"/>
                </a:solidFill>
                <a:effectLst/>
                <a:uLnTx/>
                <a:uFillTx/>
                <a:latin typeface="+mn-ea"/>
                <a:cs typeface="+mn-ea"/>
                <a:sym typeface="+mn-lt"/>
              </a:rPr>
              <a:t>了解</a:t>
            </a:r>
            <a:endParaRPr kumimoji="0" lang="zh-CN" altLang="en-US" sz="900" b="1" i="0" u="none" strike="noStrike" kern="0" cap="none" spc="0" normalizeH="0" baseline="0" noProof="0">
              <a:ln>
                <a:noFill/>
              </a:ln>
              <a:solidFill>
                <a:srgbClr val="000000"/>
              </a:solidFill>
              <a:effectLst/>
              <a:uLnTx/>
              <a:uFillTx/>
              <a:latin typeface="+mn-ea"/>
              <a:cs typeface="+mn-ea"/>
              <a:sym typeface="+mn-lt"/>
            </a:endParaRPr>
          </a:p>
        </p:txBody>
      </p:sp>
      <p:sp>
        <p:nvSpPr>
          <p:cNvPr id="19" name="矩形 53">
            <a:extLst>
              <a:ext uri="{FF2B5EF4-FFF2-40B4-BE49-F238E27FC236}">
                <a16:creationId xmlns:a16="http://schemas.microsoft.com/office/drawing/2014/main" id="{BCE4C971-F087-47E8-9E31-9784E25DF551}"/>
              </a:ext>
            </a:extLst>
          </p:cNvPr>
          <p:cNvSpPr/>
          <p:nvPr/>
        </p:nvSpPr>
        <p:spPr>
          <a:xfrm>
            <a:off x="2697094"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到店</a:t>
            </a:r>
          </a:p>
        </p:txBody>
      </p:sp>
      <p:sp>
        <p:nvSpPr>
          <p:cNvPr id="20" name="矩形 54">
            <a:extLst>
              <a:ext uri="{FF2B5EF4-FFF2-40B4-BE49-F238E27FC236}">
                <a16:creationId xmlns:a16="http://schemas.microsoft.com/office/drawing/2014/main" id="{C56BE5FD-8247-47E3-8445-5EFD356939C3}"/>
              </a:ext>
            </a:extLst>
          </p:cNvPr>
          <p:cNvSpPr/>
          <p:nvPr/>
        </p:nvSpPr>
        <p:spPr>
          <a:xfrm>
            <a:off x="2969547" y="1064284"/>
            <a:ext cx="234000" cy="900000"/>
          </a:xfrm>
          <a:prstGeom prst="rect">
            <a:avLst/>
          </a:prstGeom>
          <a:solidFill>
            <a:srgbClr val="FF4025">
              <a:lumMod val="20000"/>
              <a:lumOff val="80000"/>
            </a:srgbClr>
          </a:solidFill>
          <a:ln w="19050" cap="flat" cmpd="sng" algn="ctr">
            <a:no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静态体验</a:t>
            </a:r>
          </a:p>
        </p:txBody>
      </p:sp>
      <p:sp>
        <p:nvSpPr>
          <p:cNvPr id="21" name="矩形 55">
            <a:extLst>
              <a:ext uri="{FF2B5EF4-FFF2-40B4-BE49-F238E27FC236}">
                <a16:creationId xmlns:a16="http://schemas.microsoft.com/office/drawing/2014/main" id="{43844482-63AF-41D0-8F51-06922AA34E34}"/>
              </a:ext>
            </a:extLst>
          </p:cNvPr>
          <p:cNvSpPr/>
          <p:nvPr/>
        </p:nvSpPr>
        <p:spPr>
          <a:xfrm>
            <a:off x="3242000"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动态体验</a:t>
            </a:r>
          </a:p>
        </p:txBody>
      </p:sp>
      <p:sp>
        <p:nvSpPr>
          <p:cNvPr id="22" name="矩形 56">
            <a:extLst>
              <a:ext uri="{FF2B5EF4-FFF2-40B4-BE49-F238E27FC236}">
                <a16:creationId xmlns:a16="http://schemas.microsoft.com/office/drawing/2014/main" id="{8514D3C0-4C23-4549-8622-63464C0FAB9D}"/>
              </a:ext>
            </a:extLst>
          </p:cNvPr>
          <p:cNvSpPr/>
          <p:nvPr/>
        </p:nvSpPr>
        <p:spPr>
          <a:xfrm>
            <a:off x="3786906"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800" b="1" i="0" u="none" strike="noStrike" kern="0" cap="none" spc="0" normalizeH="0" baseline="0" noProof="0">
                <a:ln>
                  <a:noFill/>
                </a:ln>
                <a:solidFill>
                  <a:srgbClr val="000000"/>
                </a:solidFill>
                <a:effectLst/>
                <a:uLnTx/>
                <a:uFillTx/>
                <a:latin typeface="+mn-ea"/>
                <a:cs typeface="+mn-ea"/>
                <a:sym typeface="+mn-lt"/>
              </a:rPr>
              <a:t>价格洽谈</a:t>
            </a:r>
            <a:r>
              <a:rPr kumimoji="0" lang="en-US" altLang="zh-CN" sz="800" b="1" i="0" u="none" strike="noStrike" kern="0" cap="none" spc="0" normalizeH="0" baseline="0" noProof="0">
                <a:ln>
                  <a:noFill/>
                </a:ln>
                <a:solidFill>
                  <a:srgbClr val="000000"/>
                </a:solidFill>
                <a:effectLst/>
                <a:uLnTx/>
                <a:uFillTx/>
                <a:latin typeface="+mn-ea"/>
                <a:cs typeface="+mn-ea"/>
                <a:sym typeface="+mn-lt"/>
              </a:rPr>
              <a:t>/</a:t>
            </a:r>
            <a:r>
              <a:rPr kumimoji="0" lang="zh-CN" altLang="en-US" sz="800" b="1" i="0" u="none" strike="noStrike" kern="0" cap="none" spc="0" normalizeH="0" baseline="0" noProof="0">
                <a:ln>
                  <a:noFill/>
                </a:ln>
                <a:solidFill>
                  <a:srgbClr val="000000"/>
                </a:solidFill>
                <a:effectLst/>
                <a:uLnTx/>
                <a:uFillTx/>
                <a:latin typeface="+mn-ea"/>
                <a:cs typeface="+mn-ea"/>
                <a:sym typeface="+mn-lt"/>
              </a:rPr>
              <a:t>贷款</a:t>
            </a:r>
          </a:p>
        </p:txBody>
      </p:sp>
      <p:sp>
        <p:nvSpPr>
          <p:cNvPr id="23" name="矩形 57">
            <a:extLst>
              <a:ext uri="{FF2B5EF4-FFF2-40B4-BE49-F238E27FC236}">
                <a16:creationId xmlns:a16="http://schemas.microsoft.com/office/drawing/2014/main" id="{0F9516E0-449D-4B7D-947E-5E9969307832}"/>
              </a:ext>
            </a:extLst>
          </p:cNvPr>
          <p:cNvSpPr/>
          <p:nvPr/>
        </p:nvSpPr>
        <p:spPr>
          <a:xfrm>
            <a:off x="4059359"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下订</a:t>
            </a:r>
          </a:p>
        </p:txBody>
      </p:sp>
      <p:sp>
        <p:nvSpPr>
          <p:cNvPr id="24" name="矩形 58">
            <a:extLst>
              <a:ext uri="{FF2B5EF4-FFF2-40B4-BE49-F238E27FC236}">
                <a16:creationId xmlns:a16="http://schemas.microsoft.com/office/drawing/2014/main" id="{31B1803F-E147-4607-B7F8-C8ADE1F36415}"/>
              </a:ext>
            </a:extLst>
          </p:cNvPr>
          <p:cNvSpPr/>
          <p:nvPr/>
        </p:nvSpPr>
        <p:spPr>
          <a:xfrm>
            <a:off x="4331812"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等待提车</a:t>
            </a:r>
          </a:p>
        </p:txBody>
      </p:sp>
      <p:sp>
        <p:nvSpPr>
          <p:cNvPr id="25" name="矩形 59">
            <a:extLst>
              <a:ext uri="{FF2B5EF4-FFF2-40B4-BE49-F238E27FC236}">
                <a16:creationId xmlns:a16="http://schemas.microsoft.com/office/drawing/2014/main" id="{057A05CF-3497-4268-A86E-733A59DD604B}"/>
              </a:ext>
            </a:extLst>
          </p:cNvPr>
          <p:cNvSpPr/>
          <p:nvPr/>
        </p:nvSpPr>
        <p:spPr>
          <a:xfrm>
            <a:off x="4876718"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dirty="0">
                <a:ln>
                  <a:noFill/>
                </a:ln>
                <a:solidFill>
                  <a:srgbClr val="000000"/>
                </a:solidFill>
                <a:effectLst/>
                <a:uLnTx/>
                <a:uFillTx/>
                <a:latin typeface="+mn-ea"/>
                <a:cs typeface="+mn-ea"/>
                <a:sym typeface="+mn-lt"/>
              </a:rPr>
              <a:t>提车</a:t>
            </a:r>
          </a:p>
        </p:txBody>
      </p:sp>
      <p:sp>
        <p:nvSpPr>
          <p:cNvPr id="26" name="矩形 61">
            <a:extLst>
              <a:ext uri="{FF2B5EF4-FFF2-40B4-BE49-F238E27FC236}">
                <a16:creationId xmlns:a16="http://schemas.microsoft.com/office/drawing/2014/main" id="{3B1B909C-6641-4258-BBB5-C513BD3CDDDD}"/>
              </a:ext>
            </a:extLst>
          </p:cNvPr>
          <p:cNvSpPr/>
          <p:nvPr/>
        </p:nvSpPr>
        <p:spPr>
          <a:xfrm>
            <a:off x="5725009" y="1064284"/>
            <a:ext cx="538427" cy="252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工作</a:t>
            </a:r>
          </a:p>
        </p:txBody>
      </p:sp>
      <p:sp>
        <p:nvSpPr>
          <p:cNvPr id="27" name="矩形 62">
            <a:extLst>
              <a:ext uri="{FF2B5EF4-FFF2-40B4-BE49-F238E27FC236}">
                <a16:creationId xmlns:a16="http://schemas.microsoft.com/office/drawing/2014/main" id="{73BDC915-8918-4710-A0CC-5E263DF5B185}"/>
              </a:ext>
            </a:extLst>
          </p:cNvPr>
          <p:cNvSpPr/>
          <p:nvPr/>
        </p:nvSpPr>
        <p:spPr>
          <a:xfrm>
            <a:off x="5725009" y="1388284"/>
            <a:ext cx="538427" cy="252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生活</a:t>
            </a:r>
          </a:p>
        </p:txBody>
      </p:sp>
      <p:sp>
        <p:nvSpPr>
          <p:cNvPr id="28" name="矩形 63">
            <a:extLst>
              <a:ext uri="{FF2B5EF4-FFF2-40B4-BE49-F238E27FC236}">
                <a16:creationId xmlns:a16="http://schemas.microsoft.com/office/drawing/2014/main" id="{12E178E8-05BC-4B6E-948D-58B4FC018C17}"/>
              </a:ext>
            </a:extLst>
          </p:cNvPr>
          <p:cNvSpPr/>
          <p:nvPr/>
        </p:nvSpPr>
        <p:spPr>
          <a:xfrm>
            <a:off x="5725009" y="1712284"/>
            <a:ext cx="538427" cy="252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出游</a:t>
            </a:r>
          </a:p>
        </p:txBody>
      </p:sp>
      <p:sp>
        <p:nvSpPr>
          <p:cNvPr id="29" name="矩形 64">
            <a:extLst>
              <a:ext uri="{FF2B5EF4-FFF2-40B4-BE49-F238E27FC236}">
                <a16:creationId xmlns:a16="http://schemas.microsoft.com/office/drawing/2014/main" id="{DA0692AA-0DE7-4FB3-ABB9-EC59BF1EB7A6}"/>
              </a:ext>
            </a:extLst>
          </p:cNvPr>
          <p:cNvSpPr/>
          <p:nvPr/>
        </p:nvSpPr>
        <p:spPr>
          <a:xfrm>
            <a:off x="6325479"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补能</a:t>
            </a:r>
          </a:p>
        </p:txBody>
      </p:sp>
      <p:sp>
        <p:nvSpPr>
          <p:cNvPr id="30" name="矩形 66">
            <a:extLst>
              <a:ext uri="{FF2B5EF4-FFF2-40B4-BE49-F238E27FC236}">
                <a16:creationId xmlns:a16="http://schemas.microsoft.com/office/drawing/2014/main" id="{842FD236-6CC9-4DF1-BA7D-72846DDA4F1C}"/>
              </a:ext>
            </a:extLst>
          </p:cNvPr>
          <p:cNvSpPr/>
          <p:nvPr/>
        </p:nvSpPr>
        <p:spPr>
          <a:xfrm>
            <a:off x="9037395"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咨询</a:t>
            </a:r>
            <a:r>
              <a:rPr kumimoji="0" lang="en-US" altLang="zh-CN" sz="900" b="1" i="0" u="none" strike="noStrike" kern="0" cap="none" spc="0" normalizeH="0" baseline="0" noProof="0">
                <a:ln>
                  <a:noFill/>
                </a:ln>
                <a:solidFill>
                  <a:srgbClr val="000000"/>
                </a:solidFill>
                <a:effectLst/>
                <a:uLnTx/>
                <a:uFillTx/>
                <a:latin typeface="+mn-ea"/>
                <a:cs typeface="+mn-ea"/>
                <a:sym typeface="+mn-lt"/>
              </a:rPr>
              <a:t>/</a:t>
            </a:r>
            <a:r>
              <a:rPr kumimoji="0" lang="zh-CN" altLang="en-US" sz="900" b="1" i="0" u="none" strike="noStrike" kern="0" cap="none" spc="0" normalizeH="0" baseline="0" noProof="0">
                <a:ln>
                  <a:noFill/>
                </a:ln>
                <a:solidFill>
                  <a:srgbClr val="000000"/>
                </a:solidFill>
                <a:effectLst/>
                <a:uLnTx/>
                <a:uFillTx/>
                <a:latin typeface="+mn-ea"/>
                <a:cs typeface="+mn-ea"/>
                <a:sym typeface="+mn-lt"/>
              </a:rPr>
              <a:t>   反馈</a:t>
            </a:r>
          </a:p>
        </p:txBody>
      </p:sp>
      <p:sp>
        <p:nvSpPr>
          <p:cNvPr id="31" name="矩形 67">
            <a:extLst>
              <a:ext uri="{FF2B5EF4-FFF2-40B4-BE49-F238E27FC236}">
                <a16:creationId xmlns:a16="http://schemas.microsoft.com/office/drawing/2014/main" id="{E34F919B-460C-4D36-A5BC-EA16602C1730}"/>
              </a:ext>
            </a:extLst>
          </p:cNvPr>
          <p:cNvSpPr/>
          <p:nvPr/>
        </p:nvSpPr>
        <p:spPr>
          <a:xfrm>
            <a:off x="6582213"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救援</a:t>
            </a:r>
          </a:p>
        </p:txBody>
      </p:sp>
      <p:sp>
        <p:nvSpPr>
          <p:cNvPr id="32" name="矩形 68">
            <a:extLst>
              <a:ext uri="{FF2B5EF4-FFF2-40B4-BE49-F238E27FC236}">
                <a16:creationId xmlns:a16="http://schemas.microsoft.com/office/drawing/2014/main" id="{8990A3A0-19CF-459C-BB99-10BA57547E39}"/>
              </a:ext>
            </a:extLst>
          </p:cNvPr>
          <p:cNvSpPr/>
          <p:nvPr/>
        </p:nvSpPr>
        <p:spPr>
          <a:xfrm>
            <a:off x="9344794"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投诉</a:t>
            </a:r>
          </a:p>
        </p:txBody>
      </p:sp>
      <p:sp>
        <p:nvSpPr>
          <p:cNvPr id="33" name="矩形 69">
            <a:extLst>
              <a:ext uri="{FF2B5EF4-FFF2-40B4-BE49-F238E27FC236}">
                <a16:creationId xmlns:a16="http://schemas.microsoft.com/office/drawing/2014/main" id="{4B6C6759-781D-415A-ACD9-22A5C6EF3B53}"/>
              </a:ext>
            </a:extLst>
          </p:cNvPr>
          <p:cNvSpPr/>
          <p:nvPr/>
        </p:nvSpPr>
        <p:spPr>
          <a:xfrm>
            <a:off x="10266991"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权益兑换</a:t>
            </a:r>
          </a:p>
        </p:txBody>
      </p:sp>
      <p:sp>
        <p:nvSpPr>
          <p:cNvPr id="34" name="矩形 71">
            <a:extLst>
              <a:ext uri="{FF2B5EF4-FFF2-40B4-BE49-F238E27FC236}">
                <a16:creationId xmlns:a16="http://schemas.microsoft.com/office/drawing/2014/main" id="{7613A098-B6B1-4900-BC31-5A0A0C2E3FCF}"/>
              </a:ext>
            </a:extLst>
          </p:cNvPr>
          <p:cNvSpPr/>
          <p:nvPr/>
        </p:nvSpPr>
        <p:spPr>
          <a:xfrm>
            <a:off x="5421621" y="1064284"/>
            <a:ext cx="234000" cy="900000"/>
          </a:xfrm>
          <a:prstGeom prst="rect">
            <a:avLst/>
          </a:prstGeom>
          <a:solidFill>
            <a:srgbClr val="FF4025">
              <a:lumMod val="20000"/>
              <a:lumOff val="80000"/>
            </a:srgbClr>
          </a:solidFill>
          <a:ln w="19050" cap="flat" cmpd="sng" algn="ctr">
            <a:no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保险</a:t>
            </a:r>
          </a:p>
        </p:txBody>
      </p:sp>
      <p:sp>
        <p:nvSpPr>
          <p:cNvPr id="35" name="矩形 73">
            <a:extLst>
              <a:ext uri="{FF2B5EF4-FFF2-40B4-BE49-F238E27FC236}">
                <a16:creationId xmlns:a16="http://schemas.microsoft.com/office/drawing/2014/main" id="{0B9EAA2E-3F08-4321-898E-ADBEE6975AED}"/>
              </a:ext>
            </a:extLst>
          </p:cNvPr>
          <p:cNvSpPr/>
          <p:nvPr/>
        </p:nvSpPr>
        <p:spPr>
          <a:xfrm>
            <a:off x="6885602"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加装</a:t>
            </a:r>
            <a:r>
              <a:rPr kumimoji="0" lang="en-US" altLang="zh-CN" sz="900" b="1" i="0" u="none" strike="noStrike" kern="0" cap="none" spc="0" normalizeH="0" baseline="0" noProof="0">
                <a:ln>
                  <a:noFill/>
                </a:ln>
                <a:solidFill>
                  <a:srgbClr val="000000"/>
                </a:solidFill>
                <a:effectLst/>
                <a:uLnTx/>
                <a:uFillTx/>
                <a:latin typeface="+mn-ea"/>
                <a:cs typeface="+mn-ea"/>
                <a:sym typeface="+mn-lt"/>
              </a:rPr>
              <a:t>/</a:t>
            </a:r>
            <a:r>
              <a:rPr kumimoji="0" lang="zh-CN" altLang="en-US" sz="900" b="1" i="0" u="none" strike="noStrike" kern="0" cap="none" spc="0" normalizeH="0" baseline="0" noProof="0">
                <a:ln>
                  <a:noFill/>
                </a:ln>
                <a:solidFill>
                  <a:srgbClr val="000000"/>
                </a:solidFill>
                <a:effectLst/>
                <a:uLnTx/>
                <a:uFillTx/>
                <a:latin typeface="+mn-ea"/>
                <a:cs typeface="+mn-ea"/>
                <a:sym typeface="+mn-lt"/>
              </a:rPr>
              <a:t>改装</a:t>
            </a:r>
          </a:p>
        </p:txBody>
      </p:sp>
      <p:sp>
        <p:nvSpPr>
          <p:cNvPr id="36" name="矩形 74">
            <a:extLst>
              <a:ext uri="{FF2B5EF4-FFF2-40B4-BE49-F238E27FC236}">
                <a16:creationId xmlns:a16="http://schemas.microsoft.com/office/drawing/2014/main" id="{CC2CD0DA-05E7-42E0-A113-80905667F105}"/>
              </a:ext>
            </a:extLst>
          </p:cNvPr>
          <p:cNvSpPr/>
          <p:nvPr/>
        </p:nvSpPr>
        <p:spPr>
          <a:xfrm>
            <a:off x="7500400" y="1064284"/>
            <a:ext cx="234000" cy="900000"/>
          </a:xfrm>
          <a:prstGeom prst="rect">
            <a:avLst/>
          </a:prstGeom>
          <a:solidFill>
            <a:srgbClr val="FF4025">
              <a:lumMod val="20000"/>
              <a:lumOff val="80000"/>
            </a:srgbClr>
          </a:solidFill>
          <a:ln w="19050" cap="flat" cmpd="sng" algn="ctr">
            <a:no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预约</a:t>
            </a:r>
          </a:p>
        </p:txBody>
      </p:sp>
      <p:sp>
        <p:nvSpPr>
          <p:cNvPr id="37" name="矩形 75">
            <a:extLst>
              <a:ext uri="{FF2B5EF4-FFF2-40B4-BE49-F238E27FC236}">
                <a16:creationId xmlns:a16="http://schemas.microsoft.com/office/drawing/2014/main" id="{5001B1AA-D34D-4B7C-8D63-5466A4AB64B6}"/>
              </a:ext>
            </a:extLst>
          </p:cNvPr>
          <p:cNvSpPr/>
          <p:nvPr/>
        </p:nvSpPr>
        <p:spPr>
          <a:xfrm>
            <a:off x="7807799"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预检</a:t>
            </a:r>
          </a:p>
        </p:txBody>
      </p:sp>
      <p:sp>
        <p:nvSpPr>
          <p:cNvPr id="38" name="矩形 76">
            <a:extLst>
              <a:ext uri="{FF2B5EF4-FFF2-40B4-BE49-F238E27FC236}">
                <a16:creationId xmlns:a16="http://schemas.microsoft.com/office/drawing/2014/main" id="{244EADF7-9941-431D-B405-7E65EEE2ED0F}"/>
              </a:ext>
            </a:extLst>
          </p:cNvPr>
          <p:cNvSpPr/>
          <p:nvPr/>
        </p:nvSpPr>
        <p:spPr>
          <a:xfrm>
            <a:off x="8115198"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维保</a:t>
            </a:r>
          </a:p>
        </p:txBody>
      </p:sp>
      <p:sp>
        <p:nvSpPr>
          <p:cNvPr id="39" name="矩形 77">
            <a:extLst>
              <a:ext uri="{FF2B5EF4-FFF2-40B4-BE49-F238E27FC236}">
                <a16:creationId xmlns:a16="http://schemas.microsoft.com/office/drawing/2014/main" id="{DF932BEF-295F-40CE-BE73-358511DE10F1}"/>
              </a:ext>
            </a:extLst>
          </p:cNvPr>
          <p:cNvSpPr/>
          <p:nvPr/>
        </p:nvSpPr>
        <p:spPr>
          <a:xfrm>
            <a:off x="8422597"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付款</a:t>
            </a:r>
          </a:p>
        </p:txBody>
      </p:sp>
      <p:sp>
        <p:nvSpPr>
          <p:cNvPr id="40" name="矩形 78">
            <a:extLst>
              <a:ext uri="{FF2B5EF4-FFF2-40B4-BE49-F238E27FC236}">
                <a16:creationId xmlns:a16="http://schemas.microsoft.com/office/drawing/2014/main" id="{BD3A4349-1BEB-4B35-84AA-0E256333371F}"/>
              </a:ext>
            </a:extLst>
          </p:cNvPr>
          <p:cNvSpPr/>
          <p:nvPr/>
        </p:nvSpPr>
        <p:spPr>
          <a:xfrm>
            <a:off x="8729996"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还车</a:t>
            </a:r>
          </a:p>
        </p:txBody>
      </p:sp>
      <p:sp>
        <p:nvSpPr>
          <p:cNvPr id="41" name="矩形 81">
            <a:extLst>
              <a:ext uri="{FF2B5EF4-FFF2-40B4-BE49-F238E27FC236}">
                <a16:creationId xmlns:a16="http://schemas.microsoft.com/office/drawing/2014/main" id="{77144C0F-4F77-4243-96C8-CF35761F3145}"/>
              </a:ext>
            </a:extLst>
          </p:cNvPr>
          <p:cNvSpPr/>
          <p:nvPr/>
        </p:nvSpPr>
        <p:spPr>
          <a:xfrm>
            <a:off x="11189188"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增换购咨询</a:t>
            </a:r>
          </a:p>
        </p:txBody>
      </p:sp>
      <p:sp>
        <p:nvSpPr>
          <p:cNvPr id="42" name="矩形 82">
            <a:extLst>
              <a:ext uri="{FF2B5EF4-FFF2-40B4-BE49-F238E27FC236}">
                <a16:creationId xmlns:a16="http://schemas.microsoft.com/office/drawing/2014/main" id="{9B4E6757-79B1-406F-B9DB-AC2F9BA0851A}"/>
              </a:ext>
            </a:extLst>
          </p:cNvPr>
          <p:cNvSpPr/>
          <p:nvPr/>
        </p:nvSpPr>
        <p:spPr>
          <a:xfrm>
            <a:off x="11496587"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旧车估值</a:t>
            </a:r>
          </a:p>
        </p:txBody>
      </p:sp>
      <p:sp>
        <p:nvSpPr>
          <p:cNvPr id="43" name="矩形 83">
            <a:extLst>
              <a:ext uri="{FF2B5EF4-FFF2-40B4-BE49-F238E27FC236}">
                <a16:creationId xmlns:a16="http://schemas.microsoft.com/office/drawing/2014/main" id="{BBA76C79-DDEE-4F95-959F-0DEE200C5147}"/>
              </a:ext>
            </a:extLst>
          </p:cNvPr>
          <p:cNvSpPr/>
          <p:nvPr/>
        </p:nvSpPr>
        <p:spPr>
          <a:xfrm>
            <a:off x="11803984"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置换交易</a:t>
            </a:r>
          </a:p>
        </p:txBody>
      </p:sp>
      <p:sp>
        <p:nvSpPr>
          <p:cNvPr id="44" name="矩形 85">
            <a:extLst>
              <a:ext uri="{FF2B5EF4-FFF2-40B4-BE49-F238E27FC236}">
                <a16:creationId xmlns:a16="http://schemas.microsoft.com/office/drawing/2014/main" id="{C67F37D3-70C6-4FEB-93CA-5BA322E089B8}"/>
              </a:ext>
            </a:extLst>
          </p:cNvPr>
          <p:cNvSpPr/>
          <p:nvPr/>
        </p:nvSpPr>
        <p:spPr>
          <a:xfrm>
            <a:off x="156040" y="1064284"/>
            <a:ext cx="1008000" cy="899439"/>
          </a:xfrm>
          <a:prstGeom prst="rect">
            <a:avLst/>
          </a:prstGeom>
          <a:solidFill>
            <a:srgbClr val="16A2FF"/>
          </a:solidFill>
          <a:ln w="10795" cap="flat" cmpd="sng" algn="ctr">
            <a:solidFill>
              <a:srgbClr val="16A2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FFFFFF"/>
                </a:solidFill>
                <a:effectLst/>
                <a:uLnTx/>
                <a:uFillTx/>
                <a:latin typeface="+mn-ea"/>
                <a:cs typeface="+mn-ea"/>
                <a:sym typeface="+mn-lt"/>
              </a:rPr>
              <a:t>用户旅程</a:t>
            </a:r>
            <a:endParaRPr kumimoji="0" lang="en-US" altLang="zh-CN" sz="1400" b="1" i="0" u="none" strike="noStrike" kern="0" cap="none" spc="0" normalizeH="0" baseline="0" noProof="0">
              <a:ln>
                <a:noFill/>
              </a:ln>
              <a:solidFill>
                <a:srgbClr val="FFFFFF"/>
              </a:solidFill>
              <a:effectLst/>
              <a:uLnTx/>
              <a:uFillTx/>
              <a:latin typeface="+mn-ea"/>
              <a:cs typeface="+mn-ea"/>
              <a:sym typeface="+mn-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1" i="0" u="none" strike="noStrike" kern="0" cap="none" spc="0" normalizeH="0" baseline="0" noProof="0">
                <a:ln>
                  <a:noFill/>
                </a:ln>
                <a:solidFill>
                  <a:srgbClr val="FFFF00"/>
                </a:solidFill>
                <a:effectLst/>
                <a:uLnTx/>
                <a:uFillTx/>
                <a:latin typeface="+mn-ea"/>
                <a:cs typeface="+mn-ea"/>
                <a:sym typeface="+mn-lt"/>
              </a:rPr>
              <a:t>37</a:t>
            </a:r>
            <a:r>
              <a:rPr kumimoji="0" lang="zh-CN" altLang="en-US" sz="1100" b="1" i="0" u="none" strike="noStrike" kern="0" cap="none" spc="0" normalizeH="0" baseline="0" noProof="0">
                <a:ln>
                  <a:noFill/>
                </a:ln>
                <a:solidFill>
                  <a:srgbClr val="FFFF00"/>
                </a:solidFill>
                <a:effectLst/>
                <a:uLnTx/>
                <a:uFillTx/>
                <a:latin typeface="+mn-ea"/>
                <a:cs typeface="+mn-ea"/>
                <a:sym typeface="+mn-lt"/>
              </a:rPr>
              <a:t>个</a:t>
            </a:r>
          </a:p>
        </p:txBody>
      </p:sp>
      <p:sp>
        <p:nvSpPr>
          <p:cNvPr id="45" name="矩形 83">
            <a:extLst>
              <a:ext uri="{FF2B5EF4-FFF2-40B4-BE49-F238E27FC236}">
                <a16:creationId xmlns:a16="http://schemas.microsoft.com/office/drawing/2014/main" id="{CDEC31DC-0A89-4C5B-90BE-A4277FFF5CF6}"/>
              </a:ext>
            </a:extLst>
          </p:cNvPr>
          <p:cNvSpPr/>
          <p:nvPr/>
        </p:nvSpPr>
        <p:spPr>
          <a:xfrm>
            <a:off x="10881789"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推荐</a:t>
            </a:r>
            <a:r>
              <a:rPr kumimoji="0" lang="en-US" altLang="zh-CN" sz="900" b="1" i="0" u="none" strike="noStrike" kern="0" cap="none" spc="0" normalizeH="0" baseline="0" noProof="0">
                <a:ln>
                  <a:noFill/>
                </a:ln>
                <a:solidFill>
                  <a:srgbClr val="000000"/>
                </a:solidFill>
                <a:effectLst/>
                <a:uLnTx/>
                <a:uFillTx/>
                <a:latin typeface="+mn-ea"/>
                <a:cs typeface="+mn-ea"/>
                <a:sym typeface="+mn-lt"/>
              </a:rPr>
              <a:t>/</a:t>
            </a:r>
            <a:r>
              <a:rPr kumimoji="0" lang="zh-CN" altLang="en-US" sz="900" b="1" i="0" u="none" strike="noStrike" kern="0" cap="none" spc="0" normalizeH="0" baseline="0" noProof="0">
                <a:ln>
                  <a:noFill/>
                </a:ln>
                <a:solidFill>
                  <a:srgbClr val="000000"/>
                </a:solidFill>
                <a:effectLst/>
                <a:uLnTx/>
                <a:uFillTx/>
                <a:latin typeface="+mn-ea"/>
                <a:cs typeface="+mn-ea"/>
                <a:sym typeface="+mn-lt"/>
              </a:rPr>
              <a:t>转介绍</a:t>
            </a:r>
          </a:p>
        </p:txBody>
      </p:sp>
      <p:sp>
        <p:nvSpPr>
          <p:cNvPr id="46" name="矩形 51">
            <a:extLst>
              <a:ext uri="{FF2B5EF4-FFF2-40B4-BE49-F238E27FC236}">
                <a16:creationId xmlns:a16="http://schemas.microsoft.com/office/drawing/2014/main" id="{561F18A6-1090-4172-9515-99FF6B777EDC}"/>
              </a:ext>
            </a:extLst>
          </p:cNvPr>
          <p:cNvSpPr/>
          <p:nvPr/>
        </p:nvSpPr>
        <p:spPr>
          <a:xfrm>
            <a:off x="2152188"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熟知</a:t>
            </a:r>
          </a:p>
        </p:txBody>
      </p:sp>
      <p:sp>
        <p:nvSpPr>
          <p:cNvPr id="47" name="Parallelogram 156">
            <a:extLst>
              <a:ext uri="{FF2B5EF4-FFF2-40B4-BE49-F238E27FC236}">
                <a16:creationId xmlns:a16="http://schemas.microsoft.com/office/drawing/2014/main" id="{1FAD32D4-2B5E-4BB6-8BE7-81ABB2EE01B5}"/>
              </a:ext>
            </a:extLst>
          </p:cNvPr>
          <p:cNvSpPr/>
          <p:nvPr/>
        </p:nvSpPr>
        <p:spPr>
          <a:xfrm>
            <a:off x="1254843" y="786848"/>
            <a:ext cx="972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dirty="0">
                <a:ln>
                  <a:noFill/>
                </a:ln>
                <a:solidFill>
                  <a:srgbClr val="FFFFFF"/>
                </a:solidFill>
                <a:effectLst/>
                <a:uLnTx/>
                <a:uFillTx/>
                <a:latin typeface="+mn-ea"/>
                <a:cs typeface="+mn-ea"/>
                <a:sym typeface="+mn-lt"/>
              </a:rPr>
              <a:t>知晓</a:t>
            </a:r>
          </a:p>
        </p:txBody>
      </p:sp>
      <p:sp>
        <p:nvSpPr>
          <p:cNvPr id="48" name="Parallelogram 157">
            <a:extLst>
              <a:ext uri="{FF2B5EF4-FFF2-40B4-BE49-F238E27FC236}">
                <a16:creationId xmlns:a16="http://schemas.microsoft.com/office/drawing/2014/main" id="{9B8973E0-EF8A-41E7-921B-623FF3CB8DBC}"/>
              </a:ext>
            </a:extLst>
          </p:cNvPr>
          <p:cNvSpPr/>
          <p:nvPr/>
        </p:nvSpPr>
        <p:spPr>
          <a:xfrm>
            <a:off x="2053409" y="786848"/>
            <a:ext cx="792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dirty="0">
                <a:ln>
                  <a:noFill/>
                </a:ln>
                <a:solidFill>
                  <a:srgbClr val="FFFFFF"/>
                </a:solidFill>
                <a:effectLst/>
                <a:uLnTx/>
                <a:uFillTx/>
                <a:latin typeface="+mn-ea"/>
                <a:cs typeface="+mn-ea"/>
                <a:sym typeface="+mn-lt"/>
              </a:rPr>
              <a:t>兴趣</a:t>
            </a:r>
          </a:p>
        </p:txBody>
      </p:sp>
      <p:sp>
        <p:nvSpPr>
          <p:cNvPr id="49" name="Parallelogram 161">
            <a:extLst>
              <a:ext uri="{FF2B5EF4-FFF2-40B4-BE49-F238E27FC236}">
                <a16:creationId xmlns:a16="http://schemas.microsoft.com/office/drawing/2014/main" id="{9877E49C-9BE0-456C-89F8-3B0F6C38A7D3}"/>
              </a:ext>
            </a:extLst>
          </p:cNvPr>
          <p:cNvSpPr/>
          <p:nvPr/>
        </p:nvSpPr>
        <p:spPr>
          <a:xfrm>
            <a:off x="2665251" y="786848"/>
            <a:ext cx="1008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dirty="0">
                <a:ln>
                  <a:noFill/>
                </a:ln>
                <a:solidFill>
                  <a:srgbClr val="FFFFFF"/>
                </a:solidFill>
                <a:effectLst/>
                <a:uLnTx/>
                <a:uFillTx/>
                <a:latin typeface="+mn-ea"/>
                <a:cs typeface="+mn-ea"/>
                <a:sym typeface="+mn-lt"/>
              </a:rPr>
              <a:t>比较</a:t>
            </a:r>
          </a:p>
        </p:txBody>
      </p:sp>
      <p:sp>
        <p:nvSpPr>
          <p:cNvPr id="50" name="Parallelogram 163">
            <a:extLst>
              <a:ext uri="{FF2B5EF4-FFF2-40B4-BE49-F238E27FC236}">
                <a16:creationId xmlns:a16="http://schemas.microsoft.com/office/drawing/2014/main" id="{6584B854-6A92-4644-9D58-60EE3674801D}"/>
              </a:ext>
            </a:extLst>
          </p:cNvPr>
          <p:cNvSpPr/>
          <p:nvPr/>
        </p:nvSpPr>
        <p:spPr>
          <a:xfrm>
            <a:off x="3487005" y="786848"/>
            <a:ext cx="720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dirty="0">
                <a:ln>
                  <a:noFill/>
                </a:ln>
                <a:solidFill>
                  <a:srgbClr val="FFFFFF"/>
                </a:solidFill>
                <a:effectLst/>
                <a:uLnTx/>
                <a:uFillTx/>
                <a:latin typeface="+mn-ea"/>
                <a:cs typeface="+mn-ea"/>
                <a:sym typeface="+mn-lt"/>
              </a:rPr>
              <a:t>磋商</a:t>
            </a:r>
          </a:p>
        </p:txBody>
      </p:sp>
      <p:sp>
        <p:nvSpPr>
          <p:cNvPr id="51" name="Parallelogram 164">
            <a:extLst>
              <a:ext uri="{FF2B5EF4-FFF2-40B4-BE49-F238E27FC236}">
                <a16:creationId xmlns:a16="http://schemas.microsoft.com/office/drawing/2014/main" id="{E22E0FD3-6D40-4FB7-9C52-74605E344983}"/>
              </a:ext>
            </a:extLst>
          </p:cNvPr>
          <p:cNvSpPr/>
          <p:nvPr/>
        </p:nvSpPr>
        <p:spPr>
          <a:xfrm>
            <a:off x="4058859" y="786848"/>
            <a:ext cx="1800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a:ln>
                  <a:noFill/>
                </a:ln>
                <a:solidFill>
                  <a:srgbClr val="FFFFFF"/>
                </a:solidFill>
                <a:effectLst/>
                <a:uLnTx/>
                <a:uFillTx/>
                <a:latin typeface="+mn-ea"/>
                <a:cs typeface="+mn-ea"/>
                <a:sym typeface="+mn-lt"/>
              </a:rPr>
              <a:t>成交</a:t>
            </a:r>
          </a:p>
        </p:txBody>
      </p:sp>
      <p:sp>
        <p:nvSpPr>
          <p:cNvPr id="52" name="Parallelogram 165">
            <a:extLst>
              <a:ext uri="{FF2B5EF4-FFF2-40B4-BE49-F238E27FC236}">
                <a16:creationId xmlns:a16="http://schemas.microsoft.com/office/drawing/2014/main" id="{72CCF8DE-14A0-4CC2-A175-BCDE7A7FFA96}"/>
              </a:ext>
            </a:extLst>
          </p:cNvPr>
          <p:cNvSpPr/>
          <p:nvPr/>
        </p:nvSpPr>
        <p:spPr>
          <a:xfrm>
            <a:off x="5748408" y="786848"/>
            <a:ext cx="1296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a:ln>
                  <a:noFill/>
                </a:ln>
                <a:solidFill>
                  <a:srgbClr val="FFFFFF"/>
                </a:solidFill>
                <a:effectLst/>
                <a:uLnTx/>
                <a:uFillTx/>
                <a:latin typeface="+mn-ea"/>
                <a:cs typeface="+mn-ea"/>
                <a:sym typeface="+mn-lt"/>
              </a:rPr>
              <a:t>出行</a:t>
            </a:r>
          </a:p>
        </p:txBody>
      </p:sp>
      <p:sp>
        <p:nvSpPr>
          <p:cNvPr id="53" name="Parallelogram 166">
            <a:extLst>
              <a:ext uri="{FF2B5EF4-FFF2-40B4-BE49-F238E27FC236}">
                <a16:creationId xmlns:a16="http://schemas.microsoft.com/office/drawing/2014/main" id="{65FF4F21-A464-4204-A266-0084A846B619}"/>
              </a:ext>
            </a:extLst>
          </p:cNvPr>
          <p:cNvSpPr/>
          <p:nvPr/>
        </p:nvSpPr>
        <p:spPr>
          <a:xfrm>
            <a:off x="7561536" y="786848"/>
            <a:ext cx="1512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a:ln>
                  <a:noFill/>
                </a:ln>
                <a:solidFill>
                  <a:srgbClr val="FFFFFF"/>
                </a:solidFill>
                <a:effectLst/>
                <a:uLnTx/>
                <a:uFillTx/>
                <a:latin typeface="+mn-ea"/>
                <a:cs typeface="+mn-ea"/>
                <a:sym typeface="+mn-lt"/>
              </a:rPr>
              <a:t>维修保养</a:t>
            </a:r>
          </a:p>
        </p:txBody>
      </p:sp>
      <p:sp>
        <p:nvSpPr>
          <p:cNvPr id="54" name="Parallelogram 167">
            <a:extLst>
              <a:ext uri="{FF2B5EF4-FFF2-40B4-BE49-F238E27FC236}">
                <a16:creationId xmlns:a16="http://schemas.microsoft.com/office/drawing/2014/main" id="{7EA6149F-6660-4BC6-96EC-8585F27C404F}"/>
              </a:ext>
            </a:extLst>
          </p:cNvPr>
          <p:cNvSpPr/>
          <p:nvPr/>
        </p:nvSpPr>
        <p:spPr>
          <a:xfrm>
            <a:off x="8953275" y="786848"/>
            <a:ext cx="1512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a:ln>
                  <a:noFill/>
                </a:ln>
                <a:solidFill>
                  <a:srgbClr val="FFFFFF"/>
                </a:solidFill>
                <a:effectLst/>
                <a:uLnTx/>
                <a:uFillTx/>
                <a:latin typeface="+mn-ea"/>
                <a:cs typeface="+mn-ea"/>
                <a:sym typeface="+mn-lt"/>
              </a:rPr>
              <a:t>参与互动</a:t>
            </a:r>
          </a:p>
        </p:txBody>
      </p:sp>
      <p:sp>
        <p:nvSpPr>
          <p:cNvPr id="55" name="Parallelogram 169">
            <a:extLst>
              <a:ext uri="{FF2B5EF4-FFF2-40B4-BE49-F238E27FC236}">
                <a16:creationId xmlns:a16="http://schemas.microsoft.com/office/drawing/2014/main" id="{22B74249-EB72-40A4-8A80-22272C1A21D4}"/>
              </a:ext>
            </a:extLst>
          </p:cNvPr>
          <p:cNvSpPr/>
          <p:nvPr/>
        </p:nvSpPr>
        <p:spPr>
          <a:xfrm>
            <a:off x="10285737" y="786848"/>
            <a:ext cx="936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0" tIns="39902" rIns="0"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a:ln>
                  <a:noFill/>
                </a:ln>
                <a:solidFill>
                  <a:srgbClr val="FFFFFF"/>
                </a:solidFill>
                <a:effectLst/>
                <a:uLnTx/>
                <a:uFillTx/>
                <a:latin typeface="+mn-ea"/>
                <a:cs typeface="+mn-ea"/>
                <a:sym typeface="+mn-lt"/>
              </a:rPr>
              <a:t>传播推荐</a:t>
            </a:r>
          </a:p>
        </p:txBody>
      </p:sp>
      <p:sp>
        <p:nvSpPr>
          <p:cNvPr id="56" name="Parallelogram 170">
            <a:extLst>
              <a:ext uri="{FF2B5EF4-FFF2-40B4-BE49-F238E27FC236}">
                <a16:creationId xmlns:a16="http://schemas.microsoft.com/office/drawing/2014/main" id="{4FB6C320-8B38-4BFF-9E27-5CF1C6D197B8}"/>
              </a:ext>
            </a:extLst>
          </p:cNvPr>
          <p:cNvSpPr/>
          <p:nvPr/>
        </p:nvSpPr>
        <p:spPr>
          <a:xfrm>
            <a:off x="11029984" y="786848"/>
            <a:ext cx="1008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a:ln>
                  <a:noFill/>
                </a:ln>
                <a:solidFill>
                  <a:srgbClr val="FFFFFF"/>
                </a:solidFill>
                <a:effectLst/>
                <a:uLnTx/>
                <a:uFillTx/>
                <a:latin typeface="+mn-ea"/>
                <a:cs typeface="+mn-ea"/>
                <a:sym typeface="+mn-lt"/>
              </a:rPr>
              <a:t>复购</a:t>
            </a:r>
          </a:p>
        </p:txBody>
      </p:sp>
      <p:sp>
        <p:nvSpPr>
          <p:cNvPr id="57" name="矩形 83">
            <a:extLst>
              <a:ext uri="{FF2B5EF4-FFF2-40B4-BE49-F238E27FC236}">
                <a16:creationId xmlns:a16="http://schemas.microsoft.com/office/drawing/2014/main" id="{9A5AC860-26B7-4A2B-ACD1-6424109BB3B2}"/>
              </a:ext>
            </a:extLst>
          </p:cNvPr>
          <p:cNvSpPr/>
          <p:nvPr/>
        </p:nvSpPr>
        <p:spPr>
          <a:xfrm>
            <a:off x="10574390"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内容传播</a:t>
            </a:r>
          </a:p>
        </p:txBody>
      </p:sp>
      <p:sp>
        <p:nvSpPr>
          <p:cNvPr id="58" name="矩形 56">
            <a:extLst>
              <a:ext uri="{FF2B5EF4-FFF2-40B4-BE49-F238E27FC236}">
                <a16:creationId xmlns:a16="http://schemas.microsoft.com/office/drawing/2014/main" id="{9727E5ED-9A12-43D7-8F8F-86833818E26E}"/>
              </a:ext>
            </a:extLst>
          </p:cNvPr>
          <p:cNvSpPr/>
          <p:nvPr/>
        </p:nvSpPr>
        <p:spPr>
          <a:xfrm>
            <a:off x="3514453"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选择款型配置</a:t>
            </a:r>
          </a:p>
        </p:txBody>
      </p:sp>
      <p:sp>
        <p:nvSpPr>
          <p:cNvPr id="59" name="矩形 57">
            <a:extLst>
              <a:ext uri="{FF2B5EF4-FFF2-40B4-BE49-F238E27FC236}">
                <a16:creationId xmlns:a16="http://schemas.microsoft.com/office/drawing/2014/main" id="{9AD51EA8-BBDC-4BCE-A8C0-805080CE92FB}"/>
              </a:ext>
            </a:extLst>
          </p:cNvPr>
          <p:cNvSpPr/>
          <p:nvPr/>
        </p:nvSpPr>
        <p:spPr>
          <a:xfrm>
            <a:off x="4604265"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付尾款</a:t>
            </a:r>
          </a:p>
        </p:txBody>
      </p:sp>
      <p:sp>
        <p:nvSpPr>
          <p:cNvPr id="60" name="矩形 71">
            <a:extLst>
              <a:ext uri="{FF2B5EF4-FFF2-40B4-BE49-F238E27FC236}">
                <a16:creationId xmlns:a16="http://schemas.microsoft.com/office/drawing/2014/main" id="{DD156D00-F996-44B1-9CFC-5B7968946240}"/>
              </a:ext>
            </a:extLst>
          </p:cNvPr>
          <p:cNvSpPr/>
          <p:nvPr/>
        </p:nvSpPr>
        <p:spPr>
          <a:xfrm>
            <a:off x="5149171"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上牌</a:t>
            </a:r>
          </a:p>
        </p:txBody>
      </p:sp>
      <p:sp>
        <p:nvSpPr>
          <p:cNvPr id="61" name="Parallelogram 179">
            <a:extLst>
              <a:ext uri="{FF2B5EF4-FFF2-40B4-BE49-F238E27FC236}">
                <a16:creationId xmlns:a16="http://schemas.microsoft.com/office/drawing/2014/main" id="{1B6F0C39-9438-4511-8E99-E5C677310427}"/>
              </a:ext>
            </a:extLst>
          </p:cNvPr>
          <p:cNvSpPr/>
          <p:nvPr/>
        </p:nvSpPr>
        <p:spPr>
          <a:xfrm>
            <a:off x="6834972" y="786848"/>
            <a:ext cx="936000" cy="216000"/>
          </a:xfrm>
          <a:prstGeom prst="parallelogram">
            <a:avLst>
              <a:gd name="adj" fmla="val 82891"/>
            </a:avLst>
          </a:prstGeom>
          <a:solidFill>
            <a:srgbClr val="2EC6FF"/>
          </a:solidFill>
          <a:ln w="3175" cap="flat">
            <a:solidFill>
              <a:srgbClr val="FFFFFF"/>
            </a:solidFill>
            <a:miter lim="400000"/>
          </a:ln>
          <a:effectLst/>
        </p:spPr>
        <p:txBody>
          <a:bodyPr rot="0" spcFirstLastPara="1" vertOverflow="overflow" horzOverflow="overflow" vert="horz" wrap="square" lIns="39600" tIns="39902" rIns="39902" bIns="39902" numCol="1" spcCol="38100" rtlCol="0" anchor="ctr">
            <a:noAutofit/>
          </a:bodyPr>
          <a:lstStyle/>
          <a:p>
            <a:pPr marL="0" marR="0" lvl="0" indent="0" algn="ctr" defTabSz="648430" eaLnBrk="1" fontAlgn="auto" latinLnBrk="0" hangingPunct="0">
              <a:lnSpc>
                <a:spcPct val="100000"/>
              </a:lnSpc>
              <a:spcBef>
                <a:spcPts val="0"/>
              </a:spcBef>
              <a:spcAft>
                <a:spcPts val="0"/>
              </a:spcAft>
              <a:buClrTx/>
              <a:buSzTx/>
              <a:buFontTx/>
              <a:buNone/>
              <a:tabLst/>
              <a:defRPr/>
            </a:pPr>
            <a:r>
              <a:rPr kumimoji="0" lang="en-CN" sz="1200" b="0" i="0" u="none" strike="noStrike" kern="0" cap="none" spc="0" normalizeH="0" baseline="0" noProof="0">
                <a:ln>
                  <a:noFill/>
                </a:ln>
                <a:solidFill>
                  <a:srgbClr val="FFFFFF"/>
                </a:solidFill>
                <a:effectLst/>
                <a:uLnTx/>
                <a:uFillTx/>
                <a:latin typeface="+mn-ea"/>
                <a:cs typeface="+mn-ea"/>
                <a:sym typeface="+mn-lt"/>
              </a:rPr>
              <a:t>维护</a:t>
            </a:r>
          </a:p>
        </p:txBody>
      </p:sp>
      <p:sp>
        <p:nvSpPr>
          <p:cNvPr id="62" name="矩形 83">
            <a:extLst>
              <a:ext uri="{FF2B5EF4-FFF2-40B4-BE49-F238E27FC236}">
                <a16:creationId xmlns:a16="http://schemas.microsoft.com/office/drawing/2014/main" id="{2C3DD5D3-6D4A-46A2-8766-3995FE401324}"/>
              </a:ext>
            </a:extLst>
          </p:cNvPr>
          <p:cNvSpPr/>
          <p:nvPr/>
        </p:nvSpPr>
        <p:spPr>
          <a:xfrm>
            <a:off x="9959592"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社区活动</a:t>
            </a:r>
          </a:p>
        </p:txBody>
      </p:sp>
      <p:sp>
        <p:nvSpPr>
          <p:cNvPr id="63" name="矩形 83">
            <a:extLst>
              <a:ext uri="{FF2B5EF4-FFF2-40B4-BE49-F238E27FC236}">
                <a16:creationId xmlns:a16="http://schemas.microsoft.com/office/drawing/2014/main" id="{48F50469-369F-442F-9F41-55F81FF41B9C}"/>
              </a:ext>
            </a:extLst>
          </p:cNvPr>
          <p:cNvSpPr/>
          <p:nvPr/>
        </p:nvSpPr>
        <p:spPr>
          <a:xfrm>
            <a:off x="9652193" y="1064284"/>
            <a:ext cx="234000" cy="900000"/>
          </a:xfrm>
          <a:prstGeom prst="rect">
            <a:avLst/>
          </a:prstGeom>
          <a:solidFill>
            <a:srgbClr val="FF4025">
              <a:lumMod val="20000"/>
              <a:lumOff val="80000"/>
            </a:srgbClr>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分享</a:t>
            </a:r>
          </a:p>
        </p:txBody>
      </p:sp>
      <p:sp>
        <p:nvSpPr>
          <p:cNvPr id="64" name="矩形 84">
            <a:extLst>
              <a:ext uri="{FF2B5EF4-FFF2-40B4-BE49-F238E27FC236}">
                <a16:creationId xmlns:a16="http://schemas.microsoft.com/office/drawing/2014/main" id="{86C3C244-38E6-4896-883F-920595BE793A}"/>
              </a:ext>
            </a:extLst>
          </p:cNvPr>
          <p:cNvSpPr/>
          <p:nvPr/>
        </p:nvSpPr>
        <p:spPr>
          <a:xfrm>
            <a:off x="157874" y="786848"/>
            <a:ext cx="1008000" cy="216000"/>
          </a:xfrm>
          <a:prstGeom prst="rect">
            <a:avLst/>
          </a:prstGeom>
          <a:solidFill>
            <a:srgbClr val="16A2FF"/>
          </a:solidFill>
          <a:ln w="10795" cap="flat" cmpd="sng" algn="ctr">
            <a:solidFill>
              <a:srgbClr val="16A2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FFFFFF"/>
                </a:solidFill>
                <a:effectLst/>
                <a:uLnTx/>
                <a:uFillTx/>
                <a:latin typeface="+mn-ea"/>
                <a:cs typeface="+mn-ea"/>
                <a:sym typeface="+mn-lt"/>
              </a:rPr>
              <a:t>一级</a:t>
            </a:r>
          </a:p>
        </p:txBody>
      </p:sp>
      <p:sp>
        <p:nvSpPr>
          <p:cNvPr id="65" name="矩形 72">
            <a:extLst>
              <a:ext uri="{FF2B5EF4-FFF2-40B4-BE49-F238E27FC236}">
                <a16:creationId xmlns:a16="http://schemas.microsoft.com/office/drawing/2014/main" id="{EC31A121-EA6C-4952-963C-645624463D7A}"/>
              </a:ext>
            </a:extLst>
          </p:cNvPr>
          <p:cNvSpPr/>
          <p:nvPr/>
        </p:nvSpPr>
        <p:spPr>
          <a:xfrm>
            <a:off x="7193001" y="1064284"/>
            <a:ext cx="234000" cy="900000"/>
          </a:xfrm>
          <a:prstGeom prst="rect">
            <a:avLst/>
          </a:prstGeom>
          <a:solidFill>
            <a:srgbClr val="FF4025">
              <a:lumMod val="20000"/>
              <a:lumOff val="80000"/>
            </a:srgbClr>
          </a:solidFill>
          <a:ln w="19050" cap="flat" cmpd="sng" algn="ctr">
            <a:no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srgbClr val="000000"/>
                </a:solidFill>
                <a:effectLst/>
                <a:uLnTx/>
                <a:uFillTx/>
                <a:latin typeface="+mn-ea"/>
                <a:cs typeface="+mn-ea"/>
                <a:sym typeface="+mn-lt"/>
              </a:rPr>
              <a:t>延保</a:t>
            </a:r>
            <a:r>
              <a:rPr kumimoji="0" lang="en-US" altLang="zh-CN" sz="900" b="1" i="0" u="none" strike="noStrike" kern="0" cap="none" spc="0" normalizeH="0" baseline="0" noProof="0">
                <a:ln>
                  <a:noFill/>
                </a:ln>
                <a:solidFill>
                  <a:srgbClr val="000000"/>
                </a:solidFill>
                <a:effectLst/>
                <a:uLnTx/>
                <a:uFillTx/>
                <a:latin typeface="+mn-ea"/>
                <a:cs typeface="+mn-ea"/>
                <a:sym typeface="+mn-lt"/>
              </a:rPr>
              <a:t>/</a:t>
            </a:r>
            <a:r>
              <a:rPr kumimoji="0" lang="zh-CN" altLang="en-US" sz="900" b="1" i="0" u="none" strike="noStrike" kern="0" cap="none" spc="0" normalizeH="0" baseline="0" noProof="0">
                <a:ln>
                  <a:noFill/>
                </a:ln>
                <a:solidFill>
                  <a:srgbClr val="000000"/>
                </a:solidFill>
                <a:effectLst/>
                <a:uLnTx/>
                <a:uFillTx/>
                <a:latin typeface="+mn-ea"/>
                <a:cs typeface="+mn-ea"/>
                <a:sym typeface="+mn-lt"/>
              </a:rPr>
              <a:t>续保</a:t>
            </a:r>
          </a:p>
        </p:txBody>
      </p:sp>
      <p:sp>
        <p:nvSpPr>
          <p:cNvPr id="66" name="Rectangle 101">
            <a:extLst>
              <a:ext uri="{FF2B5EF4-FFF2-40B4-BE49-F238E27FC236}">
                <a16:creationId xmlns:a16="http://schemas.microsoft.com/office/drawing/2014/main" id="{FB8D80EF-EA96-41FA-9559-F5D1A8854194}"/>
              </a:ext>
            </a:extLst>
          </p:cNvPr>
          <p:cNvSpPr/>
          <p:nvPr/>
        </p:nvSpPr>
        <p:spPr>
          <a:xfrm>
            <a:off x="1090490" y="2142195"/>
            <a:ext cx="997323" cy="288000"/>
          </a:xfrm>
          <a:prstGeom prst="rect">
            <a:avLst/>
          </a:prstGeom>
          <a:solidFill>
            <a:srgbClr val="0070C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900" dirty="0">
                <a:solidFill>
                  <a:srgbClr val="FFFFFF"/>
                </a:solidFill>
                <a:latin typeface="+mn-ea"/>
                <a:cs typeface="+mn-ea"/>
                <a:sym typeface="+mn-lt"/>
              </a:rPr>
              <a:t>品牌及广宣中心</a:t>
            </a:r>
            <a:endParaRPr kumimoji="1" lang="en-GB" sz="900" dirty="0">
              <a:solidFill>
                <a:srgbClr val="FFFFFF"/>
              </a:solidFill>
              <a:latin typeface="+mn-ea"/>
              <a:cs typeface="+mn-ea"/>
              <a:sym typeface="+mn-lt"/>
            </a:endParaRPr>
          </a:p>
        </p:txBody>
      </p:sp>
      <p:sp>
        <p:nvSpPr>
          <p:cNvPr id="67" name="Rectangle 102">
            <a:extLst>
              <a:ext uri="{FF2B5EF4-FFF2-40B4-BE49-F238E27FC236}">
                <a16:creationId xmlns:a16="http://schemas.microsoft.com/office/drawing/2014/main" id="{2A7721F0-FE8F-4943-B980-FA47CFFA4E8F}"/>
              </a:ext>
            </a:extLst>
          </p:cNvPr>
          <p:cNvSpPr/>
          <p:nvPr/>
        </p:nvSpPr>
        <p:spPr>
          <a:xfrm>
            <a:off x="2147675" y="2150949"/>
            <a:ext cx="3546332" cy="288000"/>
          </a:xfrm>
          <a:prstGeom prst="rect">
            <a:avLst/>
          </a:prstGeom>
          <a:solidFill>
            <a:srgbClr val="0070C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900" dirty="0">
                <a:solidFill>
                  <a:srgbClr val="FFFFFF"/>
                </a:solidFill>
                <a:latin typeface="+mn-ea"/>
                <a:cs typeface="+mn-ea"/>
                <a:sym typeface="+mn-lt"/>
              </a:rPr>
              <a:t>订单及交付中心</a:t>
            </a:r>
            <a:endParaRPr kumimoji="1" lang="en-GB" sz="900" dirty="0">
              <a:solidFill>
                <a:srgbClr val="FFFFFF"/>
              </a:solidFill>
              <a:latin typeface="+mn-ea"/>
              <a:cs typeface="+mn-ea"/>
              <a:sym typeface="+mn-lt"/>
            </a:endParaRPr>
          </a:p>
        </p:txBody>
      </p:sp>
      <p:sp>
        <p:nvSpPr>
          <p:cNvPr id="68" name="Rectangle 103">
            <a:extLst>
              <a:ext uri="{FF2B5EF4-FFF2-40B4-BE49-F238E27FC236}">
                <a16:creationId xmlns:a16="http://schemas.microsoft.com/office/drawing/2014/main" id="{C7CA464B-85B9-4679-8FEA-83ED2FABD28D}"/>
              </a:ext>
            </a:extLst>
          </p:cNvPr>
          <p:cNvSpPr/>
          <p:nvPr/>
        </p:nvSpPr>
        <p:spPr>
          <a:xfrm>
            <a:off x="5729031" y="2163215"/>
            <a:ext cx="3276000" cy="288000"/>
          </a:xfrm>
          <a:prstGeom prst="rect">
            <a:avLst/>
          </a:prstGeom>
          <a:solidFill>
            <a:srgbClr val="0070C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900" dirty="0">
                <a:solidFill>
                  <a:srgbClr val="FFFFFF"/>
                </a:solidFill>
                <a:latin typeface="+mn-ea"/>
                <a:cs typeface="+mn-ea"/>
                <a:sym typeface="+mn-lt"/>
              </a:rPr>
              <a:t>服务中心</a:t>
            </a:r>
            <a:endParaRPr kumimoji="1" lang="en-GB" sz="900" dirty="0">
              <a:solidFill>
                <a:srgbClr val="FFFFFF"/>
              </a:solidFill>
              <a:latin typeface="+mn-ea"/>
              <a:cs typeface="+mn-ea"/>
              <a:sym typeface="+mn-lt"/>
            </a:endParaRPr>
          </a:p>
        </p:txBody>
      </p:sp>
      <p:sp>
        <p:nvSpPr>
          <p:cNvPr id="69" name="Rectangle 105">
            <a:extLst>
              <a:ext uri="{FF2B5EF4-FFF2-40B4-BE49-F238E27FC236}">
                <a16:creationId xmlns:a16="http://schemas.microsoft.com/office/drawing/2014/main" id="{2C434379-C7D1-4E61-B24C-733F7C58B8E7}"/>
              </a:ext>
            </a:extLst>
          </p:cNvPr>
          <p:cNvSpPr/>
          <p:nvPr/>
        </p:nvSpPr>
        <p:spPr>
          <a:xfrm>
            <a:off x="9036597" y="2008021"/>
            <a:ext cx="3024000" cy="421539"/>
          </a:xfrm>
          <a:prstGeom prst="rect">
            <a:avLst/>
          </a:prstGeom>
          <a:solidFill>
            <a:srgbClr val="0070C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900" dirty="0">
                <a:solidFill>
                  <a:srgbClr val="FFFFFF"/>
                </a:solidFill>
                <a:latin typeface="+mn-ea"/>
                <a:cs typeface="+mn-ea"/>
                <a:sym typeface="+mn-lt"/>
              </a:rPr>
              <a:t>用户中心</a:t>
            </a:r>
            <a:endParaRPr kumimoji="1" lang="en-GB" sz="900" dirty="0">
              <a:solidFill>
                <a:srgbClr val="FFFFFF"/>
              </a:solidFill>
              <a:latin typeface="+mn-ea"/>
              <a:cs typeface="+mn-ea"/>
              <a:sym typeface="+mn-lt"/>
            </a:endParaRPr>
          </a:p>
        </p:txBody>
      </p:sp>
      <p:cxnSp>
        <p:nvCxnSpPr>
          <p:cNvPr id="70" name="Straight Connector 227">
            <a:extLst>
              <a:ext uri="{FF2B5EF4-FFF2-40B4-BE49-F238E27FC236}">
                <a16:creationId xmlns:a16="http://schemas.microsoft.com/office/drawing/2014/main" id="{D3F7C016-A45E-4028-A276-E06268BCAABB}"/>
              </a:ext>
            </a:extLst>
          </p:cNvPr>
          <p:cNvCxnSpPr>
            <a:cxnSpLocks/>
          </p:cNvCxnSpPr>
          <p:nvPr/>
        </p:nvCxnSpPr>
        <p:spPr>
          <a:xfrm flipV="1">
            <a:off x="0" y="3807151"/>
            <a:ext cx="12192000" cy="31728"/>
          </a:xfrm>
          <a:prstGeom prst="line">
            <a:avLst/>
          </a:prstGeom>
          <a:noFill/>
          <a:ln w="28575" cap="rnd" cmpd="sng" algn="ctr">
            <a:solidFill>
              <a:schemeClr val="bg1">
                <a:lumMod val="65000"/>
              </a:schemeClr>
            </a:solidFill>
            <a:prstDash val="sysDot"/>
            <a:round/>
          </a:ln>
          <a:effectLst/>
        </p:spPr>
      </p:cxnSp>
      <p:sp>
        <p:nvSpPr>
          <p:cNvPr id="71" name="TextBox 229">
            <a:extLst>
              <a:ext uri="{FF2B5EF4-FFF2-40B4-BE49-F238E27FC236}">
                <a16:creationId xmlns:a16="http://schemas.microsoft.com/office/drawing/2014/main" id="{516440E3-5CC5-406B-93EF-70CD47667BFF}"/>
              </a:ext>
            </a:extLst>
          </p:cNvPr>
          <p:cNvSpPr txBox="1"/>
          <p:nvPr/>
        </p:nvSpPr>
        <p:spPr>
          <a:xfrm>
            <a:off x="251719" y="3748300"/>
            <a:ext cx="180000" cy="955626"/>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gn="ctr">
              <a:lnSpc>
                <a:spcPct val="90000"/>
              </a:lnSpc>
              <a:spcAft>
                <a:spcPts val="600"/>
              </a:spcAft>
            </a:pPr>
            <a:r>
              <a:rPr lang="zh-CN" altLang="en-US" sz="1200" dirty="0">
                <a:solidFill>
                  <a:srgbClr val="000000"/>
                </a:solidFill>
                <a:latin typeface="+mn-ea"/>
                <a:cs typeface="+mn-ea"/>
                <a:sym typeface="+mn-lt"/>
              </a:rPr>
              <a:t>中台系统</a:t>
            </a:r>
            <a:endParaRPr lang="en-GB" sz="1200" dirty="0">
              <a:solidFill>
                <a:srgbClr val="000000"/>
              </a:solidFill>
              <a:latin typeface="+mn-ea"/>
              <a:cs typeface="+mn-ea"/>
              <a:sym typeface="+mn-lt"/>
            </a:endParaRPr>
          </a:p>
        </p:txBody>
      </p:sp>
      <p:sp>
        <p:nvSpPr>
          <p:cNvPr id="72" name="Rectangle 230">
            <a:extLst>
              <a:ext uri="{FF2B5EF4-FFF2-40B4-BE49-F238E27FC236}">
                <a16:creationId xmlns:a16="http://schemas.microsoft.com/office/drawing/2014/main" id="{4467E504-8300-49F1-A9C6-23E38794339E}"/>
              </a:ext>
            </a:extLst>
          </p:cNvPr>
          <p:cNvSpPr/>
          <p:nvPr/>
        </p:nvSpPr>
        <p:spPr>
          <a:xfrm>
            <a:off x="1083502" y="2020125"/>
            <a:ext cx="8064000" cy="108000"/>
          </a:xfrm>
          <a:prstGeom prst="rect">
            <a:avLst/>
          </a:prstGeom>
          <a:solidFill>
            <a:srgbClr val="0070C0"/>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a:solidFill>
                <a:srgbClr val="FFFFFF"/>
              </a:solidFill>
              <a:latin typeface="+mn-ea"/>
              <a:cs typeface="+mn-ea"/>
              <a:sym typeface="+mn-lt"/>
            </a:endParaRPr>
          </a:p>
        </p:txBody>
      </p:sp>
      <p:sp>
        <p:nvSpPr>
          <p:cNvPr id="73" name="TextBox 99">
            <a:extLst>
              <a:ext uri="{FF2B5EF4-FFF2-40B4-BE49-F238E27FC236}">
                <a16:creationId xmlns:a16="http://schemas.microsoft.com/office/drawing/2014/main" id="{52800064-DDDB-4DCD-A523-7C95D18ECA8D}"/>
              </a:ext>
            </a:extLst>
          </p:cNvPr>
          <p:cNvSpPr txBox="1"/>
          <p:nvPr/>
        </p:nvSpPr>
        <p:spPr>
          <a:xfrm>
            <a:off x="243908" y="5860789"/>
            <a:ext cx="180000" cy="903533"/>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gn="ctr">
              <a:lnSpc>
                <a:spcPct val="90000"/>
              </a:lnSpc>
              <a:spcAft>
                <a:spcPts val="600"/>
              </a:spcAft>
            </a:pPr>
            <a:r>
              <a:rPr lang="zh-CN" altLang="en-US" sz="1200" dirty="0">
                <a:solidFill>
                  <a:srgbClr val="000000"/>
                </a:solidFill>
                <a:latin typeface="+mn-ea"/>
                <a:cs typeface="+mn-ea"/>
                <a:sym typeface="+mn-lt"/>
              </a:rPr>
              <a:t>数据平台</a:t>
            </a:r>
            <a:endParaRPr lang="en-GB" sz="1200" dirty="0">
              <a:solidFill>
                <a:srgbClr val="000000"/>
              </a:solidFill>
              <a:latin typeface="+mn-ea"/>
              <a:cs typeface="+mn-ea"/>
              <a:sym typeface="+mn-lt"/>
            </a:endParaRPr>
          </a:p>
        </p:txBody>
      </p:sp>
      <p:sp>
        <p:nvSpPr>
          <p:cNvPr id="74" name="TextBox 100">
            <a:extLst>
              <a:ext uri="{FF2B5EF4-FFF2-40B4-BE49-F238E27FC236}">
                <a16:creationId xmlns:a16="http://schemas.microsoft.com/office/drawing/2014/main" id="{642238C5-F52B-4029-99F5-18B948721F41}"/>
              </a:ext>
            </a:extLst>
          </p:cNvPr>
          <p:cNvSpPr txBox="1"/>
          <p:nvPr/>
        </p:nvSpPr>
        <p:spPr>
          <a:xfrm>
            <a:off x="243908" y="2516212"/>
            <a:ext cx="180000" cy="955626"/>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gn="ctr">
              <a:lnSpc>
                <a:spcPct val="90000"/>
              </a:lnSpc>
              <a:spcAft>
                <a:spcPts val="600"/>
              </a:spcAft>
            </a:pPr>
            <a:r>
              <a:rPr lang="zh-CN" altLang="en-US" sz="1200" dirty="0">
                <a:solidFill>
                  <a:srgbClr val="000000"/>
                </a:solidFill>
                <a:latin typeface="+mn-ea"/>
                <a:cs typeface="+mn-ea"/>
                <a:sym typeface="+mn-lt"/>
              </a:rPr>
              <a:t>前台系统</a:t>
            </a:r>
            <a:endParaRPr lang="en-GB" sz="1200" dirty="0">
              <a:solidFill>
                <a:srgbClr val="000000"/>
              </a:solidFill>
              <a:latin typeface="+mn-ea"/>
              <a:cs typeface="+mn-ea"/>
              <a:sym typeface="+mn-lt"/>
            </a:endParaRPr>
          </a:p>
        </p:txBody>
      </p:sp>
      <p:cxnSp>
        <p:nvCxnSpPr>
          <p:cNvPr id="75" name="Straight Connector 106">
            <a:extLst>
              <a:ext uri="{FF2B5EF4-FFF2-40B4-BE49-F238E27FC236}">
                <a16:creationId xmlns:a16="http://schemas.microsoft.com/office/drawing/2014/main" id="{40C3C9A4-881D-490B-9A79-93E3E88471EA}"/>
              </a:ext>
            </a:extLst>
          </p:cNvPr>
          <p:cNvCxnSpPr>
            <a:cxnSpLocks/>
          </p:cNvCxnSpPr>
          <p:nvPr/>
        </p:nvCxnSpPr>
        <p:spPr>
          <a:xfrm flipV="1">
            <a:off x="10981" y="4628509"/>
            <a:ext cx="12192000" cy="31728"/>
          </a:xfrm>
          <a:prstGeom prst="line">
            <a:avLst/>
          </a:prstGeom>
          <a:noFill/>
          <a:ln w="28575" cap="rnd" cmpd="sng" algn="ctr">
            <a:solidFill>
              <a:schemeClr val="bg1">
                <a:lumMod val="65000"/>
              </a:schemeClr>
            </a:solidFill>
            <a:prstDash val="sysDot"/>
            <a:round/>
          </a:ln>
          <a:effectLst/>
        </p:spPr>
      </p:cxnSp>
      <p:sp>
        <p:nvSpPr>
          <p:cNvPr id="76" name="Rectangle 82">
            <a:extLst>
              <a:ext uri="{FF2B5EF4-FFF2-40B4-BE49-F238E27FC236}">
                <a16:creationId xmlns:a16="http://schemas.microsoft.com/office/drawing/2014/main" id="{4F19B690-C48D-4E35-B653-7E5E841F0A85}"/>
              </a:ext>
            </a:extLst>
          </p:cNvPr>
          <p:cNvSpPr/>
          <p:nvPr/>
        </p:nvSpPr>
        <p:spPr>
          <a:xfrm>
            <a:off x="3607707" y="3194283"/>
            <a:ext cx="2061462" cy="145189"/>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sz="700" kern="0" dirty="0">
                <a:solidFill>
                  <a:sysClr val="windowText" lastClr="000000"/>
                </a:solidFill>
                <a:latin typeface="+mn-ea"/>
                <a:cs typeface="+mn-ea"/>
                <a:sym typeface="+mn-lt"/>
              </a:rPr>
              <a:t>SCRM</a:t>
            </a:r>
            <a:endParaRPr kumimoji="1" lang="en-GB" sz="700" kern="0" dirty="0">
              <a:solidFill>
                <a:sysClr val="windowText" lastClr="000000"/>
              </a:solidFill>
              <a:latin typeface="+mn-ea"/>
              <a:cs typeface="+mn-ea"/>
              <a:sym typeface="+mn-lt"/>
            </a:endParaRPr>
          </a:p>
        </p:txBody>
      </p:sp>
      <p:sp>
        <p:nvSpPr>
          <p:cNvPr id="77" name="Rectangle 82">
            <a:extLst>
              <a:ext uri="{FF2B5EF4-FFF2-40B4-BE49-F238E27FC236}">
                <a16:creationId xmlns:a16="http://schemas.microsoft.com/office/drawing/2014/main" id="{6BA45F42-EB71-441F-A0CF-33DC29C87B4E}"/>
              </a:ext>
            </a:extLst>
          </p:cNvPr>
          <p:cNvSpPr/>
          <p:nvPr/>
        </p:nvSpPr>
        <p:spPr>
          <a:xfrm>
            <a:off x="2153728" y="2807858"/>
            <a:ext cx="868185" cy="157274"/>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sz="800" kern="0" dirty="0">
                <a:solidFill>
                  <a:sysClr val="windowText" lastClr="000000"/>
                </a:solidFill>
                <a:latin typeface="+mn-ea"/>
                <a:cs typeface="+mn-ea"/>
                <a:sym typeface="+mn-lt"/>
              </a:rPr>
              <a:t>E</a:t>
            </a:r>
            <a:r>
              <a:rPr kumimoji="1" lang="zh-CN" altLang="en-US" sz="800" kern="0" dirty="0">
                <a:solidFill>
                  <a:sysClr val="windowText" lastClr="000000"/>
                </a:solidFill>
                <a:latin typeface="+mn-ea"/>
                <a:cs typeface="+mn-ea"/>
                <a:sym typeface="+mn-lt"/>
              </a:rPr>
              <a:t>祺看</a:t>
            </a:r>
            <a:endParaRPr kumimoji="1" lang="en-GB" sz="800" kern="0" dirty="0">
              <a:solidFill>
                <a:sysClr val="windowText" lastClr="000000"/>
              </a:solidFill>
              <a:latin typeface="+mn-ea"/>
              <a:cs typeface="+mn-ea"/>
              <a:sym typeface="+mn-lt"/>
            </a:endParaRPr>
          </a:p>
        </p:txBody>
      </p:sp>
      <p:sp>
        <p:nvSpPr>
          <p:cNvPr id="78" name="Rectangle 78">
            <a:extLst>
              <a:ext uri="{FF2B5EF4-FFF2-40B4-BE49-F238E27FC236}">
                <a16:creationId xmlns:a16="http://schemas.microsoft.com/office/drawing/2014/main" id="{579642B5-CF56-44E9-A317-100D07C3E86F}"/>
              </a:ext>
            </a:extLst>
          </p:cNvPr>
          <p:cNvSpPr/>
          <p:nvPr/>
        </p:nvSpPr>
        <p:spPr>
          <a:xfrm>
            <a:off x="4058859" y="3006251"/>
            <a:ext cx="7961727" cy="142708"/>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900" kern="0" dirty="0">
                <a:solidFill>
                  <a:sysClr val="windowText" lastClr="000000"/>
                </a:solidFill>
                <a:latin typeface="+mn-ea"/>
                <a:cs typeface="+mn-ea"/>
                <a:sym typeface="+mn-lt"/>
              </a:rPr>
              <a:t>传祺</a:t>
            </a:r>
            <a:r>
              <a:rPr kumimoji="1" lang="en-GB" altLang="zh-CN" sz="900" kern="0" dirty="0">
                <a:solidFill>
                  <a:sysClr val="windowText" lastClr="000000"/>
                </a:solidFill>
                <a:latin typeface="+mn-ea"/>
                <a:cs typeface="+mn-ea"/>
                <a:sym typeface="+mn-lt"/>
              </a:rPr>
              <a:t>APP</a:t>
            </a:r>
            <a:endParaRPr kumimoji="1" lang="en-GB" sz="900" kern="0" dirty="0">
              <a:solidFill>
                <a:sysClr val="windowText" lastClr="000000"/>
              </a:solidFill>
              <a:latin typeface="+mn-ea"/>
              <a:cs typeface="+mn-ea"/>
              <a:sym typeface="+mn-lt"/>
            </a:endParaRPr>
          </a:p>
        </p:txBody>
      </p:sp>
      <p:sp>
        <p:nvSpPr>
          <p:cNvPr id="79" name="Rectangle 122">
            <a:extLst>
              <a:ext uri="{FF2B5EF4-FFF2-40B4-BE49-F238E27FC236}">
                <a16:creationId xmlns:a16="http://schemas.microsoft.com/office/drawing/2014/main" id="{907C9BC3-3A12-4E0D-A9C6-D7D4998BEAF7}"/>
              </a:ext>
            </a:extLst>
          </p:cNvPr>
          <p:cNvSpPr/>
          <p:nvPr/>
        </p:nvSpPr>
        <p:spPr>
          <a:xfrm>
            <a:off x="1811788" y="2455206"/>
            <a:ext cx="1031371" cy="143967"/>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微信小程序</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80" name="Rectangle 90">
            <a:extLst>
              <a:ext uri="{FF2B5EF4-FFF2-40B4-BE49-F238E27FC236}">
                <a16:creationId xmlns:a16="http://schemas.microsoft.com/office/drawing/2014/main" id="{78937D63-2F9C-473C-8987-5DADB4EB165E}"/>
              </a:ext>
            </a:extLst>
          </p:cNvPr>
          <p:cNvSpPr/>
          <p:nvPr/>
        </p:nvSpPr>
        <p:spPr>
          <a:xfrm>
            <a:off x="2138082" y="3399811"/>
            <a:ext cx="4871497"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700" kern="0" dirty="0">
                <a:solidFill>
                  <a:sysClr val="windowText" lastClr="000000"/>
                </a:solidFill>
                <a:latin typeface="+mn-ea"/>
                <a:cs typeface="+mn-ea"/>
                <a:sym typeface="+mn-lt"/>
              </a:rPr>
              <a:t>营销自动化</a:t>
            </a:r>
            <a:endParaRPr kumimoji="1" lang="en-GB" sz="700" kern="0" dirty="0">
              <a:solidFill>
                <a:sysClr val="windowText" lastClr="000000"/>
              </a:solidFill>
              <a:latin typeface="+mn-ea"/>
              <a:cs typeface="+mn-ea"/>
              <a:sym typeface="+mn-lt"/>
            </a:endParaRPr>
          </a:p>
        </p:txBody>
      </p:sp>
      <p:sp>
        <p:nvSpPr>
          <p:cNvPr id="81" name="Rectangle 122">
            <a:extLst>
              <a:ext uri="{FF2B5EF4-FFF2-40B4-BE49-F238E27FC236}">
                <a16:creationId xmlns:a16="http://schemas.microsoft.com/office/drawing/2014/main" id="{2B60FB93-5DB7-4744-98B1-581F2C50F4A1}"/>
              </a:ext>
            </a:extLst>
          </p:cNvPr>
          <p:cNvSpPr/>
          <p:nvPr/>
        </p:nvSpPr>
        <p:spPr>
          <a:xfrm>
            <a:off x="9064804" y="2635294"/>
            <a:ext cx="1462282"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微信小程序</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82" name="Rectangle 122">
            <a:extLst>
              <a:ext uri="{FF2B5EF4-FFF2-40B4-BE49-F238E27FC236}">
                <a16:creationId xmlns:a16="http://schemas.microsoft.com/office/drawing/2014/main" id="{399DCB5E-B7CF-4E5F-8B61-36564FC06083}"/>
              </a:ext>
            </a:extLst>
          </p:cNvPr>
          <p:cNvSpPr/>
          <p:nvPr/>
        </p:nvSpPr>
        <p:spPr>
          <a:xfrm>
            <a:off x="6590195" y="2453919"/>
            <a:ext cx="1152000"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公众号</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83" name="Rectangle 211">
            <a:extLst>
              <a:ext uri="{FF2B5EF4-FFF2-40B4-BE49-F238E27FC236}">
                <a16:creationId xmlns:a16="http://schemas.microsoft.com/office/drawing/2014/main" id="{D116935B-099E-4E36-A7FC-BC59527E6FEB}"/>
              </a:ext>
            </a:extLst>
          </p:cNvPr>
          <p:cNvSpPr/>
          <p:nvPr/>
        </p:nvSpPr>
        <p:spPr>
          <a:xfrm>
            <a:off x="1280891" y="2453919"/>
            <a:ext cx="472071" cy="149986"/>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官网</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84" name="Rectangle 122">
            <a:extLst>
              <a:ext uri="{FF2B5EF4-FFF2-40B4-BE49-F238E27FC236}">
                <a16:creationId xmlns:a16="http://schemas.microsoft.com/office/drawing/2014/main" id="{71FED0E7-02F0-49BE-AF66-12D2A1EC47FF}"/>
              </a:ext>
            </a:extLst>
          </p:cNvPr>
          <p:cNvSpPr/>
          <p:nvPr/>
        </p:nvSpPr>
        <p:spPr>
          <a:xfrm>
            <a:off x="2974453" y="2453919"/>
            <a:ext cx="540000"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公众号</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85" name="Rectangle 27">
            <a:extLst>
              <a:ext uri="{FF2B5EF4-FFF2-40B4-BE49-F238E27FC236}">
                <a16:creationId xmlns:a16="http://schemas.microsoft.com/office/drawing/2014/main" id="{7EE51AC5-38A2-47B8-96AD-DBAB0D793E36}"/>
              </a:ext>
            </a:extLst>
          </p:cNvPr>
          <p:cNvSpPr/>
          <p:nvPr/>
        </p:nvSpPr>
        <p:spPr>
          <a:xfrm>
            <a:off x="10496004" y="3399811"/>
            <a:ext cx="1504516" cy="143672"/>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短视频</a:t>
            </a:r>
            <a:r>
              <a:rPr kumimoji="1" lang="en-US" altLang="zh-CN" sz="900" b="0" i="0" u="none" strike="noStrike" kern="0" cap="none" spc="0" normalizeH="0" baseline="0" noProof="0" dirty="0">
                <a:ln>
                  <a:noFill/>
                </a:ln>
                <a:solidFill>
                  <a:sysClr val="windowText" lastClr="000000"/>
                </a:solidFill>
                <a:effectLst/>
                <a:uLnTx/>
                <a:uFillTx/>
                <a:latin typeface="+mn-ea"/>
                <a:cs typeface="+mn-ea"/>
                <a:sym typeface="+mn-lt"/>
              </a:rPr>
              <a:t>/</a:t>
            </a: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直播数字营销</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86" name="Rectangle 122">
            <a:extLst>
              <a:ext uri="{FF2B5EF4-FFF2-40B4-BE49-F238E27FC236}">
                <a16:creationId xmlns:a16="http://schemas.microsoft.com/office/drawing/2014/main" id="{1ABF9FDE-9598-4A7D-91E4-8ED8E3B1DB58}"/>
              </a:ext>
            </a:extLst>
          </p:cNvPr>
          <p:cNvSpPr/>
          <p:nvPr/>
        </p:nvSpPr>
        <p:spPr>
          <a:xfrm>
            <a:off x="10250004" y="2453919"/>
            <a:ext cx="828000"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公众号</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87" name="Rectangle 219">
            <a:extLst>
              <a:ext uri="{FF2B5EF4-FFF2-40B4-BE49-F238E27FC236}">
                <a16:creationId xmlns:a16="http://schemas.microsoft.com/office/drawing/2014/main" id="{8431659B-2283-44ED-A537-11A21AE37286}"/>
              </a:ext>
            </a:extLst>
          </p:cNvPr>
          <p:cNvSpPr/>
          <p:nvPr/>
        </p:nvSpPr>
        <p:spPr>
          <a:xfrm>
            <a:off x="734082" y="3876197"/>
            <a:ext cx="11330043" cy="728539"/>
          </a:xfrm>
          <a:prstGeom prst="rect">
            <a:avLst/>
          </a:prstGeom>
          <a:solidFill>
            <a:srgbClr val="D0EC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en-GB" sz="1200" b="0" i="0" u="none" strike="noStrike" kern="0" cap="none" spc="0" normalizeH="0" baseline="0" noProof="0" dirty="0">
              <a:ln>
                <a:noFill/>
              </a:ln>
              <a:solidFill>
                <a:srgbClr val="000000"/>
              </a:solidFill>
              <a:effectLst/>
              <a:uLnTx/>
              <a:uFillTx/>
              <a:latin typeface="+mn-ea"/>
              <a:cs typeface="+mn-ea"/>
              <a:sym typeface="+mn-lt"/>
            </a:endParaRPr>
          </a:p>
        </p:txBody>
      </p:sp>
      <p:sp>
        <p:nvSpPr>
          <p:cNvPr id="88" name="Rectangle 223">
            <a:extLst>
              <a:ext uri="{FF2B5EF4-FFF2-40B4-BE49-F238E27FC236}">
                <a16:creationId xmlns:a16="http://schemas.microsoft.com/office/drawing/2014/main" id="{02E2200C-70EC-4069-8DD1-34172E7FDB9F}"/>
              </a:ext>
            </a:extLst>
          </p:cNvPr>
          <p:cNvSpPr/>
          <p:nvPr/>
        </p:nvSpPr>
        <p:spPr>
          <a:xfrm>
            <a:off x="1393418" y="4451685"/>
            <a:ext cx="144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统一配置</a:t>
            </a:r>
            <a:endParaRPr kumimoji="1" lang="en-GB" sz="700" b="0" i="0" u="none" strike="noStrike" kern="0" cap="none" spc="0" normalizeH="0" baseline="0" noProof="0" dirty="0">
              <a:ln>
                <a:noFill/>
              </a:ln>
              <a:effectLst/>
              <a:uLnTx/>
              <a:uFillTx/>
              <a:latin typeface="+mn-ea"/>
              <a:cs typeface="+mn-ea"/>
              <a:sym typeface="+mn-lt"/>
            </a:endParaRPr>
          </a:p>
        </p:txBody>
      </p:sp>
      <p:sp>
        <p:nvSpPr>
          <p:cNvPr id="89" name="Rectangle 228">
            <a:extLst>
              <a:ext uri="{FF2B5EF4-FFF2-40B4-BE49-F238E27FC236}">
                <a16:creationId xmlns:a16="http://schemas.microsoft.com/office/drawing/2014/main" id="{A0D7765A-943C-4ADF-A135-2954BBD40185}"/>
              </a:ext>
            </a:extLst>
          </p:cNvPr>
          <p:cNvSpPr/>
          <p:nvPr/>
        </p:nvSpPr>
        <p:spPr>
          <a:xfrm>
            <a:off x="6787079" y="4451685"/>
            <a:ext cx="144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缓存</a:t>
            </a:r>
            <a:endParaRPr kumimoji="1" lang="en-GB" sz="700" b="0" i="0" u="none" strike="noStrike" kern="0" cap="none" spc="0" normalizeH="0" baseline="0" noProof="0" dirty="0">
              <a:ln>
                <a:noFill/>
              </a:ln>
              <a:effectLst/>
              <a:uLnTx/>
              <a:uFillTx/>
              <a:latin typeface="+mn-ea"/>
              <a:cs typeface="+mn-ea"/>
              <a:sym typeface="+mn-lt"/>
            </a:endParaRPr>
          </a:p>
        </p:txBody>
      </p:sp>
      <p:sp>
        <p:nvSpPr>
          <p:cNvPr id="90" name="Rectangle 231">
            <a:extLst>
              <a:ext uri="{FF2B5EF4-FFF2-40B4-BE49-F238E27FC236}">
                <a16:creationId xmlns:a16="http://schemas.microsoft.com/office/drawing/2014/main" id="{88DFADFD-0552-48B8-AEB0-DBF0B66EB023}"/>
              </a:ext>
            </a:extLst>
          </p:cNvPr>
          <p:cNvSpPr/>
          <p:nvPr/>
        </p:nvSpPr>
        <p:spPr>
          <a:xfrm>
            <a:off x="4989192" y="4451685"/>
            <a:ext cx="144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服务治理</a:t>
            </a:r>
            <a:endParaRPr kumimoji="1" lang="en-GB" sz="700" b="0" i="0" u="none" strike="noStrike" kern="0" cap="none" spc="0" normalizeH="0" baseline="0" noProof="0" dirty="0">
              <a:ln>
                <a:noFill/>
              </a:ln>
              <a:effectLst/>
              <a:uLnTx/>
              <a:uFillTx/>
              <a:latin typeface="+mn-ea"/>
              <a:cs typeface="+mn-ea"/>
              <a:sym typeface="+mn-lt"/>
            </a:endParaRPr>
          </a:p>
        </p:txBody>
      </p:sp>
      <p:sp>
        <p:nvSpPr>
          <p:cNvPr id="91" name="Rectangle 232">
            <a:extLst>
              <a:ext uri="{FF2B5EF4-FFF2-40B4-BE49-F238E27FC236}">
                <a16:creationId xmlns:a16="http://schemas.microsoft.com/office/drawing/2014/main" id="{9819BFF8-29F5-45F7-88A0-742D779C72ED}"/>
              </a:ext>
            </a:extLst>
          </p:cNvPr>
          <p:cNvSpPr/>
          <p:nvPr/>
        </p:nvSpPr>
        <p:spPr>
          <a:xfrm>
            <a:off x="3191305" y="4451685"/>
            <a:ext cx="144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服务注册</a:t>
            </a:r>
            <a:endParaRPr kumimoji="1" lang="en-GB" sz="700" b="0" i="0" u="none" strike="noStrike" kern="0" cap="none" spc="0" normalizeH="0" baseline="0" noProof="0" dirty="0">
              <a:ln>
                <a:noFill/>
              </a:ln>
              <a:effectLst/>
              <a:uLnTx/>
              <a:uFillTx/>
              <a:latin typeface="+mn-ea"/>
              <a:cs typeface="+mn-ea"/>
              <a:sym typeface="+mn-lt"/>
            </a:endParaRPr>
          </a:p>
        </p:txBody>
      </p:sp>
      <p:sp>
        <p:nvSpPr>
          <p:cNvPr id="92" name="Rectangle 233">
            <a:extLst>
              <a:ext uri="{FF2B5EF4-FFF2-40B4-BE49-F238E27FC236}">
                <a16:creationId xmlns:a16="http://schemas.microsoft.com/office/drawing/2014/main" id="{E85C843A-89A8-4BCC-B494-F5E1A5FA8C07}"/>
              </a:ext>
            </a:extLst>
          </p:cNvPr>
          <p:cNvSpPr/>
          <p:nvPr/>
        </p:nvSpPr>
        <p:spPr>
          <a:xfrm>
            <a:off x="8584966" y="4451685"/>
            <a:ext cx="144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对象存储</a:t>
            </a:r>
            <a:endParaRPr kumimoji="1" lang="en-GB" sz="700" b="0" i="0" u="none" strike="noStrike" kern="0" cap="none" spc="0" normalizeH="0" baseline="0" noProof="0" dirty="0">
              <a:ln>
                <a:noFill/>
              </a:ln>
              <a:effectLst/>
              <a:uLnTx/>
              <a:uFillTx/>
              <a:latin typeface="+mn-ea"/>
              <a:cs typeface="+mn-ea"/>
              <a:sym typeface="+mn-lt"/>
            </a:endParaRPr>
          </a:p>
        </p:txBody>
      </p:sp>
      <p:sp>
        <p:nvSpPr>
          <p:cNvPr id="93" name="Rectangle 234">
            <a:extLst>
              <a:ext uri="{FF2B5EF4-FFF2-40B4-BE49-F238E27FC236}">
                <a16:creationId xmlns:a16="http://schemas.microsoft.com/office/drawing/2014/main" id="{451387FA-419C-4164-90AE-4BBC572B2255}"/>
              </a:ext>
            </a:extLst>
          </p:cNvPr>
          <p:cNvSpPr/>
          <p:nvPr/>
        </p:nvSpPr>
        <p:spPr>
          <a:xfrm>
            <a:off x="10382853" y="4451685"/>
            <a:ext cx="144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分布式事务</a:t>
            </a:r>
            <a:endParaRPr kumimoji="1" lang="en-GB" sz="700" b="0" i="0" u="none" strike="noStrike" kern="0" cap="none" spc="0" normalizeH="0" baseline="0" noProof="0" dirty="0">
              <a:ln>
                <a:noFill/>
              </a:ln>
              <a:effectLst/>
              <a:uLnTx/>
              <a:uFillTx/>
              <a:latin typeface="+mn-ea"/>
              <a:cs typeface="+mn-ea"/>
              <a:sym typeface="+mn-lt"/>
            </a:endParaRPr>
          </a:p>
        </p:txBody>
      </p:sp>
      <p:sp>
        <p:nvSpPr>
          <p:cNvPr id="94" name="Rectangle 235">
            <a:extLst>
              <a:ext uri="{FF2B5EF4-FFF2-40B4-BE49-F238E27FC236}">
                <a16:creationId xmlns:a16="http://schemas.microsoft.com/office/drawing/2014/main" id="{DADF1930-344F-4341-9A8C-E16D50B5D0F3}"/>
              </a:ext>
            </a:extLst>
          </p:cNvPr>
          <p:cNvSpPr/>
          <p:nvPr/>
        </p:nvSpPr>
        <p:spPr>
          <a:xfrm>
            <a:off x="1081217" y="3906750"/>
            <a:ext cx="1044000" cy="144000"/>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品牌及广宣中心</a:t>
            </a:r>
            <a:endParaRPr kumimoji="1" lang="en-GB" sz="700" b="0" i="0" u="none" strike="noStrike" kern="0" cap="none" spc="0" normalizeH="0" baseline="0" noProof="0" dirty="0">
              <a:ln>
                <a:noFill/>
              </a:ln>
              <a:effectLst/>
              <a:uLnTx/>
              <a:uFillTx/>
              <a:latin typeface="+mn-ea"/>
              <a:cs typeface="+mn-ea"/>
              <a:sym typeface="+mn-lt"/>
            </a:endParaRPr>
          </a:p>
        </p:txBody>
      </p:sp>
      <p:sp>
        <p:nvSpPr>
          <p:cNvPr id="95" name="Rectangle 236">
            <a:extLst>
              <a:ext uri="{FF2B5EF4-FFF2-40B4-BE49-F238E27FC236}">
                <a16:creationId xmlns:a16="http://schemas.microsoft.com/office/drawing/2014/main" id="{B717429B-9F77-413A-899E-DEDE2A81C051}"/>
              </a:ext>
            </a:extLst>
          </p:cNvPr>
          <p:cNvSpPr/>
          <p:nvPr/>
        </p:nvSpPr>
        <p:spPr>
          <a:xfrm>
            <a:off x="2122715" y="3916505"/>
            <a:ext cx="3528000" cy="144000"/>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订单及交付中心（含智能线索中心）</a:t>
            </a:r>
            <a:endParaRPr kumimoji="1" lang="en-GB" sz="700" b="0" i="0" u="none" strike="noStrike" kern="0" cap="none" spc="0" normalizeH="0" baseline="0" noProof="0" dirty="0">
              <a:ln>
                <a:noFill/>
              </a:ln>
              <a:effectLst/>
              <a:uLnTx/>
              <a:uFillTx/>
              <a:latin typeface="+mn-ea"/>
              <a:cs typeface="+mn-ea"/>
              <a:sym typeface="+mn-lt"/>
            </a:endParaRPr>
          </a:p>
        </p:txBody>
      </p:sp>
      <p:sp>
        <p:nvSpPr>
          <p:cNvPr id="96" name="Rectangle 237">
            <a:extLst>
              <a:ext uri="{FF2B5EF4-FFF2-40B4-BE49-F238E27FC236}">
                <a16:creationId xmlns:a16="http://schemas.microsoft.com/office/drawing/2014/main" id="{B1147216-83F2-476A-8A23-321B8858B568}"/>
              </a:ext>
            </a:extLst>
          </p:cNvPr>
          <p:cNvSpPr/>
          <p:nvPr/>
        </p:nvSpPr>
        <p:spPr>
          <a:xfrm>
            <a:off x="5774471" y="3928267"/>
            <a:ext cx="3204000" cy="144000"/>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服务中心</a:t>
            </a:r>
            <a:endParaRPr kumimoji="1" lang="en-GB" sz="700" b="0" i="0" u="none" strike="noStrike" kern="0" cap="none" spc="0" normalizeH="0" baseline="0" noProof="0" dirty="0">
              <a:ln>
                <a:noFill/>
              </a:ln>
              <a:effectLst/>
              <a:uLnTx/>
              <a:uFillTx/>
              <a:latin typeface="+mn-ea"/>
              <a:cs typeface="+mn-ea"/>
              <a:sym typeface="+mn-lt"/>
            </a:endParaRPr>
          </a:p>
        </p:txBody>
      </p:sp>
      <p:sp>
        <p:nvSpPr>
          <p:cNvPr id="97" name="Rectangle 238">
            <a:extLst>
              <a:ext uri="{FF2B5EF4-FFF2-40B4-BE49-F238E27FC236}">
                <a16:creationId xmlns:a16="http://schemas.microsoft.com/office/drawing/2014/main" id="{2DB10717-30C2-4575-B50D-5FEB8200B6A9}"/>
              </a:ext>
            </a:extLst>
          </p:cNvPr>
          <p:cNvSpPr/>
          <p:nvPr/>
        </p:nvSpPr>
        <p:spPr>
          <a:xfrm>
            <a:off x="9048520" y="3925765"/>
            <a:ext cx="2952000" cy="144000"/>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用户中心</a:t>
            </a:r>
            <a:endParaRPr kumimoji="1" lang="en-GB" sz="700" b="0" i="0" u="none" strike="noStrike" kern="0" cap="none" spc="0" normalizeH="0" baseline="0" noProof="0" dirty="0">
              <a:ln>
                <a:noFill/>
              </a:ln>
              <a:effectLst/>
              <a:uLnTx/>
              <a:uFillTx/>
              <a:latin typeface="+mn-ea"/>
              <a:cs typeface="+mn-ea"/>
              <a:sym typeface="+mn-lt"/>
            </a:endParaRPr>
          </a:p>
        </p:txBody>
      </p:sp>
      <p:sp>
        <p:nvSpPr>
          <p:cNvPr id="98" name="Rectangle 239">
            <a:extLst>
              <a:ext uri="{FF2B5EF4-FFF2-40B4-BE49-F238E27FC236}">
                <a16:creationId xmlns:a16="http://schemas.microsoft.com/office/drawing/2014/main" id="{B05B9783-773F-40C7-9364-E36FF6F9CCA5}"/>
              </a:ext>
            </a:extLst>
          </p:cNvPr>
          <p:cNvSpPr/>
          <p:nvPr/>
        </p:nvSpPr>
        <p:spPr>
          <a:xfrm>
            <a:off x="1100664" y="4109287"/>
            <a:ext cx="10872000" cy="144000"/>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基础服务中心（含智能云外呼）</a:t>
            </a:r>
            <a:endParaRPr kumimoji="1" lang="en-GB" sz="700" b="0" i="0" u="none" strike="noStrike" kern="0" cap="none" spc="0" normalizeH="0" baseline="0" noProof="0" dirty="0">
              <a:ln>
                <a:noFill/>
              </a:ln>
              <a:effectLst/>
              <a:uLnTx/>
              <a:uFillTx/>
              <a:latin typeface="+mn-ea"/>
              <a:cs typeface="+mn-ea"/>
              <a:sym typeface="+mn-lt"/>
            </a:endParaRPr>
          </a:p>
        </p:txBody>
      </p:sp>
      <p:sp>
        <p:nvSpPr>
          <p:cNvPr id="99" name="Rectangle: Rounded Corners 148">
            <a:extLst>
              <a:ext uri="{FF2B5EF4-FFF2-40B4-BE49-F238E27FC236}">
                <a16:creationId xmlns:a16="http://schemas.microsoft.com/office/drawing/2014/main" id="{2EEC82E8-6EC7-4163-931D-DB9158B98556}"/>
              </a:ext>
            </a:extLst>
          </p:cNvPr>
          <p:cNvSpPr/>
          <p:nvPr/>
        </p:nvSpPr>
        <p:spPr>
          <a:xfrm>
            <a:off x="3972356"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账号权限管理</a:t>
            </a:r>
            <a:endParaRPr kumimoji="1" lang="en-GB" sz="700" b="0" i="0" u="none" strike="noStrike" kern="0" cap="none" spc="0" normalizeH="0" baseline="0" noProof="0" dirty="0">
              <a:ln>
                <a:noFill/>
              </a:ln>
              <a:effectLst/>
              <a:uLnTx/>
              <a:uFillTx/>
              <a:latin typeface="+mn-ea"/>
              <a:cs typeface="+mn-ea"/>
              <a:sym typeface="+mn-lt"/>
            </a:endParaRPr>
          </a:p>
        </p:txBody>
      </p:sp>
      <p:sp>
        <p:nvSpPr>
          <p:cNvPr id="100" name="Rectangle: Rounded Corners 148">
            <a:extLst>
              <a:ext uri="{FF2B5EF4-FFF2-40B4-BE49-F238E27FC236}">
                <a16:creationId xmlns:a16="http://schemas.microsoft.com/office/drawing/2014/main" id="{183520A0-5813-4E86-81E5-6108C19932C0}"/>
              </a:ext>
            </a:extLst>
          </p:cNvPr>
          <p:cNvSpPr/>
          <p:nvPr/>
        </p:nvSpPr>
        <p:spPr>
          <a:xfrm>
            <a:off x="3015333" y="4296177"/>
            <a:ext cx="864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a:ln>
                  <a:noFill/>
                </a:ln>
                <a:effectLst/>
                <a:uLnTx/>
                <a:uFillTx/>
                <a:latin typeface="+mn-ea"/>
                <a:cs typeface="+mn-ea"/>
                <a:sym typeface="+mn-lt"/>
              </a:rPr>
              <a:t>电子签管理</a:t>
            </a:r>
            <a:endParaRPr kumimoji="1" lang="en-GB" sz="700" b="0" i="0" u="none" strike="noStrike" kern="0" cap="none" spc="0" normalizeH="0" baseline="0" noProof="0">
              <a:ln>
                <a:noFill/>
              </a:ln>
              <a:effectLst/>
              <a:uLnTx/>
              <a:uFillTx/>
              <a:latin typeface="+mn-ea"/>
              <a:cs typeface="+mn-ea"/>
              <a:sym typeface="+mn-lt"/>
            </a:endParaRPr>
          </a:p>
        </p:txBody>
      </p:sp>
      <p:sp>
        <p:nvSpPr>
          <p:cNvPr id="101" name="Rectangle: Rounded Corners 148">
            <a:extLst>
              <a:ext uri="{FF2B5EF4-FFF2-40B4-BE49-F238E27FC236}">
                <a16:creationId xmlns:a16="http://schemas.microsoft.com/office/drawing/2014/main" id="{F2405F13-195C-4FA2-A408-2AE2131F26FE}"/>
              </a:ext>
            </a:extLst>
          </p:cNvPr>
          <p:cNvSpPr/>
          <p:nvPr/>
        </p:nvSpPr>
        <p:spPr>
          <a:xfrm>
            <a:off x="1245287" y="4296176"/>
            <a:ext cx="720000" cy="108000"/>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支付管理</a:t>
            </a:r>
            <a:endParaRPr kumimoji="1" lang="en-GB" sz="700" b="0" i="0" u="none" strike="noStrike" kern="0" cap="none" spc="0" normalizeH="0" baseline="0" noProof="0" dirty="0">
              <a:ln>
                <a:noFill/>
              </a:ln>
              <a:effectLst/>
              <a:uLnTx/>
              <a:uFillTx/>
              <a:latin typeface="+mn-ea"/>
              <a:cs typeface="+mn-ea"/>
              <a:sym typeface="+mn-lt"/>
            </a:endParaRPr>
          </a:p>
        </p:txBody>
      </p:sp>
      <p:sp>
        <p:nvSpPr>
          <p:cNvPr id="102" name="Rectangle: Rounded Corners 148">
            <a:extLst>
              <a:ext uri="{FF2B5EF4-FFF2-40B4-BE49-F238E27FC236}">
                <a16:creationId xmlns:a16="http://schemas.microsoft.com/office/drawing/2014/main" id="{B02FFBFA-DE87-4C8B-9270-F7C3F5C309F5}"/>
              </a:ext>
            </a:extLst>
          </p:cNvPr>
          <p:cNvSpPr/>
          <p:nvPr/>
        </p:nvSpPr>
        <p:spPr>
          <a:xfrm>
            <a:off x="2058310" y="4296177"/>
            <a:ext cx="864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知识库管理</a:t>
            </a:r>
            <a:endParaRPr kumimoji="1" lang="en-GB" sz="700" b="0" i="0" u="none" strike="noStrike" kern="0" cap="none" spc="0" normalizeH="0" baseline="0" noProof="0" dirty="0">
              <a:ln>
                <a:noFill/>
              </a:ln>
              <a:effectLst/>
              <a:uLnTx/>
              <a:uFillTx/>
              <a:latin typeface="+mn-ea"/>
              <a:cs typeface="+mn-ea"/>
              <a:sym typeface="+mn-lt"/>
            </a:endParaRPr>
          </a:p>
        </p:txBody>
      </p:sp>
      <p:sp>
        <p:nvSpPr>
          <p:cNvPr id="103" name="Rectangle: Rounded Corners 148">
            <a:extLst>
              <a:ext uri="{FF2B5EF4-FFF2-40B4-BE49-F238E27FC236}">
                <a16:creationId xmlns:a16="http://schemas.microsoft.com/office/drawing/2014/main" id="{CD6732EB-389D-476B-8017-643EDF9F9BAC}"/>
              </a:ext>
            </a:extLst>
          </p:cNvPr>
          <p:cNvSpPr/>
          <p:nvPr/>
        </p:nvSpPr>
        <p:spPr>
          <a:xfrm>
            <a:off x="4785379"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媒体文件管理</a:t>
            </a:r>
            <a:endParaRPr kumimoji="1" lang="en-GB" sz="700" b="0" i="0" u="none" strike="noStrike" kern="0" cap="none" spc="0" normalizeH="0" baseline="0" noProof="0" dirty="0">
              <a:ln>
                <a:noFill/>
              </a:ln>
              <a:effectLst/>
              <a:uLnTx/>
              <a:uFillTx/>
              <a:latin typeface="+mn-ea"/>
              <a:cs typeface="+mn-ea"/>
              <a:sym typeface="+mn-lt"/>
            </a:endParaRPr>
          </a:p>
        </p:txBody>
      </p:sp>
      <p:sp>
        <p:nvSpPr>
          <p:cNvPr id="104" name="Rectangle: Rounded Corners 148">
            <a:extLst>
              <a:ext uri="{FF2B5EF4-FFF2-40B4-BE49-F238E27FC236}">
                <a16:creationId xmlns:a16="http://schemas.microsoft.com/office/drawing/2014/main" id="{1C80EF2F-F45F-468A-B5A2-2F39DDDBA3EB}"/>
              </a:ext>
            </a:extLst>
          </p:cNvPr>
          <p:cNvSpPr/>
          <p:nvPr/>
        </p:nvSpPr>
        <p:spPr>
          <a:xfrm>
            <a:off x="5598402"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模板管理</a:t>
            </a:r>
            <a:endParaRPr kumimoji="1" lang="en-GB" sz="700" b="0" i="0" u="none" strike="noStrike" kern="0" cap="none" spc="0" normalizeH="0" baseline="0" noProof="0" dirty="0">
              <a:ln>
                <a:noFill/>
              </a:ln>
              <a:effectLst/>
              <a:uLnTx/>
              <a:uFillTx/>
              <a:latin typeface="+mn-ea"/>
              <a:cs typeface="+mn-ea"/>
              <a:sym typeface="+mn-lt"/>
            </a:endParaRPr>
          </a:p>
        </p:txBody>
      </p:sp>
      <p:sp>
        <p:nvSpPr>
          <p:cNvPr id="105" name="Rectangle: Rounded Corners 148">
            <a:extLst>
              <a:ext uri="{FF2B5EF4-FFF2-40B4-BE49-F238E27FC236}">
                <a16:creationId xmlns:a16="http://schemas.microsoft.com/office/drawing/2014/main" id="{46FA7675-CC65-4311-BC6C-C69943120999}"/>
              </a:ext>
            </a:extLst>
          </p:cNvPr>
          <p:cNvSpPr/>
          <p:nvPr/>
        </p:nvSpPr>
        <p:spPr>
          <a:xfrm>
            <a:off x="6411425"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流程管理</a:t>
            </a:r>
            <a:endParaRPr kumimoji="1" lang="en-GB" sz="700" b="0" i="0" u="none" strike="noStrike" kern="0" cap="none" spc="0" normalizeH="0" baseline="0" noProof="0" dirty="0">
              <a:ln>
                <a:noFill/>
              </a:ln>
              <a:effectLst/>
              <a:uLnTx/>
              <a:uFillTx/>
              <a:latin typeface="+mn-ea"/>
              <a:cs typeface="+mn-ea"/>
              <a:sym typeface="+mn-lt"/>
            </a:endParaRPr>
          </a:p>
        </p:txBody>
      </p:sp>
      <p:sp>
        <p:nvSpPr>
          <p:cNvPr id="106" name="Rectangle: Rounded Corners 148">
            <a:extLst>
              <a:ext uri="{FF2B5EF4-FFF2-40B4-BE49-F238E27FC236}">
                <a16:creationId xmlns:a16="http://schemas.microsoft.com/office/drawing/2014/main" id="{41DF0413-0989-4117-A86E-592C7E9835C8}"/>
              </a:ext>
            </a:extLst>
          </p:cNvPr>
          <p:cNvSpPr/>
          <p:nvPr/>
        </p:nvSpPr>
        <p:spPr>
          <a:xfrm>
            <a:off x="7224448"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a:ln>
                  <a:noFill/>
                </a:ln>
                <a:effectLst/>
                <a:uLnTx/>
                <a:uFillTx/>
                <a:latin typeface="+mn-ea"/>
                <a:cs typeface="+mn-ea"/>
                <a:sym typeface="+mn-lt"/>
              </a:rPr>
              <a:t>消息队列</a:t>
            </a:r>
            <a:endParaRPr kumimoji="1" lang="en-GB" sz="700" b="0" i="0" u="none" strike="noStrike" kern="0" cap="none" spc="0" normalizeH="0" baseline="0" noProof="0">
              <a:ln>
                <a:noFill/>
              </a:ln>
              <a:effectLst/>
              <a:uLnTx/>
              <a:uFillTx/>
              <a:latin typeface="+mn-ea"/>
              <a:cs typeface="+mn-ea"/>
              <a:sym typeface="+mn-lt"/>
            </a:endParaRPr>
          </a:p>
        </p:txBody>
      </p:sp>
      <p:sp>
        <p:nvSpPr>
          <p:cNvPr id="107" name="Rectangle: Rounded Corners 148">
            <a:extLst>
              <a:ext uri="{FF2B5EF4-FFF2-40B4-BE49-F238E27FC236}">
                <a16:creationId xmlns:a16="http://schemas.microsoft.com/office/drawing/2014/main" id="{1CF03813-EC64-46EC-A451-D9D4D73AB47E}"/>
              </a:ext>
            </a:extLst>
          </p:cNvPr>
          <p:cNvSpPr/>
          <p:nvPr/>
        </p:nvSpPr>
        <p:spPr>
          <a:xfrm>
            <a:off x="8037471"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a:ln>
                  <a:noFill/>
                </a:ln>
                <a:effectLst/>
                <a:uLnTx/>
                <a:uFillTx/>
                <a:latin typeface="+mn-ea"/>
                <a:cs typeface="+mn-ea"/>
                <a:sym typeface="+mn-lt"/>
              </a:rPr>
              <a:t>通知公告</a:t>
            </a:r>
            <a:endParaRPr kumimoji="1" lang="en-GB" sz="700" b="0" i="0" u="none" strike="noStrike" kern="0" cap="none" spc="0" normalizeH="0" baseline="0" noProof="0">
              <a:ln>
                <a:noFill/>
              </a:ln>
              <a:effectLst/>
              <a:uLnTx/>
              <a:uFillTx/>
              <a:latin typeface="+mn-ea"/>
              <a:cs typeface="+mn-ea"/>
              <a:sym typeface="+mn-lt"/>
            </a:endParaRPr>
          </a:p>
        </p:txBody>
      </p:sp>
      <p:sp>
        <p:nvSpPr>
          <p:cNvPr id="108" name="Rectangle: Rounded Corners 148">
            <a:extLst>
              <a:ext uri="{FF2B5EF4-FFF2-40B4-BE49-F238E27FC236}">
                <a16:creationId xmlns:a16="http://schemas.microsoft.com/office/drawing/2014/main" id="{56002AA0-C7D8-4A5E-9B3B-E1976B4F02DF}"/>
              </a:ext>
            </a:extLst>
          </p:cNvPr>
          <p:cNvSpPr/>
          <p:nvPr/>
        </p:nvSpPr>
        <p:spPr>
          <a:xfrm>
            <a:off x="8850494"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a:ln>
                  <a:noFill/>
                </a:ln>
                <a:effectLst/>
                <a:uLnTx/>
                <a:uFillTx/>
                <a:latin typeface="+mn-ea"/>
                <a:cs typeface="+mn-ea"/>
                <a:sym typeface="+mn-lt"/>
              </a:rPr>
              <a:t>监控平台</a:t>
            </a:r>
            <a:endParaRPr kumimoji="1" lang="en-GB" sz="700" b="0" i="0" u="none" strike="noStrike" kern="0" cap="none" spc="0" normalizeH="0" baseline="0" noProof="0">
              <a:ln>
                <a:noFill/>
              </a:ln>
              <a:effectLst/>
              <a:uLnTx/>
              <a:uFillTx/>
              <a:latin typeface="+mn-ea"/>
              <a:cs typeface="+mn-ea"/>
              <a:sym typeface="+mn-lt"/>
            </a:endParaRPr>
          </a:p>
        </p:txBody>
      </p:sp>
      <p:sp>
        <p:nvSpPr>
          <p:cNvPr id="109" name="Rectangle: Rounded Corners 148">
            <a:extLst>
              <a:ext uri="{FF2B5EF4-FFF2-40B4-BE49-F238E27FC236}">
                <a16:creationId xmlns:a16="http://schemas.microsoft.com/office/drawing/2014/main" id="{972BE6AD-B1AF-4851-BBA2-CA6AB8EA7E62}"/>
              </a:ext>
            </a:extLst>
          </p:cNvPr>
          <p:cNvSpPr/>
          <p:nvPr/>
        </p:nvSpPr>
        <p:spPr>
          <a:xfrm>
            <a:off x="9663517"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a:ln>
                  <a:noFill/>
                </a:ln>
                <a:effectLst/>
                <a:uLnTx/>
                <a:uFillTx/>
                <a:latin typeface="+mn-ea"/>
                <a:cs typeface="+mn-ea"/>
                <a:sym typeface="+mn-lt"/>
              </a:rPr>
              <a:t>计划任务</a:t>
            </a:r>
            <a:endParaRPr kumimoji="1" lang="en-GB" sz="700" b="0" i="0" u="none" strike="noStrike" kern="0" cap="none" spc="0" normalizeH="0" baseline="0" noProof="0">
              <a:ln>
                <a:noFill/>
              </a:ln>
              <a:effectLst/>
              <a:uLnTx/>
              <a:uFillTx/>
              <a:latin typeface="+mn-ea"/>
              <a:cs typeface="+mn-ea"/>
              <a:sym typeface="+mn-lt"/>
            </a:endParaRPr>
          </a:p>
        </p:txBody>
      </p:sp>
      <p:sp>
        <p:nvSpPr>
          <p:cNvPr id="110" name="Rectangle: Rounded Corners 148">
            <a:extLst>
              <a:ext uri="{FF2B5EF4-FFF2-40B4-BE49-F238E27FC236}">
                <a16:creationId xmlns:a16="http://schemas.microsoft.com/office/drawing/2014/main" id="{E0296086-6234-4CB5-9EFD-8D959EAF6323}"/>
              </a:ext>
            </a:extLst>
          </p:cNvPr>
          <p:cNvSpPr/>
          <p:nvPr/>
        </p:nvSpPr>
        <p:spPr>
          <a:xfrm>
            <a:off x="10476540"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日志管理</a:t>
            </a:r>
            <a:endParaRPr kumimoji="1" lang="en-GB" sz="700" b="0" i="0" u="none" strike="noStrike" kern="0" cap="none" spc="0" normalizeH="0" baseline="0" noProof="0" dirty="0">
              <a:ln>
                <a:noFill/>
              </a:ln>
              <a:effectLst/>
              <a:uLnTx/>
              <a:uFillTx/>
              <a:latin typeface="+mn-ea"/>
              <a:cs typeface="+mn-ea"/>
              <a:sym typeface="+mn-lt"/>
            </a:endParaRPr>
          </a:p>
        </p:txBody>
      </p:sp>
      <p:sp>
        <p:nvSpPr>
          <p:cNvPr id="111" name="Rectangle: Rounded Corners 148">
            <a:extLst>
              <a:ext uri="{FF2B5EF4-FFF2-40B4-BE49-F238E27FC236}">
                <a16:creationId xmlns:a16="http://schemas.microsoft.com/office/drawing/2014/main" id="{169A2E80-4376-4E67-8301-F0A4CCB97B61}"/>
              </a:ext>
            </a:extLst>
          </p:cNvPr>
          <p:cNvSpPr/>
          <p:nvPr/>
        </p:nvSpPr>
        <p:spPr>
          <a:xfrm>
            <a:off x="11260993" y="4296177"/>
            <a:ext cx="720000" cy="101705"/>
          </a:xfrm>
          <a:prstGeom prst="rect">
            <a:avLst/>
          </a:prstGeom>
          <a:solidFill>
            <a:srgbClr val="FFEACC"/>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700" b="0" i="0" u="none" strike="noStrike" kern="0" cap="none" spc="0" normalizeH="0" baseline="0" noProof="0" dirty="0">
                <a:ln>
                  <a:noFill/>
                </a:ln>
                <a:effectLst/>
                <a:uLnTx/>
                <a:uFillTx/>
                <a:latin typeface="+mn-ea"/>
                <a:cs typeface="+mn-ea"/>
                <a:sym typeface="+mn-lt"/>
              </a:rPr>
              <a:t>单点登录</a:t>
            </a:r>
            <a:endParaRPr kumimoji="1" lang="en-GB" sz="700" b="0" i="0" u="none" strike="noStrike" kern="0" cap="none" spc="0" normalizeH="0" baseline="0" noProof="0" dirty="0">
              <a:ln>
                <a:noFill/>
              </a:ln>
              <a:effectLst/>
              <a:uLnTx/>
              <a:uFillTx/>
              <a:latin typeface="+mn-ea"/>
              <a:cs typeface="+mn-ea"/>
              <a:sym typeface="+mn-lt"/>
            </a:endParaRPr>
          </a:p>
        </p:txBody>
      </p:sp>
      <p:sp>
        <p:nvSpPr>
          <p:cNvPr id="112" name="TextBox 253">
            <a:extLst>
              <a:ext uri="{FF2B5EF4-FFF2-40B4-BE49-F238E27FC236}">
                <a16:creationId xmlns:a16="http://schemas.microsoft.com/office/drawing/2014/main" id="{3F493ADF-0D31-4BA5-87D8-23B7FC431ADF}"/>
              </a:ext>
            </a:extLst>
          </p:cNvPr>
          <p:cNvSpPr txBox="1"/>
          <p:nvPr/>
        </p:nvSpPr>
        <p:spPr>
          <a:xfrm>
            <a:off x="226183" y="4653163"/>
            <a:ext cx="180000" cy="955626"/>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gn="ctr">
              <a:lnSpc>
                <a:spcPct val="90000"/>
              </a:lnSpc>
              <a:spcAft>
                <a:spcPts val="600"/>
              </a:spcAft>
            </a:pPr>
            <a:r>
              <a:rPr lang="zh-CN" altLang="en-US" sz="1200" dirty="0">
                <a:solidFill>
                  <a:srgbClr val="000000"/>
                </a:solidFill>
                <a:latin typeface="+mn-ea"/>
                <a:cs typeface="+mn-ea"/>
                <a:sym typeface="+mn-lt"/>
              </a:rPr>
              <a:t>后台系统</a:t>
            </a:r>
            <a:endParaRPr lang="en-GB" sz="1200" dirty="0">
              <a:solidFill>
                <a:srgbClr val="000000"/>
              </a:solidFill>
              <a:latin typeface="+mn-ea"/>
              <a:cs typeface="+mn-ea"/>
              <a:sym typeface="+mn-lt"/>
            </a:endParaRPr>
          </a:p>
        </p:txBody>
      </p:sp>
      <p:cxnSp>
        <p:nvCxnSpPr>
          <p:cNvPr id="113" name="Straight Connector 265">
            <a:extLst>
              <a:ext uri="{FF2B5EF4-FFF2-40B4-BE49-F238E27FC236}">
                <a16:creationId xmlns:a16="http://schemas.microsoft.com/office/drawing/2014/main" id="{1CEABD96-DE30-41A4-A1E7-D3C8AB2E231C}"/>
              </a:ext>
            </a:extLst>
          </p:cNvPr>
          <p:cNvCxnSpPr>
            <a:cxnSpLocks/>
          </p:cNvCxnSpPr>
          <p:nvPr/>
        </p:nvCxnSpPr>
        <p:spPr>
          <a:xfrm flipV="1">
            <a:off x="0" y="5488734"/>
            <a:ext cx="12192000" cy="31728"/>
          </a:xfrm>
          <a:prstGeom prst="line">
            <a:avLst/>
          </a:prstGeom>
          <a:noFill/>
          <a:ln w="28575" cap="rnd" cmpd="sng" algn="ctr">
            <a:solidFill>
              <a:schemeClr val="bg1">
                <a:lumMod val="65000"/>
              </a:schemeClr>
            </a:solidFill>
            <a:prstDash val="sysDot"/>
            <a:round/>
          </a:ln>
          <a:effectLst/>
        </p:spPr>
      </p:cxnSp>
      <p:sp>
        <p:nvSpPr>
          <p:cNvPr id="114" name="Rectangle 69">
            <a:extLst>
              <a:ext uri="{FF2B5EF4-FFF2-40B4-BE49-F238E27FC236}">
                <a16:creationId xmlns:a16="http://schemas.microsoft.com/office/drawing/2014/main" id="{C52EDF42-A506-4A6C-A980-F010DB7630A2}"/>
              </a:ext>
            </a:extLst>
          </p:cNvPr>
          <p:cNvSpPr/>
          <p:nvPr/>
        </p:nvSpPr>
        <p:spPr>
          <a:xfrm>
            <a:off x="3191209" y="4844366"/>
            <a:ext cx="821989"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商政系统</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15" name="Rectangle 69">
            <a:extLst>
              <a:ext uri="{FF2B5EF4-FFF2-40B4-BE49-F238E27FC236}">
                <a16:creationId xmlns:a16="http://schemas.microsoft.com/office/drawing/2014/main" id="{8377680D-A533-4C87-9464-ECE5E7CBA939}"/>
              </a:ext>
            </a:extLst>
          </p:cNvPr>
          <p:cNvSpPr/>
          <p:nvPr/>
        </p:nvSpPr>
        <p:spPr>
          <a:xfrm>
            <a:off x="5753693" y="4677186"/>
            <a:ext cx="3224777"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GB" altLang="zh-CN" sz="900" b="0" i="0" u="none" strike="noStrike" kern="0" cap="none" spc="0" normalizeH="0" baseline="0" noProof="0" dirty="0">
                <a:ln>
                  <a:noFill/>
                </a:ln>
                <a:solidFill>
                  <a:sysClr val="windowText" lastClr="000000"/>
                </a:solidFill>
                <a:effectLst/>
                <a:uLnTx/>
                <a:uFillTx/>
                <a:latin typeface="+mn-ea"/>
                <a:cs typeface="+mn-ea"/>
                <a:sym typeface="+mn-lt"/>
              </a:rPr>
              <a:t>GRT</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16" name="Rectangle 58">
            <a:extLst>
              <a:ext uri="{FF2B5EF4-FFF2-40B4-BE49-F238E27FC236}">
                <a16:creationId xmlns:a16="http://schemas.microsoft.com/office/drawing/2014/main" id="{5DCFC075-D8B4-4B2F-9626-600C98EAF9F7}"/>
              </a:ext>
            </a:extLst>
          </p:cNvPr>
          <p:cNvSpPr/>
          <p:nvPr/>
        </p:nvSpPr>
        <p:spPr>
          <a:xfrm>
            <a:off x="1128935" y="5323239"/>
            <a:ext cx="10912928" cy="160259"/>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主数据系统</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17" name="Rectangle 66">
            <a:extLst>
              <a:ext uri="{FF2B5EF4-FFF2-40B4-BE49-F238E27FC236}">
                <a16:creationId xmlns:a16="http://schemas.microsoft.com/office/drawing/2014/main" id="{8009B049-4B1A-4B9E-B64D-EEA099672F58}"/>
              </a:ext>
            </a:extLst>
          </p:cNvPr>
          <p:cNvSpPr/>
          <p:nvPr/>
        </p:nvSpPr>
        <p:spPr>
          <a:xfrm>
            <a:off x="2149818" y="5153284"/>
            <a:ext cx="9900000"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接口中台</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18" name="Rectangle 277">
            <a:extLst>
              <a:ext uri="{FF2B5EF4-FFF2-40B4-BE49-F238E27FC236}">
                <a16:creationId xmlns:a16="http://schemas.microsoft.com/office/drawing/2014/main" id="{2D93EEBB-0C9C-4EBC-A60D-967EA8DF6359}"/>
              </a:ext>
            </a:extLst>
          </p:cNvPr>
          <p:cNvSpPr/>
          <p:nvPr/>
        </p:nvSpPr>
        <p:spPr>
          <a:xfrm>
            <a:off x="584684" y="6085937"/>
            <a:ext cx="11448000" cy="684000"/>
          </a:xfrm>
          <a:prstGeom prst="rect">
            <a:avLst/>
          </a:prstGeom>
          <a:solidFill>
            <a:srgbClr val="778495"/>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en-GB" sz="1200" b="0" i="0" u="none" strike="noStrike" kern="0" cap="none" spc="0" normalizeH="0" baseline="0" noProof="0">
              <a:ln>
                <a:noFill/>
              </a:ln>
              <a:solidFill>
                <a:srgbClr val="FFFFFF"/>
              </a:solidFill>
              <a:effectLst/>
              <a:uLnTx/>
              <a:uFillTx/>
              <a:latin typeface="+mn-ea"/>
              <a:cs typeface="+mn-ea"/>
              <a:sym typeface="+mn-lt"/>
            </a:endParaRPr>
          </a:p>
        </p:txBody>
      </p:sp>
      <p:sp>
        <p:nvSpPr>
          <p:cNvPr id="119" name="Rectangle 278">
            <a:extLst>
              <a:ext uri="{FF2B5EF4-FFF2-40B4-BE49-F238E27FC236}">
                <a16:creationId xmlns:a16="http://schemas.microsoft.com/office/drawing/2014/main" id="{02A7FFF9-1763-4AB1-B2D6-1C0964F473B4}"/>
              </a:ext>
            </a:extLst>
          </p:cNvPr>
          <p:cNvSpPr/>
          <p:nvPr/>
        </p:nvSpPr>
        <p:spPr>
          <a:xfrm>
            <a:off x="928717" y="6556313"/>
            <a:ext cx="10908000" cy="180000"/>
          </a:xfrm>
          <a:prstGeom prst="rect">
            <a:avLst/>
          </a:prstGeom>
          <a:solidFill>
            <a:srgbClr val="F2F2F2"/>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rgbClr val="000000"/>
                </a:solidFill>
                <a:effectLst/>
                <a:uLnTx/>
                <a:uFillTx/>
                <a:latin typeface="+mn-ea"/>
                <a:cs typeface="+mn-ea"/>
                <a:sym typeface="+mn-lt"/>
              </a:rPr>
              <a:t>原始层数据</a:t>
            </a:r>
            <a:endParaRPr kumimoji="1" lang="en-GB" sz="900" b="0" i="0" u="none" strike="noStrike" kern="0" cap="none" spc="0" normalizeH="0" baseline="0" noProof="0" dirty="0">
              <a:ln>
                <a:noFill/>
              </a:ln>
              <a:solidFill>
                <a:srgbClr val="000000"/>
              </a:solidFill>
              <a:effectLst/>
              <a:uLnTx/>
              <a:uFillTx/>
              <a:latin typeface="+mn-ea"/>
              <a:cs typeface="+mn-ea"/>
              <a:sym typeface="+mn-lt"/>
            </a:endParaRPr>
          </a:p>
        </p:txBody>
      </p:sp>
      <p:sp>
        <p:nvSpPr>
          <p:cNvPr id="120" name="Rectangle 284">
            <a:extLst>
              <a:ext uri="{FF2B5EF4-FFF2-40B4-BE49-F238E27FC236}">
                <a16:creationId xmlns:a16="http://schemas.microsoft.com/office/drawing/2014/main" id="{F87993F0-3D94-42E4-909D-83C3006374FF}"/>
              </a:ext>
            </a:extLst>
          </p:cNvPr>
          <p:cNvSpPr/>
          <p:nvPr/>
        </p:nvSpPr>
        <p:spPr>
          <a:xfrm>
            <a:off x="928717" y="6117485"/>
            <a:ext cx="10908000" cy="216000"/>
          </a:xfrm>
          <a:prstGeom prst="rect">
            <a:avLst/>
          </a:prstGeom>
          <a:solidFill>
            <a:srgbClr val="F2F2F2"/>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en-GB" sz="1200" b="0" i="0" u="none" strike="noStrike" kern="0" cap="none" spc="0" normalizeH="0" baseline="0" noProof="0" dirty="0">
              <a:ln>
                <a:noFill/>
              </a:ln>
              <a:solidFill>
                <a:srgbClr val="000000"/>
              </a:solidFill>
              <a:effectLst/>
              <a:uLnTx/>
              <a:uFillTx/>
              <a:latin typeface="+mn-ea"/>
              <a:cs typeface="+mn-ea"/>
              <a:sym typeface="+mn-lt"/>
            </a:endParaRPr>
          </a:p>
        </p:txBody>
      </p:sp>
      <p:sp>
        <p:nvSpPr>
          <p:cNvPr id="121" name="Rectangle 285">
            <a:extLst>
              <a:ext uri="{FF2B5EF4-FFF2-40B4-BE49-F238E27FC236}">
                <a16:creationId xmlns:a16="http://schemas.microsoft.com/office/drawing/2014/main" id="{9B1CF79C-6938-4896-9D9E-97427404372E}"/>
              </a:ext>
            </a:extLst>
          </p:cNvPr>
          <p:cNvSpPr/>
          <p:nvPr/>
        </p:nvSpPr>
        <p:spPr>
          <a:xfrm>
            <a:off x="584685" y="5821505"/>
            <a:ext cx="11329546" cy="197528"/>
          </a:xfrm>
          <a:prstGeom prst="rect">
            <a:avLst/>
          </a:prstGeom>
          <a:solidFill>
            <a:srgbClr val="F2F2F2"/>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en-GB" sz="1200" b="0" i="0" u="none" strike="noStrike" kern="0" cap="none" spc="0" normalizeH="0" baseline="0" noProof="0" dirty="0">
              <a:ln>
                <a:noFill/>
              </a:ln>
              <a:solidFill>
                <a:srgbClr val="000000"/>
              </a:solidFill>
              <a:effectLst/>
              <a:uLnTx/>
              <a:uFillTx/>
              <a:latin typeface="+mn-ea"/>
              <a:cs typeface="+mn-ea"/>
              <a:sym typeface="+mn-lt"/>
            </a:endParaRPr>
          </a:p>
        </p:txBody>
      </p:sp>
      <p:sp>
        <p:nvSpPr>
          <p:cNvPr id="122" name="Rectangle 69">
            <a:extLst>
              <a:ext uri="{FF2B5EF4-FFF2-40B4-BE49-F238E27FC236}">
                <a16:creationId xmlns:a16="http://schemas.microsoft.com/office/drawing/2014/main" id="{8E48746F-43D1-485B-9338-7C55CE9846E7}"/>
              </a:ext>
            </a:extLst>
          </p:cNvPr>
          <p:cNvSpPr/>
          <p:nvPr/>
        </p:nvSpPr>
        <p:spPr>
          <a:xfrm>
            <a:off x="4049103" y="5803033"/>
            <a:ext cx="7992000" cy="216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指标分析</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23" name="Rectangle 69">
            <a:extLst>
              <a:ext uri="{FF2B5EF4-FFF2-40B4-BE49-F238E27FC236}">
                <a16:creationId xmlns:a16="http://schemas.microsoft.com/office/drawing/2014/main" id="{F01A1A85-D209-4251-B79A-393A0A88C085}"/>
              </a:ext>
            </a:extLst>
          </p:cNvPr>
          <p:cNvSpPr/>
          <p:nvPr/>
        </p:nvSpPr>
        <p:spPr>
          <a:xfrm>
            <a:off x="4882430"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线索分析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24" name="Rectangle 69">
            <a:extLst>
              <a:ext uri="{FF2B5EF4-FFF2-40B4-BE49-F238E27FC236}">
                <a16:creationId xmlns:a16="http://schemas.microsoft.com/office/drawing/2014/main" id="{F6E201C6-B3BC-4D34-BF23-3AFC6EC6EA25}"/>
              </a:ext>
            </a:extLst>
          </p:cNvPr>
          <p:cNvSpPr/>
          <p:nvPr/>
        </p:nvSpPr>
        <p:spPr>
          <a:xfrm>
            <a:off x="5590983"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订单分析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25" name="Rectangle 69">
            <a:extLst>
              <a:ext uri="{FF2B5EF4-FFF2-40B4-BE49-F238E27FC236}">
                <a16:creationId xmlns:a16="http://schemas.microsoft.com/office/drawing/2014/main" id="{060E9A63-C896-4EE9-97C3-67D52A710F01}"/>
              </a:ext>
            </a:extLst>
          </p:cNvPr>
          <p:cNvSpPr/>
          <p:nvPr/>
        </p:nvSpPr>
        <p:spPr>
          <a:xfrm>
            <a:off x="6299536"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渠道分析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26" name="Rectangle 69">
            <a:extLst>
              <a:ext uri="{FF2B5EF4-FFF2-40B4-BE49-F238E27FC236}">
                <a16:creationId xmlns:a16="http://schemas.microsoft.com/office/drawing/2014/main" id="{3C4395F5-D183-400B-8283-71FF1AA39F0E}"/>
              </a:ext>
            </a:extLst>
          </p:cNvPr>
          <p:cNvSpPr/>
          <p:nvPr/>
        </p:nvSpPr>
        <p:spPr>
          <a:xfrm>
            <a:off x="7008089"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库存分析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27" name="Rectangle 69">
            <a:extLst>
              <a:ext uri="{FF2B5EF4-FFF2-40B4-BE49-F238E27FC236}">
                <a16:creationId xmlns:a16="http://schemas.microsoft.com/office/drawing/2014/main" id="{BD815D0A-5C6B-4CAB-B83D-1493DF84A8AD}"/>
              </a:ext>
            </a:extLst>
          </p:cNvPr>
          <p:cNvSpPr/>
          <p:nvPr/>
        </p:nvSpPr>
        <p:spPr>
          <a:xfrm>
            <a:off x="7716642"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服务分析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28" name="Rectangle 69">
            <a:extLst>
              <a:ext uri="{FF2B5EF4-FFF2-40B4-BE49-F238E27FC236}">
                <a16:creationId xmlns:a16="http://schemas.microsoft.com/office/drawing/2014/main" id="{6D036671-6299-4E94-9264-56504FED586B}"/>
              </a:ext>
            </a:extLst>
          </p:cNvPr>
          <p:cNvSpPr/>
          <p:nvPr/>
        </p:nvSpPr>
        <p:spPr>
          <a:xfrm>
            <a:off x="8425195"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客户分析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29" name="Rectangle 69">
            <a:extLst>
              <a:ext uri="{FF2B5EF4-FFF2-40B4-BE49-F238E27FC236}">
                <a16:creationId xmlns:a16="http://schemas.microsoft.com/office/drawing/2014/main" id="{00E203AE-B918-4CAF-8969-C036A7D52C7F}"/>
              </a:ext>
            </a:extLst>
          </p:cNvPr>
          <p:cNvSpPr/>
          <p:nvPr/>
        </p:nvSpPr>
        <p:spPr>
          <a:xfrm>
            <a:off x="9133748"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运营分析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30" name="Rectangle 294">
            <a:extLst>
              <a:ext uri="{FF2B5EF4-FFF2-40B4-BE49-F238E27FC236}">
                <a16:creationId xmlns:a16="http://schemas.microsoft.com/office/drawing/2014/main" id="{8BC90ACD-5B0C-4614-9A32-D801734017AA}"/>
              </a:ext>
            </a:extLst>
          </p:cNvPr>
          <p:cNvSpPr/>
          <p:nvPr/>
        </p:nvSpPr>
        <p:spPr>
          <a:xfrm>
            <a:off x="584684" y="5568156"/>
            <a:ext cx="11448000" cy="207770"/>
          </a:xfrm>
          <a:prstGeom prst="rect">
            <a:avLst/>
          </a:prstGeom>
          <a:solidFill>
            <a:srgbClr val="F2F2F2"/>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en-GB" sz="900" b="0" i="0" u="none" strike="noStrike" kern="0" cap="none" spc="0" normalizeH="0" baseline="0" noProof="0" dirty="0">
              <a:ln>
                <a:noFill/>
              </a:ln>
              <a:solidFill>
                <a:srgbClr val="000000"/>
              </a:solidFill>
              <a:effectLst/>
              <a:uLnTx/>
              <a:uFillTx/>
              <a:latin typeface="+mn-ea"/>
              <a:cs typeface="+mn-ea"/>
              <a:sym typeface="+mn-lt"/>
            </a:endParaRPr>
          </a:p>
        </p:txBody>
      </p:sp>
      <p:sp>
        <p:nvSpPr>
          <p:cNvPr id="131" name="Rectangle 69">
            <a:extLst>
              <a:ext uri="{FF2B5EF4-FFF2-40B4-BE49-F238E27FC236}">
                <a16:creationId xmlns:a16="http://schemas.microsoft.com/office/drawing/2014/main" id="{B0AB978F-847D-418F-BE16-1E06AF1029B2}"/>
              </a:ext>
            </a:extLst>
          </p:cNvPr>
          <p:cNvSpPr/>
          <p:nvPr/>
        </p:nvSpPr>
        <p:spPr>
          <a:xfrm>
            <a:off x="4734979" y="5596543"/>
            <a:ext cx="3456000" cy="144000"/>
          </a:xfrm>
          <a:prstGeom prst="rect">
            <a:avLst/>
          </a:prstGeom>
          <a:solidFill>
            <a:srgbClr val="D0EC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大屏看板</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32" name="Rectangle 69">
            <a:extLst>
              <a:ext uri="{FF2B5EF4-FFF2-40B4-BE49-F238E27FC236}">
                <a16:creationId xmlns:a16="http://schemas.microsoft.com/office/drawing/2014/main" id="{BEF75077-C4AA-49CB-BD86-0CBC29EDA644}"/>
              </a:ext>
            </a:extLst>
          </p:cNvPr>
          <p:cNvSpPr/>
          <p:nvPr/>
        </p:nvSpPr>
        <p:spPr>
          <a:xfrm>
            <a:off x="1194835" y="5596543"/>
            <a:ext cx="3348000" cy="144000"/>
          </a:xfrm>
          <a:prstGeom prst="rect">
            <a:avLst/>
          </a:prstGeom>
          <a:solidFill>
            <a:srgbClr val="D0EC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移动端</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33" name="Rectangle 69">
            <a:extLst>
              <a:ext uri="{FF2B5EF4-FFF2-40B4-BE49-F238E27FC236}">
                <a16:creationId xmlns:a16="http://schemas.microsoft.com/office/drawing/2014/main" id="{B8FD9D49-E317-47D2-B68D-327C00F151D3}"/>
              </a:ext>
            </a:extLst>
          </p:cNvPr>
          <p:cNvSpPr/>
          <p:nvPr/>
        </p:nvSpPr>
        <p:spPr>
          <a:xfrm>
            <a:off x="8370374" y="5596543"/>
            <a:ext cx="3456000" cy="144000"/>
          </a:xfrm>
          <a:prstGeom prst="rect">
            <a:avLst/>
          </a:prstGeom>
          <a:solidFill>
            <a:srgbClr val="D0EC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GB" sz="800" b="0" i="0" u="none" strike="noStrike" kern="0" cap="none" spc="0" normalizeH="0" baseline="0" noProof="0" dirty="0">
                <a:ln>
                  <a:noFill/>
                </a:ln>
                <a:solidFill>
                  <a:sysClr val="windowText" lastClr="000000"/>
                </a:solidFill>
                <a:effectLst/>
                <a:uLnTx/>
                <a:uFillTx/>
                <a:latin typeface="+mn-ea"/>
                <a:cs typeface="+mn-ea"/>
                <a:sym typeface="+mn-lt"/>
              </a:rPr>
              <a:t>PC</a:t>
            </a: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端</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34" name="TextBox 298">
            <a:extLst>
              <a:ext uri="{FF2B5EF4-FFF2-40B4-BE49-F238E27FC236}">
                <a16:creationId xmlns:a16="http://schemas.microsoft.com/office/drawing/2014/main" id="{8DA895AA-B722-4D53-925D-3DF4A8E462CC}"/>
              </a:ext>
            </a:extLst>
          </p:cNvPr>
          <p:cNvSpPr txBox="1"/>
          <p:nvPr/>
        </p:nvSpPr>
        <p:spPr>
          <a:xfrm>
            <a:off x="633904" y="5551851"/>
            <a:ext cx="400672" cy="241180"/>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zh-CN" altLang="en-US" sz="1000" dirty="0">
                <a:solidFill>
                  <a:srgbClr val="000000"/>
                </a:solidFill>
                <a:latin typeface="+mn-ea"/>
                <a:cs typeface="+mn-ea"/>
                <a:sym typeface="+mn-lt"/>
              </a:rPr>
              <a:t>展示</a:t>
            </a:r>
            <a:endParaRPr lang="en-GB" sz="1000" dirty="0">
              <a:solidFill>
                <a:srgbClr val="000000"/>
              </a:solidFill>
              <a:latin typeface="+mn-ea"/>
              <a:cs typeface="+mn-ea"/>
              <a:sym typeface="+mn-lt"/>
            </a:endParaRPr>
          </a:p>
        </p:txBody>
      </p:sp>
      <p:sp>
        <p:nvSpPr>
          <p:cNvPr id="135" name="TextBox 299">
            <a:extLst>
              <a:ext uri="{FF2B5EF4-FFF2-40B4-BE49-F238E27FC236}">
                <a16:creationId xmlns:a16="http://schemas.microsoft.com/office/drawing/2014/main" id="{250BF610-108F-4339-9C28-D06C6EC2C9D4}"/>
              </a:ext>
            </a:extLst>
          </p:cNvPr>
          <p:cNvSpPr txBox="1"/>
          <p:nvPr/>
        </p:nvSpPr>
        <p:spPr>
          <a:xfrm>
            <a:off x="629050" y="5823432"/>
            <a:ext cx="318440" cy="241180"/>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zh-CN" altLang="en-US" sz="1000" dirty="0">
                <a:solidFill>
                  <a:srgbClr val="000000"/>
                </a:solidFill>
                <a:latin typeface="+mn-ea"/>
                <a:cs typeface="+mn-ea"/>
                <a:sym typeface="+mn-lt"/>
              </a:rPr>
              <a:t>数据集市</a:t>
            </a:r>
            <a:endParaRPr lang="en-GB" sz="1000" dirty="0">
              <a:solidFill>
                <a:srgbClr val="000000"/>
              </a:solidFill>
              <a:latin typeface="+mn-ea"/>
              <a:cs typeface="+mn-ea"/>
              <a:sym typeface="+mn-lt"/>
            </a:endParaRPr>
          </a:p>
        </p:txBody>
      </p:sp>
      <p:sp>
        <p:nvSpPr>
          <p:cNvPr id="136" name="TextBox 300">
            <a:extLst>
              <a:ext uri="{FF2B5EF4-FFF2-40B4-BE49-F238E27FC236}">
                <a16:creationId xmlns:a16="http://schemas.microsoft.com/office/drawing/2014/main" id="{4EA22689-F154-4537-8E03-CB3DA44E366E}"/>
              </a:ext>
            </a:extLst>
          </p:cNvPr>
          <p:cNvSpPr txBox="1"/>
          <p:nvPr/>
        </p:nvSpPr>
        <p:spPr>
          <a:xfrm>
            <a:off x="667446" y="6263437"/>
            <a:ext cx="400672" cy="241180"/>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zh-CN" altLang="en-US" sz="1000" dirty="0">
                <a:solidFill>
                  <a:srgbClr val="FFFFFF"/>
                </a:solidFill>
                <a:latin typeface="+mn-ea"/>
                <a:cs typeface="+mn-ea"/>
                <a:sym typeface="+mn-lt"/>
              </a:rPr>
              <a:t>数仓</a:t>
            </a:r>
            <a:endParaRPr lang="en-GB" sz="1000" dirty="0">
              <a:solidFill>
                <a:srgbClr val="FFFFFF"/>
              </a:solidFill>
              <a:latin typeface="+mn-ea"/>
              <a:cs typeface="+mn-ea"/>
              <a:sym typeface="+mn-lt"/>
            </a:endParaRPr>
          </a:p>
        </p:txBody>
      </p:sp>
      <p:sp>
        <p:nvSpPr>
          <p:cNvPr id="137" name="TextBox 301">
            <a:extLst>
              <a:ext uri="{FF2B5EF4-FFF2-40B4-BE49-F238E27FC236}">
                <a16:creationId xmlns:a16="http://schemas.microsoft.com/office/drawing/2014/main" id="{33715AEA-C69E-4F3E-9D8A-09218850DE61}"/>
              </a:ext>
            </a:extLst>
          </p:cNvPr>
          <p:cNvSpPr txBox="1"/>
          <p:nvPr/>
        </p:nvSpPr>
        <p:spPr>
          <a:xfrm>
            <a:off x="1029604" y="6104244"/>
            <a:ext cx="400672" cy="241180"/>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zh-CN" altLang="en-US" sz="1000" dirty="0">
                <a:solidFill>
                  <a:srgbClr val="000000"/>
                </a:solidFill>
                <a:latin typeface="+mn-ea"/>
                <a:cs typeface="+mn-ea"/>
                <a:sym typeface="+mn-lt"/>
              </a:rPr>
              <a:t>模型</a:t>
            </a:r>
            <a:endParaRPr lang="en-GB" sz="1000" dirty="0">
              <a:solidFill>
                <a:srgbClr val="000000"/>
              </a:solidFill>
              <a:latin typeface="+mn-ea"/>
              <a:cs typeface="+mn-ea"/>
              <a:sym typeface="+mn-lt"/>
            </a:endParaRPr>
          </a:p>
        </p:txBody>
      </p:sp>
      <p:sp>
        <p:nvSpPr>
          <p:cNvPr id="138" name="Rectangle 69">
            <a:extLst>
              <a:ext uri="{FF2B5EF4-FFF2-40B4-BE49-F238E27FC236}">
                <a16:creationId xmlns:a16="http://schemas.microsoft.com/office/drawing/2014/main" id="{4D66729B-825E-418E-9F84-643958E72896}"/>
              </a:ext>
            </a:extLst>
          </p:cNvPr>
          <p:cNvSpPr/>
          <p:nvPr/>
        </p:nvSpPr>
        <p:spPr>
          <a:xfrm>
            <a:off x="1193992" y="5803033"/>
            <a:ext cx="2736000" cy="216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数据标签</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39" name="Rectangle 307">
            <a:extLst>
              <a:ext uri="{FF2B5EF4-FFF2-40B4-BE49-F238E27FC236}">
                <a16:creationId xmlns:a16="http://schemas.microsoft.com/office/drawing/2014/main" id="{8D37E17B-3734-4593-98A0-D58C48F5748B}"/>
              </a:ext>
            </a:extLst>
          </p:cNvPr>
          <p:cNvSpPr/>
          <p:nvPr/>
        </p:nvSpPr>
        <p:spPr>
          <a:xfrm>
            <a:off x="1809987" y="5846357"/>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客户标签</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40" name="Rectangle 308">
            <a:extLst>
              <a:ext uri="{FF2B5EF4-FFF2-40B4-BE49-F238E27FC236}">
                <a16:creationId xmlns:a16="http://schemas.microsoft.com/office/drawing/2014/main" id="{5C2D49EF-1C89-4263-855E-28415101B92E}"/>
              </a:ext>
            </a:extLst>
          </p:cNvPr>
          <p:cNvSpPr/>
          <p:nvPr/>
        </p:nvSpPr>
        <p:spPr>
          <a:xfrm>
            <a:off x="2468640" y="5846357"/>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车型标签</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41" name="Rectangle 330">
            <a:extLst>
              <a:ext uri="{FF2B5EF4-FFF2-40B4-BE49-F238E27FC236}">
                <a16:creationId xmlns:a16="http://schemas.microsoft.com/office/drawing/2014/main" id="{8B24C4B5-ADA0-40CA-9878-549734DEE656}"/>
              </a:ext>
            </a:extLst>
          </p:cNvPr>
          <p:cNvSpPr/>
          <p:nvPr/>
        </p:nvSpPr>
        <p:spPr>
          <a:xfrm>
            <a:off x="9874584" y="6135903"/>
            <a:ext cx="1692000" cy="164855"/>
          </a:xfrm>
          <a:prstGeom prst="rect">
            <a:avLst/>
          </a:prstGeom>
          <a:solidFill>
            <a:srgbClr val="FFBF66"/>
          </a:solidFill>
          <a:ln w="9525" cap="rnd"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t" anchorCtr="0" forceAA="0" compatLnSpc="1">
            <a:prstTxWarp prst="textNoShape">
              <a:avLst/>
            </a:prstTxWarp>
            <a:noAutofit/>
          </a:bodyPr>
          <a:lstStyle/>
          <a:p>
            <a:pPr algn="ctr">
              <a:defRPr/>
            </a:pPr>
            <a:r>
              <a:rPr kumimoji="0" lang="zh-CN" altLang="en-US" sz="900" b="0" i="0" u="none" strike="noStrike" kern="0" cap="none" spc="0" normalizeH="0" baseline="0" noProof="0" dirty="0">
                <a:ln>
                  <a:noFill/>
                </a:ln>
                <a:solidFill>
                  <a:srgbClr val="000000"/>
                </a:solidFill>
                <a:effectLst/>
                <a:uLnTx/>
                <a:uFillTx/>
                <a:latin typeface="+mn-ea"/>
                <a:cs typeface="+mn-ea"/>
                <a:sym typeface="+mn-lt"/>
              </a:rPr>
              <a:t>用户中心主题域</a:t>
            </a:r>
            <a:endParaRPr kumimoji="0" lang="en-GB" sz="900" b="0" i="0" u="none" strike="noStrike" kern="0" cap="none" spc="0" normalizeH="0" baseline="0" noProof="0" dirty="0">
              <a:ln>
                <a:noFill/>
              </a:ln>
              <a:solidFill>
                <a:srgbClr val="000000"/>
              </a:solidFill>
              <a:effectLst/>
              <a:uLnTx/>
              <a:uFillTx/>
              <a:latin typeface="+mn-ea"/>
              <a:cs typeface="+mn-ea"/>
              <a:sym typeface="+mn-lt"/>
            </a:endParaRPr>
          </a:p>
        </p:txBody>
      </p:sp>
      <p:sp>
        <p:nvSpPr>
          <p:cNvPr id="142" name="Rectangle 335">
            <a:extLst>
              <a:ext uri="{FF2B5EF4-FFF2-40B4-BE49-F238E27FC236}">
                <a16:creationId xmlns:a16="http://schemas.microsoft.com/office/drawing/2014/main" id="{65F9C7B9-E008-4655-BDA4-474F5CC0B66B}"/>
              </a:ext>
            </a:extLst>
          </p:cNvPr>
          <p:cNvSpPr/>
          <p:nvPr/>
        </p:nvSpPr>
        <p:spPr>
          <a:xfrm>
            <a:off x="3127293" y="5846357"/>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其他标签</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43" name="Rectangle 69">
            <a:extLst>
              <a:ext uri="{FF2B5EF4-FFF2-40B4-BE49-F238E27FC236}">
                <a16:creationId xmlns:a16="http://schemas.microsoft.com/office/drawing/2014/main" id="{8840C750-2119-410F-9372-21A3C4274FA5}"/>
              </a:ext>
            </a:extLst>
          </p:cNvPr>
          <p:cNvSpPr/>
          <p:nvPr/>
        </p:nvSpPr>
        <p:spPr>
          <a:xfrm>
            <a:off x="9842302" y="5848972"/>
            <a:ext cx="612000" cy="144000"/>
          </a:xfrm>
          <a:prstGeom prst="rect">
            <a:avLst/>
          </a:prstGeom>
          <a:solidFill>
            <a:srgbClr val="FFD9D3"/>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rgbClr val="000000"/>
                </a:solidFill>
                <a:effectLst/>
                <a:uLnTx/>
                <a:uFillTx/>
                <a:latin typeface="+mn-ea"/>
                <a:cs typeface="+mn-ea"/>
                <a:sym typeface="+mn-lt"/>
              </a:rPr>
              <a:t>其他分析</a:t>
            </a:r>
            <a:endParaRPr kumimoji="1"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44" name="Rectangle 343">
            <a:extLst>
              <a:ext uri="{FF2B5EF4-FFF2-40B4-BE49-F238E27FC236}">
                <a16:creationId xmlns:a16="http://schemas.microsoft.com/office/drawing/2014/main" id="{4330440C-0625-4B90-8BD1-7FB16EBCA451}"/>
              </a:ext>
            </a:extLst>
          </p:cNvPr>
          <p:cNvSpPr/>
          <p:nvPr/>
        </p:nvSpPr>
        <p:spPr>
          <a:xfrm>
            <a:off x="1300227" y="6126378"/>
            <a:ext cx="828000" cy="164855"/>
          </a:xfrm>
          <a:prstGeom prst="rect">
            <a:avLst/>
          </a:prstGeom>
          <a:solidFill>
            <a:srgbClr val="FFBF66"/>
          </a:solidFill>
          <a:ln w="9525" cap="rnd"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t" anchorCtr="0" forceAA="0" compatLnSpc="1">
            <a:prstTxWarp prst="textNoShape">
              <a:avLst/>
            </a:prstTxWarp>
            <a:noAutofit/>
          </a:bodyPr>
          <a:lstStyle/>
          <a:p>
            <a:pPr algn="ctr">
              <a:defRPr/>
            </a:pPr>
            <a:r>
              <a:rPr kumimoji="0" lang="zh-CN" altLang="en-US" sz="800" b="0" i="0" u="none" strike="noStrike" kern="0" cap="none" spc="0" normalizeH="0" baseline="0" noProof="0" dirty="0">
                <a:ln>
                  <a:noFill/>
                </a:ln>
                <a:solidFill>
                  <a:srgbClr val="000000"/>
                </a:solidFill>
                <a:effectLst/>
                <a:uLnTx/>
                <a:uFillTx/>
                <a:latin typeface="+mn-ea"/>
                <a:cs typeface="+mn-ea"/>
                <a:sym typeface="+mn-lt"/>
              </a:rPr>
              <a:t>品牌及广宣中心主题域</a:t>
            </a:r>
            <a:endParaRPr kumimoji="0" lang="en-GB" sz="800" b="0" i="0" u="none" strike="noStrike" kern="0" cap="none" spc="0" normalizeH="0" baseline="0" noProof="0" dirty="0">
              <a:ln>
                <a:noFill/>
              </a:ln>
              <a:solidFill>
                <a:srgbClr val="000000"/>
              </a:solidFill>
              <a:effectLst/>
              <a:uLnTx/>
              <a:uFillTx/>
              <a:latin typeface="+mn-ea"/>
              <a:cs typeface="+mn-ea"/>
              <a:sym typeface="+mn-lt"/>
            </a:endParaRPr>
          </a:p>
        </p:txBody>
      </p:sp>
      <p:sp>
        <p:nvSpPr>
          <p:cNvPr id="145" name="Rectangle 344">
            <a:extLst>
              <a:ext uri="{FF2B5EF4-FFF2-40B4-BE49-F238E27FC236}">
                <a16:creationId xmlns:a16="http://schemas.microsoft.com/office/drawing/2014/main" id="{9E43193F-5F26-4ADC-BE29-E4CD03A12B53}"/>
              </a:ext>
            </a:extLst>
          </p:cNvPr>
          <p:cNvSpPr/>
          <p:nvPr/>
        </p:nvSpPr>
        <p:spPr>
          <a:xfrm>
            <a:off x="2673689" y="6135902"/>
            <a:ext cx="1692000" cy="164855"/>
          </a:xfrm>
          <a:prstGeom prst="rect">
            <a:avLst/>
          </a:prstGeom>
          <a:solidFill>
            <a:srgbClr val="FFBF66"/>
          </a:solidFill>
          <a:ln w="9525" cap="rnd"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t" anchorCtr="0" forceAA="0" compatLnSpc="1">
            <a:prstTxWarp prst="textNoShape">
              <a:avLst/>
            </a:prstTxWarp>
            <a:noAutofit/>
          </a:bodyPr>
          <a:lstStyle/>
          <a:p>
            <a:pPr algn="ctr">
              <a:defRPr/>
            </a:pPr>
            <a:r>
              <a:rPr kumimoji="0" lang="zh-CN" altLang="en-US" sz="900" b="0" i="0" u="none" strike="noStrike" kern="0" cap="none" spc="0" normalizeH="0" baseline="0" noProof="0" dirty="0">
                <a:ln>
                  <a:noFill/>
                </a:ln>
                <a:solidFill>
                  <a:srgbClr val="000000"/>
                </a:solidFill>
                <a:effectLst/>
                <a:uLnTx/>
                <a:uFillTx/>
                <a:latin typeface="+mn-ea"/>
                <a:cs typeface="+mn-ea"/>
                <a:sym typeface="+mn-lt"/>
              </a:rPr>
              <a:t>订单及交付中心主题域</a:t>
            </a:r>
            <a:endParaRPr kumimoji="0" lang="en-GB" sz="900" b="0" i="0" u="none" strike="noStrike" kern="0" cap="none" spc="0" normalizeH="0" baseline="0" noProof="0" dirty="0">
              <a:ln>
                <a:noFill/>
              </a:ln>
              <a:solidFill>
                <a:srgbClr val="000000"/>
              </a:solidFill>
              <a:effectLst/>
              <a:uLnTx/>
              <a:uFillTx/>
              <a:latin typeface="+mn-ea"/>
              <a:cs typeface="+mn-ea"/>
              <a:sym typeface="+mn-lt"/>
            </a:endParaRPr>
          </a:p>
        </p:txBody>
      </p:sp>
      <p:sp>
        <p:nvSpPr>
          <p:cNvPr id="146" name="Rectangle 345">
            <a:extLst>
              <a:ext uri="{FF2B5EF4-FFF2-40B4-BE49-F238E27FC236}">
                <a16:creationId xmlns:a16="http://schemas.microsoft.com/office/drawing/2014/main" id="{6793F04A-8982-415F-879B-8FD797317038}"/>
              </a:ext>
            </a:extLst>
          </p:cNvPr>
          <p:cNvSpPr/>
          <p:nvPr/>
        </p:nvSpPr>
        <p:spPr>
          <a:xfrm>
            <a:off x="6311834" y="6146269"/>
            <a:ext cx="1692000" cy="164855"/>
          </a:xfrm>
          <a:prstGeom prst="rect">
            <a:avLst/>
          </a:prstGeom>
          <a:solidFill>
            <a:srgbClr val="FFBF66"/>
          </a:solidFill>
          <a:ln w="9525" cap="rnd"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t" anchorCtr="0" forceAA="0" compatLnSpc="1">
            <a:prstTxWarp prst="textNoShape">
              <a:avLst/>
            </a:prstTxWarp>
            <a:noAutofit/>
          </a:bodyPr>
          <a:lstStyle/>
          <a:p>
            <a:pPr algn="ctr">
              <a:defRPr/>
            </a:pPr>
            <a:r>
              <a:rPr kumimoji="0" lang="zh-CN" altLang="en-US" sz="900" b="0" i="0" u="none" strike="noStrike" kern="0" cap="none" spc="0" normalizeH="0" baseline="0" noProof="0" dirty="0">
                <a:ln>
                  <a:noFill/>
                </a:ln>
                <a:solidFill>
                  <a:srgbClr val="000000"/>
                </a:solidFill>
                <a:effectLst/>
                <a:uLnTx/>
                <a:uFillTx/>
                <a:latin typeface="+mn-ea"/>
                <a:cs typeface="+mn-ea"/>
                <a:sym typeface="+mn-lt"/>
              </a:rPr>
              <a:t>服务中心主题域</a:t>
            </a:r>
            <a:endParaRPr kumimoji="0" lang="en-GB" sz="900" b="0" i="0" u="none" strike="noStrike" kern="0" cap="none" spc="0" normalizeH="0" baseline="0" noProof="0" dirty="0">
              <a:ln>
                <a:noFill/>
              </a:ln>
              <a:solidFill>
                <a:srgbClr val="000000"/>
              </a:solidFill>
              <a:effectLst/>
              <a:uLnTx/>
              <a:uFillTx/>
              <a:latin typeface="+mn-ea"/>
              <a:cs typeface="+mn-ea"/>
              <a:sym typeface="+mn-lt"/>
            </a:endParaRPr>
          </a:p>
        </p:txBody>
      </p:sp>
      <p:sp>
        <p:nvSpPr>
          <p:cNvPr id="147" name="Rectangle 346">
            <a:extLst>
              <a:ext uri="{FF2B5EF4-FFF2-40B4-BE49-F238E27FC236}">
                <a16:creationId xmlns:a16="http://schemas.microsoft.com/office/drawing/2014/main" id="{2741B54E-F52C-4A56-8A62-3F60EDCEE307}"/>
              </a:ext>
            </a:extLst>
          </p:cNvPr>
          <p:cNvSpPr/>
          <p:nvPr/>
        </p:nvSpPr>
        <p:spPr>
          <a:xfrm>
            <a:off x="928717" y="6356665"/>
            <a:ext cx="10908000" cy="180000"/>
          </a:xfrm>
          <a:prstGeom prst="rect">
            <a:avLst/>
          </a:prstGeom>
          <a:solidFill>
            <a:srgbClr val="F2F2F2"/>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rgbClr val="000000"/>
                </a:solidFill>
                <a:effectLst/>
                <a:uLnTx/>
                <a:uFillTx/>
                <a:latin typeface="+mn-ea"/>
                <a:cs typeface="+mn-ea"/>
                <a:sym typeface="+mn-lt"/>
              </a:rPr>
              <a:t>数据治理</a:t>
            </a:r>
            <a:endParaRPr kumimoji="1" lang="en-GB" sz="900" b="0" i="0" u="none" strike="noStrike" kern="0" cap="none" spc="0" normalizeH="0" baseline="0" noProof="0" dirty="0">
              <a:ln>
                <a:noFill/>
              </a:ln>
              <a:solidFill>
                <a:srgbClr val="000000"/>
              </a:solidFill>
              <a:effectLst/>
              <a:uLnTx/>
              <a:uFillTx/>
              <a:latin typeface="+mn-ea"/>
              <a:cs typeface="+mn-ea"/>
              <a:sym typeface="+mn-lt"/>
            </a:endParaRPr>
          </a:p>
        </p:txBody>
      </p:sp>
      <p:cxnSp>
        <p:nvCxnSpPr>
          <p:cNvPr id="148" name="Straight Connector 224">
            <a:extLst>
              <a:ext uri="{FF2B5EF4-FFF2-40B4-BE49-F238E27FC236}">
                <a16:creationId xmlns:a16="http://schemas.microsoft.com/office/drawing/2014/main" id="{429155CE-BD0F-4238-8286-CAFBAB34A93B}"/>
              </a:ext>
            </a:extLst>
          </p:cNvPr>
          <p:cNvCxnSpPr>
            <a:cxnSpLocks/>
          </p:cNvCxnSpPr>
          <p:nvPr/>
        </p:nvCxnSpPr>
        <p:spPr>
          <a:xfrm flipH="1" flipV="1">
            <a:off x="2119085" y="948772"/>
            <a:ext cx="5698" cy="5868000"/>
          </a:xfrm>
          <a:prstGeom prst="line">
            <a:avLst/>
          </a:prstGeom>
          <a:noFill/>
          <a:ln w="28575" cap="rnd" cmpd="sng" algn="ctr">
            <a:solidFill>
              <a:schemeClr val="bg1">
                <a:lumMod val="75000"/>
              </a:schemeClr>
            </a:solidFill>
            <a:prstDash val="sysDot"/>
            <a:round/>
          </a:ln>
          <a:effectLst/>
        </p:spPr>
      </p:cxnSp>
      <p:cxnSp>
        <p:nvCxnSpPr>
          <p:cNvPr id="149" name="Straight Connector 225">
            <a:extLst>
              <a:ext uri="{FF2B5EF4-FFF2-40B4-BE49-F238E27FC236}">
                <a16:creationId xmlns:a16="http://schemas.microsoft.com/office/drawing/2014/main" id="{F84C326B-4957-4022-8E4E-578B3FE88A67}"/>
              </a:ext>
            </a:extLst>
          </p:cNvPr>
          <p:cNvCxnSpPr>
            <a:cxnSpLocks/>
          </p:cNvCxnSpPr>
          <p:nvPr/>
        </p:nvCxnSpPr>
        <p:spPr>
          <a:xfrm flipH="1" flipV="1">
            <a:off x="5700441" y="948772"/>
            <a:ext cx="5698" cy="5868000"/>
          </a:xfrm>
          <a:prstGeom prst="line">
            <a:avLst/>
          </a:prstGeom>
          <a:noFill/>
          <a:ln w="28575" cap="rnd" cmpd="sng" algn="ctr">
            <a:solidFill>
              <a:schemeClr val="bg1">
                <a:lumMod val="75000"/>
              </a:schemeClr>
            </a:solidFill>
            <a:prstDash val="sysDot"/>
            <a:round/>
          </a:ln>
          <a:effectLst/>
        </p:spPr>
      </p:cxnSp>
      <p:cxnSp>
        <p:nvCxnSpPr>
          <p:cNvPr id="150" name="Straight Connector 226">
            <a:extLst>
              <a:ext uri="{FF2B5EF4-FFF2-40B4-BE49-F238E27FC236}">
                <a16:creationId xmlns:a16="http://schemas.microsoft.com/office/drawing/2014/main" id="{A90C92C1-F4B7-4924-9AC5-82C7F526AB73}"/>
              </a:ext>
            </a:extLst>
          </p:cNvPr>
          <p:cNvCxnSpPr>
            <a:cxnSpLocks/>
          </p:cNvCxnSpPr>
          <p:nvPr/>
        </p:nvCxnSpPr>
        <p:spPr>
          <a:xfrm flipH="1" flipV="1">
            <a:off x="9011551" y="948772"/>
            <a:ext cx="5698" cy="5868000"/>
          </a:xfrm>
          <a:prstGeom prst="line">
            <a:avLst/>
          </a:prstGeom>
          <a:noFill/>
          <a:ln w="28575" cap="rnd" cmpd="sng" algn="ctr">
            <a:solidFill>
              <a:schemeClr val="bg1">
                <a:lumMod val="75000"/>
              </a:schemeClr>
            </a:solidFill>
            <a:prstDash val="sysDot"/>
            <a:round/>
          </a:ln>
          <a:effectLst/>
        </p:spPr>
      </p:cxnSp>
      <p:sp>
        <p:nvSpPr>
          <p:cNvPr id="151" name="Rectangle 69">
            <a:extLst>
              <a:ext uri="{FF2B5EF4-FFF2-40B4-BE49-F238E27FC236}">
                <a16:creationId xmlns:a16="http://schemas.microsoft.com/office/drawing/2014/main" id="{EB993C79-C9DA-4D5D-957F-332C8538EB95}"/>
              </a:ext>
            </a:extLst>
          </p:cNvPr>
          <p:cNvSpPr/>
          <p:nvPr/>
        </p:nvSpPr>
        <p:spPr>
          <a:xfrm>
            <a:off x="2015159" y="6384171"/>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元数据管理</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2" name="Rectangle 69">
            <a:extLst>
              <a:ext uri="{FF2B5EF4-FFF2-40B4-BE49-F238E27FC236}">
                <a16:creationId xmlns:a16="http://schemas.microsoft.com/office/drawing/2014/main" id="{FDAD4BC8-3ACF-45D5-BEDF-335836A0FE79}"/>
              </a:ext>
            </a:extLst>
          </p:cNvPr>
          <p:cNvSpPr/>
          <p:nvPr/>
        </p:nvSpPr>
        <p:spPr>
          <a:xfrm>
            <a:off x="3422241" y="6384171"/>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数据质量管理</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3" name="Rectangle 69">
            <a:extLst>
              <a:ext uri="{FF2B5EF4-FFF2-40B4-BE49-F238E27FC236}">
                <a16:creationId xmlns:a16="http://schemas.microsoft.com/office/drawing/2014/main" id="{251D419D-0DF4-4D7F-96B6-9F8AB74EC3E6}"/>
              </a:ext>
            </a:extLst>
          </p:cNvPr>
          <p:cNvSpPr/>
          <p:nvPr/>
        </p:nvSpPr>
        <p:spPr>
          <a:xfrm>
            <a:off x="5184402" y="6384171"/>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数据血缘管理</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4" name="Rectangle 69">
            <a:extLst>
              <a:ext uri="{FF2B5EF4-FFF2-40B4-BE49-F238E27FC236}">
                <a16:creationId xmlns:a16="http://schemas.microsoft.com/office/drawing/2014/main" id="{BB62CA3D-B8D1-44E5-8C1D-D5176D8468BE}"/>
              </a:ext>
            </a:extLst>
          </p:cNvPr>
          <p:cNvSpPr/>
          <p:nvPr/>
        </p:nvSpPr>
        <p:spPr>
          <a:xfrm>
            <a:off x="7510799" y="6384171"/>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数据标准管理</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5" name="Rectangle 69">
            <a:extLst>
              <a:ext uri="{FF2B5EF4-FFF2-40B4-BE49-F238E27FC236}">
                <a16:creationId xmlns:a16="http://schemas.microsoft.com/office/drawing/2014/main" id="{735121CD-EA50-46D8-93CF-693C8AAC140E}"/>
              </a:ext>
            </a:extLst>
          </p:cNvPr>
          <p:cNvSpPr/>
          <p:nvPr/>
        </p:nvSpPr>
        <p:spPr>
          <a:xfrm>
            <a:off x="2038805" y="6581415"/>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GB" altLang="zh-CN" sz="800" b="0" i="0" u="none" strike="noStrike" kern="0" cap="none" spc="0" normalizeH="0" baseline="0" noProof="0" dirty="0">
                <a:ln>
                  <a:noFill/>
                </a:ln>
                <a:solidFill>
                  <a:sysClr val="windowText" lastClr="000000"/>
                </a:solidFill>
                <a:effectLst/>
                <a:uLnTx/>
                <a:uFillTx/>
                <a:latin typeface="+mn-ea"/>
                <a:cs typeface="+mn-ea"/>
                <a:sym typeface="+mn-lt"/>
              </a:rPr>
              <a:t>GRT</a:t>
            </a: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业务数据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6" name="Rectangle 69">
            <a:extLst>
              <a:ext uri="{FF2B5EF4-FFF2-40B4-BE49-F238E27FC236}">
                <a16:creationId xmlns:a16="http://schemas.microsoft.com/office/drawing/2014/main" id="{4CD8D6F1-53C3-49DB-9951-0E0C2B159DCD}"/>
              </a:ext>
            </a:extLst>
          </p:cNvPr>
          <p:cNvSpPr/>
          <p:nvPr/>
        </p:nvSpPr>
        <p:spPr>
          <a:xfrm>
            <a:off x="4610510" y="6581415"/>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GB" altLang="zh-CN" sz="800" b="0" i="0" u="none" strike="noStrike" kern="0" cap="none" spc="0" normalizeH="0" baseline="0" noProof="0" dirty="0">
                <a:ln>
                  <a:noFill/>
                </a:ln>
                <a:solidFill>
                  <a:sysClr val="windowText" lastClr="000000"/>
                </a:solidFill>
                <a:effectLst/>
                <a:uLnTx/>
                <a:uFillTx/>
                <a:latin typeface="+mn-ea"/>
                <a:cs typeface="+mn-ea"/>
                <a:sym typeface="+mn-lt"/>
              </a:rPr>
              <a:t>SAP</a:t>
            </a: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业务数据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7" name="Rectangle 69">
            <a:extLst>
              <a:ext uri="{FF2B5EF4-FFF2-40B4-BE49-F238E27FC236}">
                <a16:creationId xmlns:a16="http://schemas.microsoft.com/office/drawing/2014/main" id="{D2E44037-8F57-40BE-B1E1-884942D2B740}"/>
              </a:ext>
            </a:extLst>
          </p:cNvPr>
          <p:cNvSpPr/>
          <p:nvPr/>
        </p:nvSpPr>
        <p:spPr>
          <a:xfrm>
            <a:off x="6324980" y="6581415"/>
            <a:ext cx="720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第三方数据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8" name="Rectangle 69">
            <a:extLst>
              <a:ext uri="{FF2B5EF4-FFF2-40B4-BE49-F238E27FC236}">
                <a16:creationId xmlns:a16="http://schemas.microsoft.com/office/drawing/2014/main" id="{3F4E159E-9677-41F4-B4A4-11897A69DD7F}"/>
              </a:ext>
            </a:extLst>
          </p:cNvPr>
          <p:cNvSpPr/>
          <p:nvPr/>
        </p:nvSpPr>
        <p:spPr>
          <a:xfrm>
            <a:off x="7074215" y="6581415"/>
            <a:ext cx="900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各系统日志数据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59" name="Rectangle 69">
            <a:extLst>
              <a:ext uri="{FF2B5EF4-FFF2-40B4-BE49-F238E27FC236}">
                <a16:creationId xmlns:a16="http://schemas.microsoft.com/office/drawing/2014/main" id="{76F8504F-DB0F-4ABB-A97E-C5B155AEEBA2}"/>
              </a:ext>
            </a:extLst>
          </p:cNvPr>
          <p:cNvSpPr/>
          <p:nvPr/>
        </p:nvSpPr>
        <p:spPr>
          <a:xfrm>
            <a:off x="8003449" y="6581415"/>
            <a:ext cx="1203443"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语音、视频、图片数据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0" name="Rectangle 69">
            <a:extLst>
              <a:ext uri="{FF2B5EF4-FFF2-40B4-BE49-F238E27FC236}">
                <a16:creationId xmlns:a16="http://schemas.microsoft.com/office/drawing/2014/main" id="{14C3F04E-569C-4DF9-B336-E2272B1EAADE}"/>
              </a:ext>
            </a:extLst>
          </p:cNvPr>
          <p:cNvSpPr/>
          <p:nvPr/>
        </p:nvSpPr>
        <p:spPr>
          <a:xfrm>
            <a:off x="5467745" y="6581415"/>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其他系统数据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1" name="Rectangle 69">
            <a:extLst>
              <a:ext uri="{FF2B5EF4-FFF2-40B4-BE49-F238E27FC236}">
                <a16:creationId xmlns:a16="http://schemas.microsoft.com/office/drawing/2014/main" id="{DB477C9A-3C5D-45BE-BA9B-774DCDDB304D}"/>
              </a:ext>
            </a:extLst>
          </p:cNvPr>
          <p:cNvSpPr/>
          <p:nvPr/>
        </p:nvSpPr>
        <p:spPr>
          <a:xfrm>
            <a:off x="2896040" y="6581415"/>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业务中台数据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2" name="Rectangle 69">
            <a:extLst>
              <a:ext uri="{FF2B5EF4-FFF2-40B4-BE49-F238E27FC236}">
                <a16:creationId xmlns:a16="http://schemas.microsoft.com/office/drawing/2014/main" id="{B9F4F20F-4E87-45DC-BE68-3032E2A796FA}"/>
              </a:ext>
            </a:extLst>
          </p:cNvPr>
          <p:cNvSpPr/>
          <p:nvPr/>
        </p:nvSpPr>
        <p:spPr>
          <a:xfrm>
            <a:off x="3753275" y="6581415"/>
            <a:ext cx="828000" cy="144000"/>
          </a:xfrm>
          <a:prstGeom prst="rect">
            <a:avLst/>
          </a:prstGeom>
          <a:solidFill>
            <a:srgbClr val="FF9400">
              <a:lumMod val="20000"/>
              <a:lumOff val="80000"/>
            </a:srgb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GB" altLang="zh-CN" sz="800" b="0" i="0" u="none" strike="noStrike" kern="0" cap="none" spc="0" normalizeH="0" baseline="0" noProof="0" dirty="0">
                <a:ln>
                  <a:noFill/>
                </a:ln>
                <a:solidFill>
                  <a:sysClr val="windowText" lastClr="000000"/>
                </a:solidFill>
                <a:effectLst/>
                <a:uLnTx/>
                <a:uFillTx/>
                <a:latin typeface="+mn-ea"/>
                <a:cs typeface="+mn-ea"/>
                <a:sym typeface="+mn-lt"/>
              </a:rPr>
              <a:t>APP</a:t>
            </a:r>
            <a:r>
              <a:rPr kumimoji="1" lang="zh-CN" altLang="en-US" sz="800" b="0" i="0" u="none" strike="noStrike" kern="0" cap="none" spc="0" normalizeH="0" baseline="0" noProof="0" dirty="0">
                <a:ln>
                  <a:noFill/>
                </a:ln>
                <a:solidFill>
                  <a:sysClr val="windowText" lastClr="000000"/>
                </a:solidFill>
                <a:effectLst/>
                <a:uLnTx/>
                <a:uFillTx/>
                <a:latin typeface="+mn-ea"/>
                <a:cs typeface="+mn-ea"/>
                <a:sym typeface="+mn-lt"/>
              </a:rPr>
              <a:t>系统数据</a:t>
            </a:r>
            <a:endParaRPr kumimoji="1" lang="en-GB" sz="8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3" name="Rectangle 69">
            <a:extLst>
              <a:ext uri="{FF2B5EF4-FFF2-40B4-BE49-F238E27FC236}">
                <a16:creationId xmlns:a16="http://schemas.microsoft.com/office/drawing/2014/main" id="{41EAED78-0B07-0E64-EE8A-E4FDF7A20D5B}"/>
              </a:ext>
            </a:extLst>
          </p:cNvPr>
          <p:cNvSpPr/>
          <p:nvPr/>
        </p:nvSpPr>
        <p:spPr>
          <a:xfrm>
            <a:off x="1324298" y="4835173"/>
            <a:ext cx="889548" cy="144000"/>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GB" sz="900" b="0" i="0" u="none" strike="noStrike" kern="0" cap="none" spc="0" normalizeH="0" baseline="0" noProof="0" dirty="0">
                <a:ln>
                  <a:noFill/>
                </a:ln>
                <a:solidFill>
                  <a:sysClr val="windowText" lastClr="000000"/>
                </a:solidFill>
                <a:effectLst/>
                <a:uLnTx/>
                <a:uFillTx/>
                <a:latin typeface="+mn-ea"/>
                <a:cs typeface="+mn-ea"/>
                <a:sym typeface="+mn-lt"/>
              </a:rPr>
              <a:t>车展</a:t>
            </a: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管理系统</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4" name="Rectangle 69">
            <a:extLst>
              <a:ext uri="{FF2B5EF4-FFF2-40B4-BE49-F238E27FC236}">
                <a16:creationId xmlns:a16="http://schemas.microsoft.com/office/drawing/2014/main" id="{D08E1DF8-E3EB-FF9C-F68B-71FAA9FBF751}"/>
              </a:ext>
            </a:extLst>
          </p:cNvPr>
          <p:cNvSpPr/>
          <p:nvPr/>
        </p:nvSpPr>
        <p:spPr>
          <a:xfrm>
            <a:off x="2258264" y="4833211"/>
            <a:ext cx="897666" cy="144000"/>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智能培训助手</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5" name="Rectangle 122">
            <a:extLst>
              <a:ext uri="{FF2B5EF4-FFF2-40B4-BE49-F238E27FC236}">
                <a16:creationId xmlns:a16="http://schemas.microsoft.com/office/drawing/2014/main" id="{085FC323-8AA7-5E9F-1ABA-BB114499B771}"/>
              </a:ext>
            </a:extLst>
          </p:cNvPr>
          <p:cNvSpPr/>
          <p:nvPr/>
        </p:nvSpPr>
        <p:spPr>
          <a:xfrm>
            <a:off x="5739408" y="3196438"/>
            <a:ext cx="3251997" cy="156168"/>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智慧售后</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6" name="Rectangle 122">
            <a:extLst>
              <a:ext uri="{FF2B5EF4-FFF2-40B4-BE49-F238E27FC236}">
                <a16:creationId xmlns:a16="http://schemas.microsoft.com/office/drawing/2014/main" id="{A0B7A0EA-5F8A-1E73-6D03-C7C8144E45EE}"/>
              </a:ext>
            </a:extLst>
          </p:cNvPr>
          <p:cNvSpPr/>
          <p:nvPr/>
        </p:nvSpPr>
        <p:spPr>
          <a:xfrm>
            <a:off x="10567972" y="2832838"/>
            <a:ext cx="1452614" cy="161473"/>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900" kern="0" dirty="0" err="1">
                <a:solidFill>
                  <a:sysClr val="windowText" lastClr="000000"/>
                </a:solidFill>
                <a:latin typeface="+mn-ea"/>
                <a:cs typeface="+mn-ea"/>
                <a:sym typeface="+mn-lt"/>
              </a:rPr>
              <a:t>超级合伙人</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67" name="TextBox 229">
            <a:extLst>
              <a:ext uri="{FF2B5EF4-FFF2-40B4-BE49-F238E27FC236}">
                <a16:creationId xmlns:a16="http://schemas.microsoft.com/office/drawing/2014/main" id="{B12E0768-4DEA-D61F-17C6-FC352527D542}"/>
              </a:ext>
            </a:extLst>
          </p:cNvPr>
          <p:cNvSpPr txBox="1"/>
          <p:nvPr/>
        </p:nvSpPr>
        <p:spPr>
          <a:xfrm>
            <a:off x="808229" y="3939716"/>
            <a:ext cx="208535" cy="661655"/>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5"/>
                </a:solidFill>
                <a:prstDash val="solid"/>
                <a:round/>
                <a:headEnd type="none" w="med" len="med"/>
                <a:tailEnd type="none" w="med" len="med"/>
              </a14:hiddenLine>
            </a:ext>
          </a:extLst>
        </p:spPr>
        <p:txBody>
          <a:bodyPr wrap="square" lIns="0" tIns="0" rIns="0" bIns="0" rtlCol="0" anchor="ctr">
            <a:noAutofit/>
          </a:bodyPr>
          <a:lstStyle/>
          <a:p>
            <a:pPr algn="ctr">
              <a:lnSpc>
                <a:spcPct val="90000"/>
              </a:lnSpc>
              <a:spcAft>
                <a:spcPts val="600"/>
              </a:spcAft>
            </a:pPr>
            <a:r>
              <a:rPr lang="en-US" altLang="zh-CN" sz="1200" dirty="0">
                <a:solidFill>
                  <a:srgbClr val="000000"/>
                </a:solidFill>
                <a:latin typeface="+mn-ea"/>
                <a:cs typeface="+mn-ea"/>
                <a:sym typeface="+mn-lt"/>
              </a:rPr>
              <a:t>A2</a:t>
            </a:r>
            <a:endParaRPr lang="en-GB" sz="1200" dirty="0">
              <a:solidFill>
                <a:srgbClr val="000000"/>
              </a:solidFill>
              <a:latin typeface="+mn-ea"/>
              <a:cs typeface="+mn-ea"/>
              <a:sym typeface="+mn-lt"/>
            </a:endParaRPr>
          </a:p>
        </p:txBody>
      </p:sp>
      <p:sp>
        <p:nvSpPr>
          <p:cNvPr id="168" name="Rectangle 82">
            <a:extLst>
              <a:ext uri="{FF2B5EF4-FFF2-40B4-BE49-F238E27FC236}">
                <a16:creationId xmlns:a16="http://schemas.microsoft.com/office/drawing/2014/main" id="{40DA7F9C-AEC3-DF2E-F8E1-CD6BA3C90770}"/>
              </a:ext>
            </a:extLst>
          </p:cNvPr>
          <p:cNvSpPr/>
          <p:nvPr/>
        </p:nvSpPr>
        <p:spPr>
          <a:xfrm>
            <a:off x="2154075" y="3204674"/>
            <a:ext cx="791279" cy="145189"/>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CN" altLang="en-US" sz="600" kern="0" dirty="0">
                <a:solidFill>
                  <a:sysClr val="windowText" lastClr="000000"/>
                </a:solidFill>
                <a:latin typeface="+mn-ea"/>
                <a:cs typeface="+mn-ea"/>
                <a:sym typeface="+mn-lt"/>
              </a:rPr>
              <a:t>智能云外呼</a:t>
            </a:r>
            <a:endParaRPr kumimoji="1" lang="en-GB" sz="600" kern="0" dirty="0">
              <a:solidFill>
                <a:sysClr val="windowText" lastClr="000000"/>
              </a:solidFill>
              <a:latin typeface="+mn-ea"/>
              <a:cs typeface="+mn-ea"/>
              <a:sym typeface="+mn-lt"/>
            </a:endParaRPr>
          </a:p>
        </p:txBody>
      </p:sp>
      <p:sp>
        <p:nvSpPr>
          <p:cNvPr id="169" name="Rectangle 122">
            <a:extLst>
              <a:ext uri="{FF2B5EF4-FFF2-40B4-BE49-F238E27FC236}">
                <a16:creationId xmlns:a16="http://schemas.microsoft.com/office/drawing/2014/main" id="{D4BFAA1D-2C14-77A2-BB43-48573492D368}"/>
              </a:ext>
            </a:extLst>
          </p:cNvPr>
          <p:cNvSpPr/>
          <p:nvPr/>
        </p:nvSpPr>
        <p:spPr>
          <a:xfrm>
            <a:off x="1278000" y="3204674"/>
            <a:ext cx="845435" cy="162917"/>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600" kern="0" dirty="0" err="1">
                <a:solidFill>
                  <a:sysClr val="windowText" lastClr="000000"/>
                </a:solidFill>
                <a:latin typeface="+mn-ea"/>
                <a:cs typeface="+mn-ea"/>
                <a:sym typeface="+mn-lt"/>
              </a:rPr>
              <a:t>智能线索中心</a:t>
            </a:r>
            <a:endParaRPr kumimoji="1" lang="en-GB" sz="6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70" name="Rectangle 69">
            <a:extLst>
              <a:ext uri="{FF2B5EF4-FFF2-40B4-BE49-F238E27FC236}">
                <a16:creationId xmlns:a16="http://schemas.microsoft.com/office/drawing/2014/main" id="{CF5A4A44-2E68-F365-E6D3-D9A01780A8F9}"/>
              </a:ext>
            </a:extLst>
          </p:cNvPr>
          <p:cNvSpPr/>
          <p:nvPr/>
        </p:nvSpPr>
        <p:spPr>
          <a:xfrm>
            <a:off x="2203535" y="4677186"/>
            <a:ext cx="1188000"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GB" altLang="zh-CN" sz="900" b="0" i="0" u="none" strike="noStrike" kern="0" cap="none" spc="0" normalizeH="0" baseline="0" noProof="0" dirty="0">
                <a:ln>
                  <a:noFill/>
                </a:ln>
                <a:solidFill>
                  <a:sysClr val="windowText" lastClr="000000"/>
                </a:solidFill>
                <a:effectLst/>
                <a:uLnTx/>
                <a:uFillTx/>
                <a:latin typeface="+mn-ea"/>
                <a:cs typeface="+mn-ea"/>
                <a:sym typeface="+mn-lt"/>
              </a:rPr>
              <a:t>GRT</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71" name="Rectangle 69">
            <a:extLst>
              <a:ext uri="{FF2B5EF4-FFF2-40B4-BE49-F238E27FC236}">
                <a16:creationId xmlns:a16="http://schemas.microsoft.com/office/drawing/2014/main" id="{CBEC9A84-328A-3302-C635-4C80B3CAA7FF}"/>
              </a:ext>
            </a:extLst>
          </p:cNvPr>
          <p:cNvSpPr/>
          <p:nvPr/>
        </p:nvSpPr>
        <p:spPr>
          <a:xfrm>
            <a:off x="3456697" y="4670283"/>
            <a:ext cx="1943489" cy="144000"/>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水平事业中心</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72" name="Rectangle 82">
            <a:extLst>
              <a:ext uri="{FF2B5EF4-FFF2-40B4-BE49-F238E27FC236}">
                <a16:creationId xmlns:a16="http://schemas.microsoft.com/office/drawing/2014/main" id="{9CD18C8E-424F-003E-13FD-0D583ADBD116}"/>
              </a:ext>
            </a:extLst>
          </p:cNvPr>
          <p:cNvSpPr/>
          <p:nvPr/>
        </p:nvSpPr>
        <p:spPr>
          <a:xfrm>
            <a:off x="2991886" y="3198330"/>
            <a:ext cx="577215" cy="154276"/>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700" kern="0" dirty="0" err="1">
                <a:solidFill>
                  <a:sysClr val="windowText" lastClr="000000"/>
                </a:solidFill>
                <a:latin typeface="+mn-ea"/>
                <a:cs typeface="+mn-ea"/>
                <a:sym typeface="+mn-lt"/>
              </a:rPr>
              <a:t>试乘试驾</a:t>
            </a:r>
            <a:endParaRPr kumimoji="1" lang="en-GB" sz="700" kern="0" dirty="0">
              <a:solidFill>
                <a:sysClr val="windowText" lastClr="000000"/>
              </a:solidFill>
              <a:latin typeface="+mn-ea"/>
              <a:cs typeface="+mn-ea"/>
              <a:sym typeface="+mn-lt"/>
            </a:endParaRPr>
          </a:p>
        </p:txBody>
      </p:sp>
      <p:sp>
        <p:nvSpPr>
          <p:cNvPr id="173" name="Rectangle 122">
            <a:extLst>
              <a:ext uri="{FF2B5EF4-FFF2-40B4-BE49-F238E27FC236}">
                <a16:creationId xmlns:a16="http://schemas.microsoft.com/office/drawing/2014/main" id="{835E4DF3-5A11-B437-E58E-A7F45AF0ECC1}"/>
              </a:ext>
            </a:extLst>
          </p:cNvPr>
          <p:cNvSpPr/>
          <p:nvPr/>
        </p:nvSpPr>
        <p:spPr>
          <a:xfrm>
            <a:off x="2144621" y="3605308"/>
            <a:ext cx="9869218" cy="177411"/>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700" b="0" i="0" u="none" strike="noStrike" kern="0" cap="none" spc="0" normalizeH="0" baseline="0" noProof="0" dirty="0" err="1">
                <a:ln>
                  <a:noFill/>
                </a:ln>
                <a:solidFill>
                  <a:sysClr val="windowText" lastClr="000000"/>
                </a:solidFill>
                <a:effectLst/>
                <a:uLnTx/>
                <a:uFillTx/>
                <a:latin typeface="+mn-ea"/>
                <a:cs typeface="+mn-ea"/>
                <a:sym typeface="+mn-lt"/>
              </a:rPr>
              <a:t>客户关怀中心</a:t>
            </a:r>
            <a:endParaRPr kumimoji="1" lang="en-GB" sz="7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74" name="Rectangle 69">
            <a:extLst>
              <a:ext uri="{FF2B5EF4-FFF2-40B4-BE49-F238E27FC236}">
                <a16:creationId xmlns:a16="http://schemas.microsoft.com/office/drawing/2014/main" id="{3042C729-4AD0-BE24-AC67-E03416C736CF}"/>
              </a:ext>
            </a:extLst>
          </p:cNvPr>
          <p:cNvSpPr/>
          <p:nvPr/>
        </p:nvSpPr>
        <p:spPr>
          <a:xfrm>
            <a:off x="1887769" y="4991889"/>
            <a:ext cx="1719938" cy="144000"/>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900" b="0" i="0" u="none" strike="noStrike" kern="0" cap="none" spc="0" normalizeH="0" baseline="0" noProof="0" dirty="0">
                <a:ln>
                  <a:noFill/>
                </a:ln>
                <a:solidFill>
                  <a:sysClr val="windowText" lastClr="000000"/>
                </a:solidFill>
                <a:effectLst/>
                <a:uLnTx/>
                <a:uFillTx/>
                <a:latin typeface="+mn-ea"/>
                <a:cs typeface="+mn-ea"/>
                <a:sym typeface="+mn-lt"/>
              </a:rPr>
              <a:t>XR</a:t>
            </a:r>
            <a:r>
              <a:rPr kumimoji="1" lang="zh-CN" altLang="en-US" sz="900" b="0" i="0" u="none" strike="noStrike" kern="0" cap="none" spc="0" normalizeH="0" baseline="0" noProof="0" dirty="0">
                <a:ln>
                  <a:noFill/>
                </a:ln>
                <a:solidFill>
                  <a:sysClr val="windowText" lastClr="000000"/>
                </a:solidFill>
                <a:effectLst/>
                <a:uLnTx/>
                <a:uFillTx/>
                <a:latin typeface="+mn-ea"/>
                <a:cs typeface="+mn-ea"/>
                <a:sym typeface="+mn-lt"/>
              </a:rPr>
              <a:t>平台</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75" name="Rectangle 82">
            <a:extLst>
              <a:ext uri="{FF2B5EF4-FFF2-40B4-BE49-F238E27FC236}">
                <a16:creationId xmlns:a16="http://schemas.microsoft.com/office/drawing/2014/main" id="{47416806-6EE7-9D82-DB26-7ABC641FB5E0}"/>
              </a:ext>
            </a:extLst>
          </p:cNvPr>
          <p:cNvSpPr/>
          <p:nvPr/>
        </p:nvSpPr>
        <p:spPr>
          <a:xfrm>
            <a:off x="2154076" y="3003770"/>
            <a:ext cx="868185" cy="145189"/>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600" kern="0" dirty="0" err="1">
                <a:solidFill>
                  <a:sysClr val="windowText" lastClr="000000"/>
                </a:solidFill>
                <a:latin typeface="+mn-ea"/>
                <a:cs typeface="+mn-ea"/>
                <a:sym typeface="+mn-lt"/>
              </a:rPr>
              <a:t>E祺看车</a:t>
            </a:r>
            <a:endParaRPr kumimoji="1" lang="en-GB" sz="600" kern="0" dirty="0">
              <a:solidFill>
                <a:sysClr val="windowText" lastClr="000000"/>
              </a:solidFill>
              <a:latin typeface="+mn-ea"/>
              <a:cs typeface="+mn-ea"/>
              <a:sym typeface="+mn-lt"/>
            </a:endParaRPr>
          </a:p>
        </p:txBody>
      </p:sp>
      <p:sp>
        <p:nvSpPr>
          <p:cNvPr id="176" name="Rectangle 82">
            <a:extLst>
              <a:ext uri="{FF2B5EF4-FFF2-40B4-BE49-F238E27FC236}">
                <a16:creationId xmlns:a16="http://schemas.microsoft.com/office/drawing/2014/main" id="{0E661BB7-C181-6BF8-32BC-828C12B6AAF6}"/>
              </a:ext>
            </a:extLst>
          </p:cNvPr>
          <p:cNvSpPr/>
          <p:nvPr/>
        </p:nvSpPr>
        <p:spPr>
          <a:xfrm>
            <a:off x="3104171" y="3003770"/>
            <a:ext cx="868185" cy="145189"/>
          </a:xfrm>
          <a:prstGeom prst="rect">
            <a:avLst/>
          </a:prstGeom>
          <a:solidFill>
            <a:srgbClr val="FFC000"/>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600" kern="0" dirty="0" err="1">
                <a:solidFill>
                  <a:sysClr val="windowText" lastClr="000000"/>
                </a:solidFill>
                <a:latin typeface="+mn-ea"/>
                <a:cs typeface="+mn-ea"/>
                <a:sym typeface="+mn-lt"/>
              </a:rPr>
              <a:t>智能销售助手</a:t>
            </a:r>
            <a:endParaRPr kumimoji="1" lang="en-GB" sz="600" kern="0" dirty="0">
              <a:solidFill>
                <a:sysClr val="windowText" lastClr="000000"/>
              </a:solidFill>
              <a:latin typeface="+mn-ea"/>
              <a:cs typeface="+mn-ea"/>
              <a:sym typeface="+mn-lt"/>
            </a:endParaRPr>
          </a:p>
        </p:txBody>
      </p:sp>
      <p:sp>
        <p:nvSpPr>
          <p:cNvPr id="177" name="Rectangle 82">
            <a:extLst>
              <a:ext uri="{FF2B5EF4-FFF2-40B4-BE49-F238E27FC236}">
                <a16:creationId xmlns:a16="http://schemas.microsoft.com/office/drawing/2014/main" id="{52E63470-6B50-235D-4399-2D4B773CC48C}"/>
              </a:ext>
            </a:extLst>
          </p:cNvPr>
          <p:cNvSpPr/>
          <p:nvPr/>
        </p:nvSpPr>
        <p:spPr>
          <a:xfrm>
            <a:off x="3098536" y="2807858"/>
            <a:ext cx="2576870" cy="157274"/>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sz="800" kern="0">
                <a:solidFill>
                  <a:sysClr val="windowText" lastClr="000000"/>
                </a:solidFill>
                <a:latin typeface="+mn-ea"/>
                <a:cs typeface="+mn-ea"/>
                <a:sym typeface="+mn-lt"/>
              </a:rPr>
              <a:t>GIS</a:t>
            </a:r>
            <a:endParaRPr kumimoji="1" lang="en-GB" sz="800" kern="0" dirty="0">
              <a:solidFill>
                <a:sysClr val="windowText" lastClr="000000"/>
              </a:solidFill>
              <a:latin typeface="+mn-ea"/>
              <a:cs typeface="+mn-ea"/>
              <a:sym typeface="+mn-lt"/>
            </a:endParaRPr>
          </a:p>
        </p:txBody>
      </p:sp>
      <p:sp>
        <p:nvSpPr>
          <p:cNvPr id="178" name="Rectangle 82">
            <a:extLst>
              <a:ext uri="{FF2B5EF4-FFF2-40B4-BE49-F238E27FC236}">
                <a16:creationId xmlns:a16="http://schemas.microsoft.com/office/drawing/2014/main" id="{BCDC9F38-24A3-0C88-BCE2-321F5F434D19}"/>
              </a:ext>
            </a:extLst>
          </p:cNvPr>
          <p:cNvSpPr/>
          <p:nvPr/>
        </p:nvSpPr>
        <p:spPr>
          <a:xfrm>
            <a:off x="10574390" y="2632609"/>
            <a:ext cx="535701" cy="150591"/>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sz="800" kern="0" dirty="0">
                <a:solidFill>
                  <a:sysClr val="windowText" lastClr="000000"/>
                </a:solidFill>
                <a:latin typeface="+mn-ea"/>
                <a:cs typeface="+mn-ea"/>
                <a:sym typeface="+mn-lt"/>
              </a:rPr>
              <a:t>E</a:t>
            </a:r>
            <a:r>
              <a:rPr kumimoji="1" lang="zh-CN" altLang="en-US" sz="800" kern="0" dirty="0">
                <a:solidFill>
                  <a:sysClr val="windowText" lastClr="000000"/>
                </a:solidFill>
                <a:latin typeface="+mn-ea"/>
                <a:cs typeface="+mn-ea"/>
                <a:sym typeface="+mn-lt"/>
              </a:rPr>
              <a:t>祺购</a:t>
            </a:r>
            <a:endParaRPr kumimoji="1" lang="en-GB" sz="800" kern="0" dirty="0">
              <a:solidFill>
                <a:sysClr val="windowText" lastClr="000000"/>
              </a:solidFill>
              <a:latin typeface="+mn-ea"/>
              <a:cs typeface="+mn-ea"/>
              <a:sym typeface="+mn-lt"/>
            </a:endParaRPr>
          </a:p>
        </p:txBody>
      </p:sp>
      <p:sp>
        <p:nvSpPr>
          <p:cNvPr id="179" name="Rectangle 82">
            <a:extLst>
              <a:ext uri="{FF2B5EF4-FFF2-40B4-BE49-F238E27FC236}">
                <a16:creationId xmlns:a16="http://schemas.microsoft.com/office/drawing/2014/main" id="{C942A614-4CE0-AD28-A6A6-D724E6B19346}"/>
              </a:ext>
            </a:extLst>
          </p:cNvPr>
          <p:cNvSpPr/>
          <p:nvPr/>
        </p:nvSpPr>
        <p:spPr>
          <a:xfrm>
            <a:off x="11155337" y="2632609"/>
            <a:ext cx="535701" cy="150591"/>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sz="800" kern="0" dirty="0">
                <a:solidFill>
                  <a:sysClr val="windowText" lastClr="000000"/>
                </a:solidFill>
                <a:latin typeface="+mn-ea"/>
                <a:cs typeface="+mn-ea"/>
                <a:sym typeface="+mn-lt"/>
              </a:rPr>
              <a:t>E</a:t>
            </a:r>
            <a:r>
              <a:rPr kumimoji="1" lang="zh-CN" altLang="en-US" sz="800" kern="0" dirty="0">
                <a:solidFill>
                  <a:sysClr val="windowText" lastClr="000000"/>
                </a:solidFill>
                <a:latin typeface="+mn-ea"/>
                <a:cs typeface="+mn-ea"/>
                <a:sym typeface="+mn-lt"/>
              </a:rPr>
              <a:t>祺兑</a:t>
            </a:r>
            <a:endParaRPr kumimoji="1" lang="en-GB" sz="800" kern="0" dirty="0">
              <a:solidFill>
                <a:sysClr val="windowText" lastClr="000000"/>
              </a:solidFill>
              <a:latin typeface="+mn-ea"/>
              <a:cs typeface="+mn-ea"/>
              <a:sym typeface="+mn-lt"/>
            </a:endParaRPr>
          </a:p>
        </p:txBody>
      </p:sp>
      <p:sp>
        <p:nvSpPr>
          <p:cNvPr id="180" name="Rectangle 122">
            <a:extLst>
              <a:ext uri="{FF2B5EF4-FFF2-40B4-BE49-F238E27FC236}">
                <a16:creationId xmlns:a16="http://schemas.microsoft.com/office/drawing/2014/main" id="{399DCB5E-B7CF-4E5F-8B61-36564FC06083}"/>
              </a:ext>
            </a:extLst>
          </p:cNvPr>
          <p:cNvSpPr/>
          <p:nvPr/>
        </p:nvSpPr>
        <p:spPr>
          <a:xfrm>
            <a:off x="5736612" y="2657883"/>
            <a:ext cx="1073423" cy="144000"/>
          </a:xfrm>
          <a:prstGeom prst="rect">
            <a:avLst/>
          </a:prstGeom>
          <a:solidFill>
            <a:schemeClr val="bg1">
              <a:lumMod val="85000"/>
            </a:schemeClr>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900" kern="0" noProof="0" dirty="0" smtClean="0">
                <a:solidFill>
                  <a:sysClr val="windowText" lastClr="000000"/>
                </a:solidFill>
                <a:latin typeface="+mn-ea"/>
                <a:cs typeface="+mn-ea"/>
                <a:sym typeface="+mn-lt"/>
              </a:rPr>
              <a:t>车联网</a:t>
            </a:r>
            <a:endParaRPr kumimoji="1" lang="en-GB" sz="900" b="0" i="0" u="none" strike="noStrike" kern="0" cap="none" spc="0" normalizeH="0" baseline="0" noProof="0" dirty="0">
              <a:ln>
                <a:noFill/>
              </a:ln>
              <a:solidFill>
                <a:sysClr val="windowText" lastClr="000000"/>
              </a:solidFill>
              <a:effectLst/>
              <a:uLnTx/>
              <a:uFillTx/>
              <a:latin typeface="+mn-ea"/>
              <a:cs typeface="+mn-ea"/>
              <a:sym typeface="+mn-lt"/>
            </a:endParaRPr>
          </a:p>
        </p:txBody>
      </p:sp>
      <p:sp>
        <p:nvSpPr>
          <p:cNvPr id="193" name="矩形 192"/>
          <p:cNvSpPr/>
          <p:nvPr/>
        </p:nvSpPr>
        <p:spPr>
          <a:xfrm>
            <a:off x="-279257" y="-108316"/>
            <a:ext cx="12546957" cy="7095281"/>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2" name="椭圆 201"/>
          <p:cNvSpPr/>
          <p:nvPr/>
        </p:nvSpPr>
        <p:spPr>
          <a:xfrm>
            <a:off x="2068696" y="3160486"/>
            <a:ext cx="967510" cy="224194"/>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3" name="文本框 202"/>
          <p:cNvSpPr txBox="1"/>
          <p:nvPr/>
        </p:nvSpPr>
        <p:spPr>
          <a:xfrm>
            <a:off x="3597035" y="3398597"/>
            <a:ext cx="4326826" cy="338554"/>
          </a:xfrm>
          <a:prstGeom prst="rect">
            <a:avLst/>
          </a:prstGeom>
          <a:noFill/>
        </p:spPr>
        <p:txBody>
          <a:bodyPr wrap="none" rtlCol="0">
            <a:spAutoFit/>
          </a:bodyPr>
          <a:lstStyle/>
          <a:p>
            <a:r>
              <a:rPr lang="en-US" altLang="zh-CN" sz="1600" b="1" dirty="0" smtClean="0">
                <a:solidFill>
                  <a:schemeClr val="bg1"/>
                </a:solidFill>
                <a:cs typeface="+mn-ea"/>
                <a:sym typeface="+mn-lt"/>
              </a:rPr>
              <a:t>1. </a:t>
            </a:r>
            <a:r>
              <a:rPr lang="zh-CN" altLang="en-US" sz="1600" b="1" dirty="0" smtClean="0">
                <a:solidFill>
                  <a:schemeClr val="bg1"/>
                </a:solidFill>
                <a:cs typeface="+mn-ea"/>
                <a:sym typeface="+mn-lt"/>
              </a:rPr>
              <a:t>用户</a:t>
            </a:r>
            <a:r>
              <a:rPr lang="zh-CN" altLang="en-US" sz="1600" b="1" dirty="0">
                <a:solidFill>
                  <a:schemeClr val="bg1"/>
                </a:solidFill>
                <a:cs typeface="+mn-ea"/>
                <a:sym typeface="+mn-lt"/>
              </a:rPr>
              <a:t>运营平台</a:t>
            </a:r>
            <a:r>
              <a:rPr lang="en-US" altLang="zh-CN" sz="1600" b="1" dirty="0">
                <a:solidFill>
                  <a:schemeClr val="bg1"/>
                </a:solidFill>
                <a:cs typeface="+mn-ea"/>
                <a:sym typeface="+mn-lt"/>
              </a:rPr>
              <a:t>SCRM</a:t>
            </a:r>
            <a:r>
              <a:rPr lang="zh-CN" altLang="en-US" sz="1600" b="1" dirty="0">
                <a:solidFill>
                  <a:schemeClr val="bg1"/>
                </a:solidFill>
                <a:cs typeface="+mn-ea"/>
                <a:sym typeface="+mn-lt"/>
              </a:rPr>
              <a:t>产品能力提升方案汇报 </a:t>
            </a:r>
          </a:p>
        </p:txBody>
      </p:sp>
      <p:sp>
        <p:nvSpPr>
          <p:cNvPr id="192" name="椭圆 191"/>
          <p:cNvSpPr/>
          <p:nvPr/>
        </p:nvSpPr>
        <p:spPr>
          <a:xfrm>
            <a:off x="3726673" y="3154037"/>
            <a:ext cx="996776" cy="197726"/>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1" name="文本框 200"/>
          <p:cNvSpPr txBox="1"/>
          <p:nvPr/>
        </p:nvSpPr>
        <p:spPr>
          <a:xfrm>
            <a:off x="1740206" y="2736853"/>
            <a:ext cx="3108543" cy="338554"/>
          </a:xfrm>
          <a:prstGeom prst="rect">
            <a:avLst/>
          </a:prstGeom>
          <a:noFill/>
        </p:spPr>
        <p:txBody>
          <a:bodyPr wrap="none" rtlCol="0">
            <a:spAutoFit/>
          </a:bodyPr>
          <a:lstStyle/>
          <a:p>
            <a:r>
              <a:rPr lang="en-US" altLang="zh-CN" sz="1600" b="1" dirty="0" smtClean="0">
                <a:solidFill>
                  <a:schemeClr val="bg1"/>
                </a:solidFill>
                <a:cs typeface="+mn-ea"/>
                <a:sym typeface="+mn-lt"/>
              </a:rPr>
              <a:t>2. </a:t>
            </a:r>
            <a:r>
              <a:rPr lang="zh-CN" altLang="en-US" sz="1600" b="1" dirty="0" smtClean="0">
                <a:solidFill>
                  <a:schemeClr val="bg1"/>
                </a:solidFill>
                <a:cs typeface="+mn-ea"/>
                <a:sym typeface="+mn-lt"/>
              </a:rPr>
              <a:t>智能</a:t>
            </a:r>
            <a:r>
              <a:rPr lang="zh-CN" altLang="en-US" sz="1600" b="1" dirty="0">
                <a:solidFill>
                  <a:schemeClr val="bg1"/>
                </a:solidFill>
                <a:cs typeface="+mn-ea"/>
                <a:sym typeface="+mn-lt"/>
              </a:rPr>
              <a:t>线索平台方案汇报 佘玲玲</a:t>
            </a:r>
          </a:p>
        </p:txBody>
      </p:sp>
      <p:sp>
        <p:nvSpPr>
          <p:cNvPr id="187" name="椭圆 186"/>
          <p:cNvSpPr/>
          <p:nvPr/>
        </p:nvSpPr>
        <p:spPr>
          <a:xfrm>
            <a:off x="5275334" y="2962035"/>
            <a:ext cx="635990" cy="205141"/>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8" name="椭圆 187"/>
          <p:cNvSpPr/>
          <p:nvPr/>
        </p:nvSpPr>
        <p:spPr>
          <a:xfrm>
            <a:off x="7667644" y="5789168"/>
            <a:ext cx="2828360" cy="249934"/>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9" name="文本框 188"/>
          <p:cNvSpPr txBox="1"/>
          <p:nvPr/>
        </p:nvSpPr>
        <p:spPr>
          <a:xfrm>
            <a:off x="6829697" y="5397575"/>
            <a:ext cx="3340851" cy="584775"/>
          </a:xfrm>
          <a:prstGeom prst="rect">
            <a:avLst/>
          </a:prstGeom>
          <a:noFill/>
        </p:spPr>
        <p:txBody>
          <a:bodyPr wrap="none" rtlCol="0">
            <a:spAutoFit/>
          </a:bodyPr>
          <a:lstStyle/>
          <a:p>
            <a:r>
              <a:rPr lang="en-US" altLang="zh-CN" sz="1600" b="1" dirty="0">
                <a:solidFill>
                  <a:schemeClr val="bg1"/>
                </a:solidFill>
                <a:cs typeface="+mn-ea"/>
                <a:sym typeface="+mn-lt"/>
              </a:rPr>
              <a:t>3. APP</a:t>
            </a:r>
            <a:r>
              <a:rPr lang="zh-CN" altLang="en-US" sz="1600" b="1" dirty="0">
                <a:solidFill>
                  <a:schemeClr val="bg1"/>
                </a:solidFill>
                <a:cs typeface="+mn-ea"/>
                <a:sym typeface="+mn-lt"/>
              </a:rPr>
              <a:t>保险及金融阶段汇报 黎嘉衡 </a:t>
            </a:r>
          </a:p>
          <a:p>
            <a:endParaRPr lang="zh-CN" altLang="en-US" sz="1600" b="1" dirty="0">
              <a:solidFill>
                <a:schemeClr val="bg1"/>
              </a:solidFill>
              <a:cs typeface="+mn-ea"/>
              <a:sym typeface="+mn-lt"/>
            </a:endParaRPr>
          </a:p>
        </p:txBody>
      </p:sp>
    </p:spTree>
    <p:extLst>
      <p:ext uri="{BB962C8B-B14F-4D97-AF65-F5344CB8AC3E}">
        <p14:creationId xmlns:p14="http://schemas.microsoft.com/office/powerpoint/2010/main" val="21705149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p:cNvSpPr/>
          <p:nvPr/>
        </p:nvSpPr>
        <p:spPr>
          <a:xfrm>
            <a:off x="377079" y="399530"/>
            <a:ext cx="6002767" cy="461643"/>
          </a:xfrm>
          <a:prstGeom prst="rect">
            <a:avLst/>
          </a:prstGeom>
          <a:noFill/>
          <a:ln w="9525">
            <a:noFill/>
          </a:ln>
        </p:spPr>
        <p:txBody>
          <a:bodyPr wrap="square" lIns="91419" tIns="45709" rIns="91419" bIns="45709">
            <a:spAutoFit/>
          </a:bodyPr>
          <a:lstStyle/>
          <a:p>
            <a:pPr eaLnBrk="1" hangingPunct="1"/>
            <a:r>
              <a:rPr lang="zh-CN" altLang="en-US" sz="2400" b="1" dirty="0">
                <a:latin typeface="微软雅黑" panose="020B0503020204020204" pitchFamily="34" charset="-122"/>
                <a:ea typeface="微软雅黑" panose="020B0503020204020204" pitchFamily="34" charset="-122"/>
              </a:rPr>
              <a:t>联合营销团队作战模块课题清单</a:t>
            </a:r>
          </a:p>
        </p:txBody>
      </p:sp>
      <p:graphicFrame>
        <p:nvGraphicFramePr>
          <p:cNvPr id="10" name="表格 9"/>
          <p:cNvGraphicFramePr>
            <a:graphicFrameLocks noGrp="1"/>
          </p:cNvGraphicFramePr>
          <p:nvPr>
            <p:custDataLst>
              <p:tags r:id="rId1"/>
            </p:custDataLst>
            <p:extLst>
              <p:ext uri="{D42A27DB-BD31-4B8C-83A1-F6EECF244321}">
                <p14:modId xmlns:p14="http://schemas.microsoft.com/office/powerpoint/2010/main" val="1764113885"/>
              </p:ext>
            </p:extLst>
          </p:nvPr>
        </p:nvGraphicFramePr>
        <p:xfrm>
          <a:off x="370171" y="980728"/>
          <a:ext cx="11334360" cy="4980226"/>
        </p:xfrm>
        <a:graphic>
          <a:graphicData uri="http://schemas.openxmlformats.org/drawingml/2006/table">
            <a:tbl>
              <a:tblPr/>
              <a:tblGrid>
                <a:gridCol w="528320">
                  <a:extLst>
                    <a:ext uri="{9D8B030D-6E8A-4147-A177-3AD203B41FA5}">
                      <a16:colId xmlns:a16="http://schemas.microsoft.com/office/drawing/2014/main" val="20000"/>
                    </a:ext>
                  </a:extLst>
                </a:gridCol>
                <a:gridCol w="1957149">
                  <a:extLst>
                    <a:ext uri="{9D8B030D-6E8A-4147-A177-3AD203B41FA5}">
                      <a16:colId xmlns:a16="http://schemas.microsoft.com/office/drawing/2014/main" val="20001"/>
                    </a:ext>
                  </a:extLst>
                </a:gridCol>
                <a:gridCol w="2088232">
                  <a:extLst>
                    <a:ext uri="{9D8B030D-6E8A-4147-A177-3AD203B41FA5}">
                      <a16:colId xmlns:a16="http://schemas.microsoft.com/office/drawing/2014/main" val="20002"/>
                    </a:ext>
                  </a:extLst>
                </a:gridCol>
                <a:gridCol w="5074299">
                  <a:extLst>
                    <a:ext uri="{9D8B030D-6E8A-4147-A177-3AD203B41FA5}">
                      <a16:colId xmlns:a16="http://schemas.microsoft.com/office/drawing/2014/main" val="20003"/>
                    </a:ext>
                  </a:extLst>
                </a:gridCol>
                <a:gridCol w="869110">
                  <a:extLst>
                    <a:ext uri="{9D8B030D-6E8A-4147-A177-3AD203B41FA5}">
                      <a16:colId xmlns:a16="http://schemas.microsoft.com/office/drawing/2014/main" val="20004"/>
                    </a:ext>
                  </a:extLst>
                </a:gridCol>
                <a:gridCol w="817250">
                  <a:extLst>
                    <a:ext uri="{9D8B030D-6E8A-4147-A177-3AD203B41FA5}">
                      <a16:colId xmlns:a16="http://schemas.microsoft.com/office/drawing/2014/main" val="20005"/>
                    </a:ext>
                  </a:extLst>
                </a:gridCol>
              </a:tblGrid>
              <a:tr h="462226">
                <a:tc>
                  <a:txBody>
                    <a:bodyPr/>
                    <a:lstStyle/>
                    <a:p>
                      <a:pPr algn="ctr" fontAlgn="ctr">
                        <a:lnSpc>
                          <a:spcPct val="150000"/>
                        </a:lnSpc>
                      </a:pPr>
                      <a:r>
                        <a:rPr lang="zh-CN" altLang="en-US" sz="1200" b="1" i="0" u="none" strike="noStrike" dirty="0">
                          <a:solidFill>
                            <a:srgbClr val="000000"/>
                          </a:solidFill>
                          <a:effectLst/>
                          <a:latin typeface="+mn-ea"/>
                          <a:ea typeface="+mn-ea"/>
                        </a:rPr>
                        <a:t>序号</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ea"/>
                          <a:ea typeface="+mn-ea"/>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ea"/>
                          <a:ea typeface="+mn-ea"/>
                        </a:rPr>
                        <a:t>解决建议</a:t>
                      </a:r>
                      <a:r>
                        <a:rPr lang="en-US" altLang="zh-CN" sz="1200" b="1" i="0" u="none" strike="noStrike" dirty="0">
                          <a:solidFill>
                            <a:srgbClr val="000000"/>
                          </a:solidFill>
                          <a:effectLst/>
                          <a:latin typeface="+mn-ea"/>
                          <a:ea typeface="+mn-ea"/>
                        </a:rPr>
                        <a:t>/</a:t>
                      </a:r>
                      <a:r>
                        <a:rPr lang="zh-CN" altLang="en-US" sz="1200" b="1" i="0" u="none" strike="noStrike" dirty="0">
                          <a:solidFill>
                            <a:srgbClr val="000000"/>
                          </a:solidFill>
                          <a:effectLst/>
                          <a:latin typeface="+mn-ea"/>
                          <a:ea typeface="+mn-ea"/>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ea"/>
                          <a:ea typeface="+mn-ea"/>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ea"/>
                          <a:ea typeface="+mn-ea"/>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ea"/>
                          <a:ea typeface="+mn-ea"/>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0"/>
                  </a:ext>
                </a:extLst>
              </a:tr>
              <a:tr h="900000">
                <a:tc>
                  <a:txBody>
                    <a:bodyPr/>
                    <a:lstStyle/>
                    <a:p>
                      <a:pPr marL="0" algn="ctr" defTabSz="914400" rtl="0" eaLnBrk="1" fontAlgn="ctr" latinLnBrk="0" hangingPunct="1">
                        <a:lnSpc>
                          <a:spcPct val="150000"/>
                        </a:lnSpc>
                        <a:buNone/>
                      </a:pPr>
                      <a:r>
                        <a:rPr lang="en-US" altLang="zh-CN" sz="1200" b="0" kern="1200" dirty="0">
                          <a:solidFill>
                            <a:schemeClr val="tx1"/>
                          </a:solidFill>
                          <a:effectLst/>
                          <a:latin typeface="+mn-ea"/>
                          <a:ea typeface="+mn-ea"/>
                          <a:cs typeface="+mn-cs"/>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b="0" dirty="0">
                          <a:solidFill>
                            <a:schemeClr val="tx1"/>
                          </a:solidFill>
                          <a:effectLst/>
                          <a:latin typeface="+mn-ea"/>
                          <a:ea typeface="+mn-ea"/>
                        </a:rPr>
                        <a:t>小游戏对接方案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zh-CN" altLang="en-US" sz="1200" b="0" dirty="0">
                          <a:solidFill>
                            <a:schemeClr val="tx1"/>
                          </a:solidFill>
                          <a:effectLst/>
                          <a:latin typeface="+mn-ea"/>
                          <a:ea typeface="+mn-ea"/>
                        </a:rPr>
                        <a:t>小游戏接入方案确定，</a:t>
                      </a:r>
                      <a:r>
                        <a:rPr lang="en-US" altLang="zh-CN" sz="1200" b="0" dirty="0">
                          <a:solidFill>
                            <a:schemeClr val="tx1"/>
                          </a:solidFill>
                          <a:effectLst/>
                          <a:latin typeface="+mn-ea"/>
                          <a:ea typeface="+mn-ea"/>
                        </a:rPr>
                        <a:t>11</a:t>
                      </a:r>
                      <a:r>
                        <a:rPr lang="zh-CN" altLang="en-US" sz="1200" b="0" dirty="0">
                          <a:solidFill>
                            <a:schemeClr val="tx1"/>
                          </a:solidFill>
                          <a:effectLst/>
                          <a:latin typeface="+mn-ea"/>
                          <a:ea typeface="+mn-ea"/>
                        </a:rPr>
                        <a:t>月底上线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sz="1200" dirty="0" smtClean="0">
                          <a:solidFill>
                            <a:srgbClr val="FF0000"/>
                          </a:solidFill>
                          <a:effectLst/>
                          <a:latin typeface="+mn-ea"/>
                          <a:ea typeface="+mn-ea"/>
                        </a:rPr>
                        <a:t>1118 </a:t>
                      </a:r>
                      <a:r>
                        <a:rPr lang="zh-CN" altLang="en-US" sz="1200" dirty="0" smtClean="0">
                          <a:solidFill>
                            <a:srgbClr val="FF0000"/>
                          </a:solidFill>
                          <a:effectLst/>
                          <a:latin typeface="+mn-ea"/>
                          <a:ea typeface="+mn-ea"/>
                        </a:rPr>
                        <a:t>月底完成单体开发，但需采购完成才能正式上线，受采购合规问题影响，</a:t>
                      </a:r>
                      <a:r>
                        <a:rPr lang="en-US" altLang="zh-CN" sz="1200" dirty="0" smtClean="0">
                          <a:solidFill>
                            <a:srgbClr val="FF0000"/>
                          </a:solidFill>
                          <a:effectLst/>
                          <a:latin typeface="+mn-ea"/>
                          <a:ea typeface="+mn-ea"/>
                        </a:rPr>
                        <a:t>11</a:t>
                      </a:r>
                      <a:r>
                        <a:rPr lang="zh-CN" altLang="en-US" sz="1200" dirty="0" smtClean="0">
                          <a:solidFill>
                            <a:srgbClr val="FF0000"/>
                          </a:solidFill>
                          <a:effectLst/>
                          <a:latin typeface="+mn-ea"/>
                          <a:ea typeface="+mn-ea"/>
                        </a:rPr>
                        <a:t>月底小游戏功能上线存在风险。需尽快推进小游戏采购立项。</a:t>
                      </a:r>
                      <a:endParaRPr lang="en-US" sz="1200" dirty="0" smtClean="0">
                        <a:solidFill>
                          <a:srgbClr val="FF0000"/>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a:solidFill>
                            <a:srgbClr val="000000"/>
                          </a:solidFill>
                          <a:effectLst/>
                          <a:latin typeface="+mn-ea"/>
                          <a:ea typeface="+mn-ea"/>
                        </a:rPr>
                        <a:t>刁榕辉</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a:solidFill>
                            <a:srgbClr val="000000"/>
                          </a:solidFill>
                          <a:effectLst/>
                          <a:latin typeface="+mn-ea"/>
                          <a:ea typeface="+mn-ea"/>
                        </a:rPr>
                        <a:t>吴翔宇</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332000">
                <a:tc>
                  <a:txBody>
                    <a:bodyPr/>
                    <a:lstStyle/>
                    <a:p>
                      <a:pPr marL="0" algn="ctr" defTabSz="914400" rtl="0" eaLnBrk="1" fontAlgn="ctr" latinLnBrk="0" hangingPunct="1">
                        <a:lnSpc>
                          <a:spcPct val="150000"/>
                        </a:lnSpc>
                      </a:pPr>
                      <a:r>
                        <a:rPr lang="en-US" altLang="zh-CN" sz="1200" b="0" kern="1200" dirty="0">
                          <a:solidFill>
                            <a:schemeClr val="tx1"/>
                          </a:solidFill>
                          <a:effectLst/>
                          <a:latin typeface="+mn-ea"/>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b="0" dirty="0">
                          <a:solidFill>
                            <a:schemeClr val="tx1"/>
                          </a:solidFill>
                          <a:effectLst/>
                          <a:latin typeface="+mn-ea"/>
                          <a:ea typeface="+mn-ea"/>
                        </a:rPr>
                        <a:t>支付渠道（民生银行</a:t>
                      </a:r>
                      <a:r>
                        <a:rPr lang="zh-CN" altLang="en-US" sz="1200" b="0" dirty="0" smtClean="0">
                          <a:solidFill>
                            <a:schemeClr val="tx1"/>
                          </a:solidFill>
                          <a:effectLst/>
                          <a:latin typeface="+mn-ea"/>
                          <a:ea typeface="+mn-ea"/>
                        </a:rPr>
                        <a:t>）</a:t>
                      </a:r>
                      <a:endParaRPr lang="en-US" altLang="zh-CN" sz="1200" b="0" dirty="0" smtClean="0">
                        <a:solidFill>
                          <a:schemeClr val="tx1"/>
                        </a:solidFill>
                        <a:effectLst/>
                        <a:latin typeface="+mn-ea"/>
                        <a:ea typeface="+mn-ea"/>
                      </a:endParaRPr>
                    </a:p>
                    <a:p>
                      <a:pPr algn="l" fontAlgn="ctr" latinLnBrk="0">
                        <a:lnSpc>
                          <a:spcPct val="150000"/>
                        </a:lnSpc>
                      </a:pPr>
                      <a:r>
                        <a:rPr lang="zh-CN" altLang="en-US" sz="1200" b="0" dirty="0" smtClean="0">
                          <a:solidFill>
                            <a:schemeClr val="tx1"/>
                          </a:solidFill>
                          <a:effectLst/>
                          <a:latin typeface="+mn-ea"/>
                          <a:ea typeface="+mn-ea"/>
                        </a:rPr>
                        <a:t>对接</a:t>
                      </a:r>
                      <a:endParaRPr lang="zh-CN" altLang="en-US" sz="1200" b="0" dirty="0">
                        <a:solidFill>
                          <a:schemeClr val="tx1"/>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zh-CN" altLang="en-US" sz="1200" b="0" dirty="0">
                          <a:solidFill>
                            <a:schemeClr val="tx1"/>
                          </a:solidFill>
                          <a:effectLst/>
                          <a:latin typeface="+mn-ea"/>
                          <a:ea typeface="+mn-ea"/>
                        </a:rPr>
                        <a:t>民生银行接入，</a:t>
                      </a:r>
                      <a:r>
                        <a:rPr lang="en-US" altLang="zh-CN" sz="1200" b="0" dirty="0">
                          <a:solidFill>
                            <a:schemeClr val="tx1"/>
                          </a:solidFill>
                          <a:effectLst/>
                          <a:latin typeface="+mn-ea"/>
                          <a:ea typeface="+mn-ea"/>
                        </a:rPr>
                        <a:t>11</a:t>
                      </a:r>
                      <a:r>
                        <a:rPr lang="zh-CN" altLang="en-US" sz="1200" b="0" dirty="0">
                          <a:solidFill>
                            <a:schemeClr val="tx1"/>
                          </a:solidFill>
                          <a:effectLst/>
                          <a:latin typeface="+mn-ea"/>
                          <a:ea typeface="+mn-ea"/>
                        </a:rPr>
                        <a:t>月底上线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sz="1200" dirty="0" smtClean="0">
                          <a:solidFill>
                            <a:srgbClr val="FF0000"/>
                          </a:solidFill>
                          <a:effectLst/>
                          <a:latin typeface="+mn-ea"/>
                          <a:ea typeface="+mn-ea"/>
                        </a:rPr>
                        <a:t>1118 </a:t>
                      </a: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rgbClr val="FF0000"/>
                          </a:solidFill>
                          <a:effectLst/>
                          <a:latin typeface="+mn-ea"/>
                          <a:ea typeface="+mn-ea"/>
                        </a:rPr>
                        <a:t>计划</a:t>
                      </a:r>
                      <a:r>
                        <a:rPr lang="en-US" altLang="zh-CN" sz="1200" dirty="0" smtClean="0">
                          <a:solidFill>
                            <a:srgbClr val="FF0000"/>
                          </a:solidFill>
                          <a:effectLst/>
                          <a:latin typeface="+mn-ea"/>
                          <a:ea typeface="+mn-ea"/>
                        </a:rPr>
                        <a:t>11</a:t>
                      </a:r>
                      <a:r>
                        <a:rPr lang="zh-CN" altLang="en-US" sz="1200" dirty="0" smtClean="0">
                          <a:solidFill>
                            <a:srgbClr val="FF0000"/>
                          </a:solidFill>
                          <a:effectLst/>
                          <a:latin typeface="+mn-ea"/>
                          <a:ea typeface="+mn-ea"/>
                        </a:rPr>
                        <a:t>月</a:t>
                      </a:r>
                      <a:r>
                        <a:rPr lang="en-US" altLang="zh-CN" sz="1200" dirty="0" smtClean="0">
                          <a:solidFill>
                            <a:srgbClr val="FF0000"/>
                          </a:solidFill>
                          <a:effectLst/>
                          <a:latin typeface="+mn-ea"/>
                          <a:ea typeface="+mn-ea"/>
                        </a:rPr>
                        <a:t>30</a:t>
                      </a:r>
                      <a:r>
                        <a:rPr lang="zh-CN" altLang="en-US" sz="1200" dirty="0" smtClean="0">
                          <a:solidFill>
                            <a:srgbClr val="FF0000"/>
                          </a:solidFill>
                          <a:effectLst/>
                          <a:latin typeface="+mn-ea"/>
                          <a:ea typeface="+mn-ea"/>
                        </a:rPr>
                        <a:t>日完成支付中心接入民生银行大额支付能力</a:t>
                      </a:r>
                      <a:endParaRPr lang="en-US" altLang="zh-CN" sz="1200" dirty="0" smtClean="0">
                        <a:solidFill>
                          <a:srgbClr val="FF0000"/>
                        </a:solidFill>
                        <a:effectLst/>
                        <a:latin typeface="+mn-ea"/>
                        <a:ea typeface="+mn-ea"/>
                      </a:endParaRP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en-US" altLang="zh-CN" sz="1200" dirty="0" smtClean="0">
                          <a:solidFill>
                            <a:srgbClr val="FF0000"/>
                          </a:solidFill>
                          <a:effectLst/>
                          <a:latin typeface="+mn-ea"/>
                          <a:ea typeface="+mn-ea"/>
                        </a:rPr>
                        <a:t>2. </a:t>
                      </a:r>
                      <a:r>
                        <a:rPr lang="zh-CN" altLang="en-US" sz="1200" dirty="0" smtClean="0">
                          <a:solidFill>
                            <a:srgbClr val="FF0000"/>
                          </a:solidFill>
                          <a:effectLst/>
                          <a:latin typeface="+mn-ea"/>
                          <a:ea typeface="+mn-ea"/>
                        </a:rPr>
                        <a:t>大额支付使用场景需结合下订流程、首付款支付，尾款支付、金融个贷等场景进行分别梳理，计划下周三汇报各场景使用流程和方案。</a:t>
                      </a:r>
                      <a:endParaRPr lang="en-US" altLang="zh-CN" sz="1200" dirty="0" smtClean="0">
                        <a:solidFill>
                          <a:srgbClr val="FF0000"/>
                        </a:solidFill>
                        <a:effectLst/>
                        <a:latin typeface="+mn-ea"/>
                        <a:ea typeface="+mn-ea"/>
                      </a:endParaRP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en-US" altLang="zh-CN" sz="1200" dirty="0" smtClean="0">
                          <a:solidFill>
                            <a:srgbClr val="FF0000"/>
                          </a:solidFill>
                          <a:effectLst/>
                          <a:latin typeface="+mn-ea"/>
                          <a:ea typeface="+mn-ea"/>
                        </a:rPr>
                        <a:t>3. </a:t>
                      </a:r>
                      <a:r>
                        <a:rPr lang="zh-CN" altLang="en-US" sz="1200" dirty="0" smtClean="0">
                          <a:solidFill>
                            <a:srgbClr val="FF0000"/>
                          </a:solidFill>
                          <a:effectLst/>
                          <a:latin typeface="+mn-ea"/>
                          <a:ea typeface="+mn-ea"/>
                        </a:rPr>
                        <a:t>民生银行的分账规则未能满足广乘销售业务的具体要求。经沟通民生会进行开发，截止</a:t>
                      </a:r>
                      <a:r>
                        <a:rPr lang="en-US" altLang="zh-CN" sz="1200" dirty="0" smtClean="0">
                          <a:solidFill>
                            <a:srgbClr val="FF0000"/>
                          </a:solidFill>
                          <a:effectLst/>
                          <a:latin typeface="+mn-ea"/>
                          <a:ea typeface="+mn-ea"/>
                        </a:rPr>
                        <a:t>11</a:t>
                      </a:r>
                      <a:r>
                        <a:rPr lang="zh-CN" altLang="en-US" sz="1200" dirty="0" smtClean="0">
                          <a:solidFill>
                            <a:srgbClr val="FF0000"/>
                          </a:solidFill>
                          <a:effectLst/>
                          <a:latin typeface="+mn-ea"/>
                          <a:ea typeface="+mn-ea"/>
                        </a:rPr>
                        <a:t>月</a:t>
                      </a:r>
                      <a:r>
                        <a:rPr lang="en-US" altLang="zh-CN" sz="1200" dirty="0" smtClean="0">
                          <a:solidFill>
                            <a:srgbClr val="FF0000"/>
                          </a:solidFill>
                          <a:effectLst/>
                          <a:latin typeface="+mn-ea"/>
                          <a:ea typeface="+mn-ea"/>
                        </a:rPr>
                        <a:t>17</a:t>
                      </a:r>
                      <a:r>
                        <a:rPr lang="zh-CN" altLang="en-US" sz="1200" dirty="0" smtClean="0">
                          <a:solidFill>
                            <a:srgbClr val="FF0000"/>
                          </a:solidFill>
                          <a:effectLst/>
                          <a:latin typeface="+mn-ea"/>
                          <a:ea typeface="+mn-ea"/>
                        </a:rPr>
                        <a:t>日尚未输出开发计划。</a:t>
                      </a:r>
                      <a:endParaRPr lang="en-US" altLang="zh-CN" sz="1200" dirty="0" smtClean="0">
                        <a:solidFill>
                          <a:srgbClr val="FF0000"/>
                        </a:solidFill>
                        <a:effectLst/>
                        <a:latin typeface="+mn-ea"/>
                        <a:ea typeface="+mn-ea"/>
                      </a:endParaRP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en-US" altLang="zh-CN" sz="1200" dirty="0" smtClean="0">
                          <a:solidFill>
                            <a:srgbClr val="FF0000"/>
                          </a:solidFill>
                          <a:effectLst/>
                          <a:latin typeface="+mn-ea"/>
                          <a:ea typeface="+mn-ea"/>
                        </a:rPr>
                        <a:t>4. </a:t>
                      </a:r>
                      <a:r>
                        <a:rPr lang="zh-CN" altLang="en-US" sz="1200" dirty="0" smtClean="0">
                          <a:solidFill>
                            <a:srgbClr val="FF0000"/>
                          </a:solidFill>
                          <a:effectLst/>
                          <a:latin typeface="+mn-ea"/>
                          <a:ea typeface="+mn-ea"/>
                        </a:rPr>
                        <a:t>截止</a:t>
                      </a:r>
                      <a:r>
                        <a:rPr lang="en-US" altLang="zh-CN" sz="1200" dirty="0" smtClean="0">
                          <a:solidFill>
                            <a:srgbClr val="FF0000"/>
                          </a:solidFill>
                          <a:effectLst/>
                          <a:latin typeface="+mn-ea"/>
                          <a:ea typeface="+mn-ea"/>
                        </a:rPr>
                        <a:t>11</a:t>
                      </a:r>
                      <a:r>
                        <a:rPr lang="zh-CN" altLang="en-US" sz="1200" dirty="0" smtClean="0">
                          <a:solidFill>
                            <a:srgbClr val="FF0000"/>
                          </a:solidFill>
                          <a:effectLst/>
                          <a:latin typeface="+mn-ea"/>
                          <a:ea typeface="+mn-ea"/>
                        </a:rPr>
                        <a:t>月</a:t>
                      </a:r>
                      <a:r>
                        <a:rPr lang="en-US" altLang="zh-CN" sz="1200" dirty="0" smtClean="0">
                          <a:solidFill>
                            <a:srgbClr val="FF0000"/>
                          </a:solidFill>
                          <a:effectLst/>
                          <a:latin typeface="+mn-ea"/>
                          <a:ea typeface="+mn-ea"/>
                        </a:rPr>
                        <a:t>17</a:t>
                      </a:r>
                      <a:r>
                        <a:rPr lang="zh-CN" altLang="en-US" sz="1200" dirty="0" smtClean="0">
                          <a:solidFill>
                            <a:srgbClr val="FF0000"/>
                          </a:solidFill>
                          <a:effectLst/>
                          <a:latin typeface="+mn-ea"/>
                          <a:ea typeface="+mn-ea"/>
                        </a:rPr>
                        <a:t>日经销商门店未进行民生银行的开户签约，已联系财务科与民生推进，确认开户流程后可下发对店通知。</a:t>
                      </a:r>
                      <a:endParaRPr lang="en-US" sz="1200" dirty="0" smtClean="0">
                        <a:solidFill>
                          <a:srgbClr val="FF0000"/>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a:solidFill>
                            <a:srgbClr val="000000"/>
                          </a:solidFill>
                          <a:effectLst/>
                          <a:latin typeface="+mn-ea"/>
                          <a:ea typeface="+mn-ea"/>
                        </a:rPr>
                        <a:t>刁榕辉</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a:solidFill>
                            <a:srgbClr val="000000"/>
                          </a:solidFill>
                          <a:effectLst/>
                          <a:latin typeface="+mn-ea"/>
                          <a:ea typeface="+mn-ea"/>
                        </a:rPr>
                        <a:t>吴翔宇</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332000">
                <a:tc>
                  <a:txBody>
                    <a:bodyPr/>
                    <a:lstStyle/>
                    <a:p>
                      <a:pPr marL="0" algn="ctr" defTabSz="914400" rtl="0" eaLnBrk="1" fontAlgn="ctr" latinLnBrk="0" hangingPunct="1">
                        <a:lnSpc>
                          <a:spcPct val="150000"/>
                        </a:lnSpc>
                      </a:pPr>
                      <a:r>
                        <a:rPr lang="en-US" altLang="zh-CN" sz="1200" b="0" kern="1200" dirty="0" smtClean="0">
                          <a:solidFill>
                            <a:schemeClr val="tx1"/>
                          </a:solidFill>
                          <a:effectLst/>
                          <a:latin typeface="+mn-ea"/>
                          <a:ea typeface="+mn-ea"/>
                          <a:cs typeface="+mn-cs"/>
                        </a:rPr>
                        <a:t>3</a:t>
                      </a:r>
                      <a:endParaRPr lang="en-US" altLang="zh-CN" sz="1200" b="0" kern="1200" dirty="0">
                        <a:solidFill>
                          <a:schemeClr val="tx1"/>
                        </a:solidFill>
                        <a:effectLst/>
                        <a:latin typeface="+mn-ea"/>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b="0" dirty="0" smtClean="0">
                          <a:solidFill>
                            <a:schemeClr val="tx1"/>
                          </a:solidFill>
                          <a:effectLst/>
                          <a:latin typeface="+mn-ea"/>
                          <a:ea typeface="+mn-ea"/>
                        </a:rPr>
                        <a:t>超伙改善专项</a:t>
                      </a:r>
                      <a:endParaRPr lang="zh-CN" altLang="en-US" sz="1200" b="0" dirty="0">
                        <a:solidFill>
                          <a:schemeClr val="tx1"/>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endParaRPr lang="zh-CN" altLang="en-US" sz="1200" b="0" dirty="0">
                        <a:solidFill>
                          <a:schemeClr val="tx1"/>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en-US" altLang="zh-CN" sz="1200" dirty="0" smtClean="0">
                          <a:solidFill>
                            <a:srgbClr val="FF0000"/>
                          </a:solidFill>
                          <a:effectLst/>
                          <a:latin typeface="+mn-ea"/>
                          <a:ea typeface="+mn-ea"/>
                        </a:rPr>
                        <a:t>1118 </a:t>
                      </a:r>
                    </a:p>
                    <a:p>
                      <a:pPr algn="l" fontAlgn="ctr" latinLnBrk="0">
                        <a:lnSpc>
                          <a:spcPct val="150000"/>
                        </a:lnSpc>
                      </a:pPr>
                      <a:r>
                        <a:rPr lang="en-US" altLang="zh-CN" sz="1200" dirty="0" smtClean="0">
                          <a:solidFill>
                            <a:schemeClr val="bg1">
                              <a:lumMod val="65000"/>
                            </a:schemeClr>
                          </a:solidFill>
                          <a:effectLst/>
                          <a:latin typeface="+mn-ea"/>
                          <a:ea typeface="+mn-ea"/>
                        </a:rPr>
                        <a:t>1111 </a:t>
                      </a:r>
                      <a:r>
                        <a:rPr lang="zh-CN" altLang="en-US" sz="1200" dirty="0" smtClean="0">
                          <a:solidFill>
                            <a:schemeClr val="bg1">
                              <a:lumMod val="65000"/>
                            </a:schemeClr>
                          </a:solidFill>
                          <a:effectLst/>
                          <a:latin typeface="+mn-ea"/>
                          <a:ea typeface="+mn-ea"/>
                        </a:rPr>
                        <a:t>正在推进各个体验节点问题分析及对策制定，计划</a:t>
                      </a:r>
                      <a:r>
                        <a:rPr lang="en-US" altLang="zh-CN" sz="1200" dirty="0" smtClean="0">
                          <a:solidFill>
                            <a:schemeClr val="bg1">
                              <a:lumMod val="65000"/>
                            </a:schemeClr>
                          </a:solidFill>
                          <a:effectLst/>
                          <a:latin typeface="+mn-ea"/>
                          <a:ea typeface="+mn-ea"/>
                        </a:rPr>
                        <a:t>12</a:t>
                      </a:r>
                      <a:r>
                        <a:rPr lang="zh-CN" altLang="en-US" sz="1200" dirty="0" smtClean="0">
                          <a:solidFill>
                            <a:schemeClr val="bg1">
                              <a:lumMod val="65000"/>
                            </a:schemeClr>
                          </a:solidFill>
                          <a:effectLst/>
                          <a:latin typeface="+mn-ea"/>
                          <a:ea typeface="+mn-ea"/>
                        </a:rPr>
                        <a:t>月中上旬进行汇报</a:t>
                      </a:r>
                      <a:endParaRPr lang="en-US" altLang="zh-CN" sz="1200" dirty="0" smtClean="0">
                        <a:solidFill>
                          <a:schemeClr val="bg1">
                            <a:lumMod val="65000"/>
                          </a:schemeClr>
                        </a:solidFill>
                        <a:effectLst/>
                        <a:latin typeface="+mn-ea"/>
                        <a:ea typeface="+mn-ea"/>
                      </a:endParaRPr>
                    </a:p>
                    <a:p>
                      <a:pPr algn="l" fontAlgn="ctr" latinLnBrk="0">
                        <a:lnSpc>
                          <a:spcPct val="150000"/>
                        </a:lnSpc>
                      </a:pPr>
                      <a:r>
                        <a:rPr lang="en-US" altLang="zh-CN" sz="1200" dirty="0" smtClean="0">
                          <a:solidFill>
                            <a:schemeClr val="bg1">
                              <a:lumMod val="65000"/>
                            </a:schemeClr>
                          </a:solidFill>
                          <a:effectLst/>
                          <a:latin typeface="+mn-ea"/>
                          <a:ea typeface="+mn-ea"/>
                        </a:rPr>
                        <a:t>1104 </a:t>
                      </a:r>
                      <a:r>
                        <a:rPr lang="zh-CN" altLang="en-US" sz="1200" dirty="0" smtClean="0">
                          <a:solidFill>
                            <a:schemeClr val="bg1">
                              <a:lumMod val="65000"/>
                            </a:schemeClr>
                          </a:solidFill>
                          <a:effectLst/>
                          <a:latin typeface="+mn-ea"/>
                          <a:ea typeface="+mn-ea"/>
                        </a:rPr>
                        <a:t>专题汇报</a:t>
                      </a:r>
                      <a:endParaRPr lang="zh-CN" altLang="en-US" sz="1200" dirty="0">
                        <a:solidFill>
                          <a:schemeClr val="bg1">
                            <a:lumMod val="65000"/>
                          </a:schemeClr>
                        </a:solidFill>
                        <a:effectLst/>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a:solidFill>
                            <a:srgbClr val="000000"/>
                          </a:solidFill>
                          <a:effectLst/>
                          <a:latin typeface="+mn-ea"/>
                          <a:ea typeface="+mn-ea"/>
                        </a:rPr>
                        <a:t>刁榕辉</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a:solidFill>
                            <a:srgbClr val="000000"/>
                          </a:solidFill>
                          <a:effectLst/>
                          <a:latin typeface="+mn-ea"/>
                          <a:ea typeface="+mn-ea"/>
                        </a:rPr>
                        <a:t>吴翔宇</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4469464"/>
                  </a:ext>
                </a:extLst>
              </a:tr>
            </a:tbl>
          </a:graphicData>
        </a:graphic>
      </p:graphicFrame>
      <p:sp>
        <p:nvSpPr>
          <p:cNvPr id="5" name="矩形: 圆角 39"/>
          <p:cNvSpPr/>
          <p:nvPr/>
        </p:nvSpPr>
        <p:spPr>
          <a:xfrm>
            <a:off x="5503697" y="438555"/>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smtClean="0">
                <a:solidFill>
                  <a:schemeClr val="bg1"/>
                </a:solidFill>
                <a:cs typeface="+mn-ea"/>
                <a:sym typeface="+mn-lt"/>
              </a:rPr>
              <a:t>数字化工具</a:t>
            </a:r>
            <a:endParaRPr kumimoji="1" lang="zh-CN" altLang="en-US" sz="1400" b="1" dirty="0">
              <a:solidFill>
                <a:schemeClr val="bg1"/>
              </a:solidFill>
              <a:cs typeface="+mn-ea"/>
              <a:sym typeface="+mn-lt"/>
            </a:endParaRPr>
          </a:p>
        </p:txBody>
      </p:sp>
    </p:spTree>
    <p:extLst>
      <p:ext uri="{BB962C8B-B14F-4D97-AF65-F5344CB8AC3E}">
        <p14:creationId xmlns:p14="http://schemas.microsoft.com/office/powerpoint/2010/main" val="10470041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graphicFrame>
        <p:nvGraphicFramePr>
          <p:cNvPr id="10" name="表格 9"/>
          <p:cNvGraphicFramePr>
            <a:graphicFrameLocks noGrp="1"/>
          </p:cNvGraphicFramePr>
          <p:nvPr>
            <p:extLst>
              <p:ext uri="{D42A27DB-BD31-4B8C-83A1-F6EECF244321}">
                <p14:modId xmlns:p14="http://schemas.microsoft.com/office/powerpoint/2010/main" val="3751132242"/>
              </p:ext>
            </p:extLst>
          </p:nvPr>
        </p:nvGraphicFramePr>
        <p:xfrm>
          <a:off x="374794" y="1401992"/>
          <a:ext cx="11186135" cy="3179136"/>
        </p:xfrm>
        <a:graphic>
          <a:graphicData uri="http://schemas.openxmlformats.org/drawingml/2006/table">
            <a:tbl>
              <a:tblPr/>
              <a:tblGrid>
                <a:gridCol w="539578">
                  <a:extLst>
                    <a:ext uri="{9D8B030D-6E8A-4147-A177-3AD203B41FA5}">
                      <a16:colId xmlns:a16="http://schemas.microsoft.com/office/drawing/2014/main" val="3366887012"/>
                    </a:ext>
                  </a:extLst>
                </a:gridCol>
                <a:gridCol w="2891511">
                  <a:extLst>
                    <a:ext uri="{9D8B030D-6E8A-4147-A177-3AD203B41FA5}">
                      <a16:colId xmlns:a16="http://schemas.microsoft.com/office/drawing/2014/main" val="484113456"/>
                    </a:ext>
                  </a:extLst>
                </a:gridCol>
                <a:gridCol w="2844000">
                  <a:extLst>
                    <a:ext uri="{9D8B030D-6E8A-4147-A177-3AD203B41FA5}">
                      <a16:colId xmlns:a16="http://schemas.microsoft.com/office/drawing/2014/main" val="218647580"/>
                    </a:ext>
                  </a:extLst>
                </a:gridCol>
                <a:gridCol w="3118525">
                  <a:extLst>
                    <a:ext uri="{9D8B030D-6E8A-4147-A177-3AD203B41FA5}">
                      <a16:colId xmlns:a16="http://schemas.microsoft.com/office/drawing/2014/main" val="3743736683"/>
                    </a:ext>
                  </a:extLst>
                </a:gridCol>
                <a:gridCol w="936104">
                  <a:extLst>
                    <a:ext uri="{9D8B030D-6E8A-4147-A177-3AD203B41FA5}">
                      <a16:colId xmlns:a16="http://schemas.microsoft.com/office/drawing/2014/main" val="1640352159"/>
                    </a:ext>
                  </a:extLst>
                </a:gridCol>
                <a:gridCol w="856417">
                  <a:extLst>
                    <a:ext uri="{9D8B030D-6E8A-4147-A177-3AD203B41FA5}">
                      <a16:colId xmlns:a16="http://schemas.microsoft.com/office/drawing/2014/main" val="3839354263"/>
                    </a:ext>
                  </a:extLst>
                </a:gridCol>
              </a:tblGrid>
              <a:tr h="443136">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1368000">
                <a:tc>
                  <a:txBody>
                    <a:bodyPr/>
                    <a:lstStyle/>
                    <a:p>
                      <a:pPr algn="ctr" fontAlgn="ctr" latinLnBrk="0"/>
                      <a:r>
                        <a:rPr lang="en-US" altLang="zh-CN" sz="1200" dirty="0" smtClean="0">
                          <a:solidFill>
                            <a:schemeClr val="tx1"/>
                          </a:solidFill>
                          <a:effectLst/>
                          <a:latin typeface="+mn-lt"/>
                          <a:ea typeface="+mn-ea"/>
                          <a:cs typeface="+mn-ea"/>
                          <a:sym typeface="+mn-lt"/>
                        </a:rPr>
                        <a:t>1</a:t>
                      </a:r>
                      <a:endParaRPr lang="en-US" altLang="zh-CN"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20000"/>
                        </a:lnSpc>
                        <a:spcBef>
                          <a:spcPts val="0"/>
                        </a:spcBef>
                        <a:spcAft>
                          <a:spcPts val="0"/>
                        </a:spcAft>
                        <a:buClrTx/>
                        <a:buSzTx/>
                        <a:buFontTx/>
                        <a:buNone/>
                        <a:tabLst/>
                        <a:defRPr/>
                      </a:pPr>
                      <a:r>
                        <a:rPr lang="zh-CN" altLang="en-US" sz="1200" kern="1200" dirty="0" smtClean="0">
                          <a:solidFill>
                            <a:schemeClr val="tx1"/>
                          </a:solidFill>
                          <a:effectLst/>
                          <a:latin typeface="+mn-lt"/>
                          <a:ea typeface="+mn-ea"/>
                          <a:cs typeface="+mn-ea"/>
                          <a:sym typeface="+mn-lt"/>
                        </a:rPr>
                        <a:t>产品宣传场景拍摄</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en-US" altLang="zh-CN" sz="1200" dirty="0" smtClean="0">
                          <a:solidFill>
                            <a:schemeClr val="tx1"/>
                          </a:solidFill>
                          <a:effectLst/>
                          <a:latin typeface="+mn-lt"/>
                          <a:ea typeface="+mn-ea"/>
                          <a:cs typeface="+mn-ea"/>
                          <a:sym typeface="+mn-lt"/>
                        </a:rPr>
                        <a:t>0810</a:t>
                      </a:r>
                      <a:r>
                        <a:rPr lang="en-US" altLang="zh-CN" sz="1200" baseline="0" dirty="0" smtClean="0">
                          <a:solidFill>
                            <a:schemeClr val="tx1"/>
                          </a:solidFill>
                          <a:effectLst/>
                          <a:latin typeface="+mn-lt"/>
                          <a:ea typeface="+mn-ea"/>
                          <a:cs typeface="+mn-ea"/>
                          <a:sym typeface="+mn-lt"/>
                        </a:rPr>
                        <a:t> </a:t>
                      </a:r>
                      <a:r>
                        <a:rPr lang="zh-CN" altLang="en-US" sz="1200" baseline="0" dirty="0" smtClean="0">
                          <a:solidFill>
                            <a:schemeClr val="tx1"/>
                          </a:solidFill>
                          <a:effectLst/>
                          <a:latin typeface="+mn-lt"/>
                          <a:ea typeface="+mn-ea"/>
                          <a:cs typeface="+mn-ea"/>
                          <a:sym typeface="+mn-lt"/>
                        </a:rPr>
                        <a:t>场景建议评估商超外展展厅</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rgbClr val="FF0000"/>
                          </a:solidFill>
                          <a:effectLst/>
                          <a:latin typeface="+mn-lt"/>
                          <a:ea typeface="+mn-ea"/>
                          <a:cs typeface="+mn-ea"/>
                          <a:sym typeface="+mn-lt"/>
                        </a:rPr>
                        <a:t>1111</a:t>
                      </a: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65000"/>
                            </a:schemeClr>
                          </a:solidFill>
                          <a:effectLst/>
                          <a:latin typeface="+mn-lt"/>
                          <a:ea typeface="+mn-ea"/>
                          <a:cs typeface="+mn-ea"/>
                          <a:sym typeface="+mn-lt"/>
                        </a:rPr>
                        <a:t>1028 </a:t>
                      </a:r>
                      <a:r>
                        <a:rPr lang="zh-CN" altLang="en-US" sz="1200" dirty="0" smtClean="0">
                          <a:solidFill>
                            <a:schemeClr val="bg1">
                              <a:lumMod val="65000"/>
                            </a:schemeClr>
                          </a:solidFill>
                          <a:effectLst/>
                          <a:latin typeface="+mn-lt"/>
                          <a:ea typeface="+mn-ea"/>
                          <a:cs typeface="+mn-ea"/>
                          <a:sym typeface="+mn-lt"/>
                        </a:rPr>
                        <a:t>视频修改，本周汇报</a:t>
                      </a:r>
                      <a:endParaRPr lang="en-US" altLang="zh-CN" sz="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宿达恒</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5737611"/>
                  </a:ext>
                </a:extLst>
              </a:tr>
              <a:tr h="1368000">
                <a:tc>
                  <a:txBody>
                    <a:bodyPr/>
                    <a:lstStyle/>
                    <a:p>
                      <a:pPr algn="ctr" fontAlgn="ctr" latinLnBrk="0"/>
                      <a:r>
                        <a:rPr lang="en-US" altLang="zh-CN" sz="1200" dirty="0" smtClean="0">
                          <a:solidFill>
                            <a:schemeClr val="tx1"/>
                          </a:solidFill>
                          <a:effectLst/>
                          <a:latin typeface="+mn-lt"/>
                          <a:ea typeface="+mn-ea"/>
                          <a:cs typeface="+mn-ea"/>
                          <a:sym typeface="+mn-lt"/>
                        </a:rPr>
                        <a:t>2</a:t>
                      </a:r>
                      <a:endParaRPr lang="en-US" altLang="zh-CN"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2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ea"/>
                          <a:sym typeface="+mn-lt"/>
                        </a:rPr>
                        <a:t>VR</a:t>
                      </a:r>
                      <a:r>
                        <a:rPr lang="zh-CN" altLang="en-US" sz="1200" kern="1200" dirty="0" smtClean="0">
                          <a:solidFill>
                            <a:schemeClr val="tx1"/>
                          </a:solidFill>
                          <a:effectLst/>
                          <a:latin typeface="+mn-lt"/>
                          <a:ea typeface="+mn-ea"/>
                          <a:cs typeface="+mn-ea"/>
                          <a:sym typeface="+mn-lt"/>
                        </a:rPr>
                        <a:t>卖点展示优化</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zh-CN" altLang="en-US" sz="1200" dirty="0" smtClean="0">
                          <a:solidFill>
                            <a:schemeClr val="tx1"/>
                          </a:solidFill>
                          <a:effectLst/>
                          <a:latin typeface="+mn-lt"/>
                          <a:ea typeface="+mn-ea"/>
                          <a:cs typeface="+mn-ea"/>
                          <a:sym typeface="+mn-lt"/>
                        </a:rPr>
                        <a:t>提出时间：</a:t>
                      </a:r>
                      <a:r>
                        <a:rPr lang="en-US" altLang="zh-CN" sz="1200" dirty="0" smtClean="0">
                          <a:solidFill>
                            <a:schemeClr val="tx1"/>
                          </a:solidFill>
                          <a:effectLst/>
                          <a:latin typeface="+mn-lt"/>
                          <a:ea typeface="+mn-ea"/>
                          <a:cs typeface="+mn-ea"/>
                          <a:sym typeface="+mn-lt"/>
                        </a:rPr>
                        <a:t>11</a:t>
                      </a:r>
                      <a:r>
                        <a:rPr lang="zh-CN" altLang="en-US" sz="1200" dirty="0" smtClean="0">
                          <a:solidFill>
                            <a:schemeClr val="tx1"/>
                          </a:solidFill>
                          <a:effectLst/>
                          <a:latin typeface="+mn-lt"/>
                          <a:ea typeface="+mn-ea"/>
                          <a:cs typeface="+mn-ea"/>
                          <a:sym typeface="+mn-lt"/>
                        </a:rPr>
                        <a:t>月</a:t>
                      </a:r>
                      <a:r>
                        <a:rPr lang="en-US" altLang="zh-CN" sz="1200" dirty="0" smtClean="0">
                          <a:solidFill>
                            <a:schemeClr val="tx1"/>
                          </a:solidFill>
                          <a:effectLst/>
                          <a:latin typeface="+mn-lt"/>
                          <a:ea typeface="+mn-ea"/>
                          <a:cs typeface="+mn-ea"/>
                          <a:sym typeface="+mn-lt"/>
                        </a:rPr>
                        <a:t>2</a:t>
                      </a:r>
                      <a:r>
                        <a:rPr lang="zh-CN" altLang="en-US" sz="1200" dirty="0" smtClean="0">
                          <a:solidFill>
                            <a:schemeClr val="tx1"/>
                          </a:solidFill>
                          <a:effectLst/>
                          <a:latin typeface="+mn-lt"/>
                          <a:ea typeface="+mn-ea"/>
                          <a:cs typeface="+mn-ea"/>
                          <a:sym typeface="+mn-lt"/>
                        </a:rPr>
                        <a:t>日</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rgbClr val="FF0000"/>
                          </a:solidFill>
                          <a:effectLst/>
                          <a:latin typeface="+mn-lt"/>
                          <a:ea typeface="+mn-ea"/>
                          <a:cs typeface="+mn-ea"/>
                          <a:sym typeface="+mn-lt"/>
                        </a:rPr>
                        <a:t>1111 </a:t>
                      </a:r>
                      <a:r>
                        <a:rPr lang="zh-CN" altLang="en-US" sz="1200" dirty="0" smtClean="0">
                          <a:solidFill>
                            <a:srgbClr val="FF0000"/>
                          </a:solidFill>
                          <a:effectLst/>
                          <a:latin typeface="+mn-lt"/>
                          <a:ea typeface="+mn-ea"/>
                          <a:cs typeface="+mn-ea"/>
                          <a:sym typeface="+mn-lt"/>
                        </a:rPr>
                        <a:t>进行方案策划及内部汇报，预计下周五进行初步方案汇报</a:t>
                      </a:r>
                      <a:endParaRPr lang="en-US" altLang="zh-CN" sz="120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65000"/>
                            </a:schemeClr>
                          </a:solidFill>
                          <a:effectLst/>
                          <a:latin typeface="+mn-lt"/>
                          <a:ea typeface="+mn-ea"/>
                          <a:cs typeface="+mn-ea"/>
                          <a:sym typeface="+mn-lt"/>
                        </a:rPr>
                        <a:t>1104 </a:t>
                      </a:r>
                      <a:r>
                        <a:rPr lang="zh-CN" altLang="en-US" sz="1200" dirty="0" smtClean="0">
                          <a:solidFill>
                            <a:schemeClr val="bg1">
                              <a:lumMod val="65000"/>
                            </a:schemeClr>
                          </a:solidFill>
                          <a:effectLst/>
                          <a:latin typeface="+mn-lt"/>
                          <a:ea typeface="+mn-ea"/>
                          <a:cs typeface="+mn-ea"/>
                          <a:sym typeface="+mn-lt"/>
                        </a:rPr>
                        <a:t>进行方案策划，预计下周提出初步方向及方案</a:t>
                      </a:r>
                      <a:endParaRPr lang="en-US" altLang="zh-CN" sz="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宿达恒</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7758094"/>
                  </a:ext>
                </a:extLst>
              </a:tr>
            </a:tbl>
          </a:graphicData>
        </a:graphic>
      </p:graphicFrame>
      <p:sp>
        <p:nvSpPr>
          <p:cNvPr id="7" name="矩形: 圆角 39">
            <a:extLst>
              <a:ext uri="{FF2B5EF4-FFF2-40B4-BE49-F238E27FC236}">
                <a16:creationId xmlns:a16="http://schemas.microsoft.com/office/drawing/2014/main" id="{FF15ED94-5A65-458C-905E-EF23F3E784C9}"/>
              </a:ext>
            </a:extLst>
          </p:cNvPr>
          <p:cNvSpPr/>
          <p:nvPr/>
        </p:nvSpPr>
        <p:spPr>
          <a:xfrm>
            <a:off x="5087888" y="495428"/>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smtClean="0">
                <a:solidFill>
                  <a:schemeClr val="bg1"/>
                </a:solidFill>
                <a:cs typeface="+mn-ea"/>
                <a:sym typeface="+mn-lt"/>
              </a:rPr>
              <a:t>数字化工具</a:t>
            </a:r>
            <a:endParaRPr kumimoji="1" lang="zh-CN" altLang="en-US" sz="1400" b="1" dirty="0">
              <a:solidFill>
                <a:schemeClr val="bg1"/>
              </a:solidFill>
              <a:cs typeface="+mn-ea"/>
              <a:sym typeface="+mn-lt"/>
            </a:endParaRPr>
          </a:p>
        </p:txBody>
      </p:sp>
    </p:spTree>
    <p:extLst>
      <p:ext uri="{BB962C8B-B14F-4D97-AF65-F5344CB8AC3E}">
        <p14:creationId xmlns:p14="http://schemas.microsoft.com/office/powerpoint/2010/main" val="23733244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graphicFrame>
        <p:nvGraphicFramePr>
          <p:cNvPr id="10" name="表格 9"/>
          <p:cNvGraphicFramePr>
            <a:graphicFrameLocks noGrp="1"/>
          </p:cNvGraphicFramePr>
          <p:nvPr>
            <p:extLst>
              <p:ext uri="{D42A27DB-BD31-4B8C-83A1-F6EECF244321}">
                <p14:modId xmlns:p14="http://schemas.microsoft.com/office/powerpoint/2010/main" val="2044476214"/>
              </p:ext>
            </p:extLst>
          </p:nvPr>
        </p:nvGraphicFramePr>
        <p:xfrm>
          <a:off x="374794" y="1401992"/>
          <a:ext cx="11186135" cy="2180496"/>
        </p:xfrm>
        <a:graphic>
          <a:graphicData uri="http://schemas.openxmlformats.org/drawingml/2006/table">
            <a:tbl>
              <a:tblPr/>
              <a:tblGrid>
                <a:gridCol w="539578">
                  <a:extLst>
                    <a:ext uri="{9D8B030D-6E8A-4147-A177-3AD203B41FA5}">
                      <a16:colId xmlns:a16="http://schemas.microsoft.com/office/drawing/2014/main" val="3366887012"/>
                    </a:ext>
                  </a:extLst>
                </a:gridCol>
                <a:gridCol w="2733356">
                  <a:extLst>
                    <a:ext uri="{9D8B030D-6E8A-4147-A177-3AD203B41FA5}">
                      <a16:colId xmlns:a16="http://schemas.microsoft.com/office/drawing/2014/main" val="484113456"/>
                    </a:ext>
                  </a:extLst>
                </a:gridCol>
                <a:gridCol w="3002155">
                  <a:extLst>
                    <a:ext uri="{9D8B030D-6E8A-4147-A177-3AD203B41FA5}">
                      <a16:colId xmlns:a16="http://schemas.microsoft.com/office/drawing/2014/main" val="218647580"/>
                    </a:ext>
                  </a:extLst>
                </a:gridCol>
                <a:gridCol w="3118525">
                  <a:extLst>
                    <a:ext uri="{9D8B030D-6E8A-4147-A177-3AD203B41FA5}">
                      <a16:colId xmlns:a16="http://schemas.microsoft.com/office/drawing/2014/main" val="3743736683"/>
                    </a:ext>
                  </a:extLst>
                </a:gridCol>
                <a:gridCol w="936104">
                  <a:extLst>
                    <a:ext uri="{9D8B030D-6E8A-4147-A177-3AD203B41FA5}">
                      <a16:colId xmlns:a16="http://schemas.microsoft.com/office/drawing/2014/main" val="1640352159"/>
                    </a:ext>
                  </a:extLst>
                </a:gridCol>
                <a:gridCol w="856417">
                  <a:extLst>
                    <a:ext uri="{9D8B030D-6E8A-4147-A177-3AD203B41FA5}">
                      <a16:colId xmlns:a16="http://schemas.microsoft.com/office/drawing/2014/main" val="3839354263"/>
                    </a:ext>
                  </a:extLst>
                </a:gridCol>
              </a:tblGrid>
              <a:tr h="443136">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1368000">
                <a:tc>
                  <a:txBody>
                    <a:bodyPr/>
                    <a:lstStyle/>
                    <a:p>
                      <a:pPr algn="ctr" fontAlgn="ctr" latinLnBrk="0"/>
                      <a:r>
                        <a:rPr lang="en-US" altLang="zh-CN" sz="1200" dirty="0" smtClean="0">
                          <a:solidFill>
                            <a:schemeClr val="tx1"/>
                          </a:solidFill>
                          <a:effectLst/>
                          <a:latin typeface="+mn-lt"/>
                          <a:ea typeface="+mn-ea"/>
                          <a:cs typeface="+mn-ea"/>
                          <a:sym typeface="+mn-lt"/>
                        </a:rPr>
                        <a:t>1</a:t>
                      </a:r>
                      <a:endParaRPr lang="en-US" altLang="zh-CN"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2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ea"/>
                          <a:sym typeface="+mn-lt"/>
                        </a:rPr>
                        <a:t>M8 VR</a:t>
                      </a:r>
                      <a:r>
                        <a:rPr lang="zh-CN" altLang="en-US" sz="1200" kern="1200" dirty="0" smtClean="0">
                          <a:solidFill>
                            <a:schemeClr val="tx1"/>
                          </a:solidFill>
                          <a:effectLst/>
                          <a:latin typeface="+mn-lt"/>
                          <a:ea typeface="+mn-ea"/>
                          <a:cs typeface="+mn-ea"/>
                          <a:sym typeface="+mn-lt"/>
                        </a:rPr>
                        <a:t>展厅卖点展示优化</a:t>
                      </a:r>
                      <a:endParaRPr lang="en-US" altLang="zh-CN" sz="1200" kern="1200" dirty="0" smtClean="0">
                        <a:solidFill>
                          <a:schemeClr val="tx1"/>
                        </a:solidFill>
                        <a:effectLst/>
                        <a:latin typeface="+mn-lt"/>
                        <a:ea typeface="+mn-ea"/>
                        <a:cs typeface="+mn-ea"/>
                        <a:sym typeface="+mn-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tx1"/>
                          </a:solidFill>
                          <a:effectLst/>
                          <a:latin typeface="+mn-lt"/>
                          <a:ea typeface="+mn-ea"/>
                          <a:cs typeface="+mn-ea"/>
                          <a:sym typeface="+mn-lt"/>
                        </a:rPr>
                        <a:t>【</a:t>
                      </a:r>
                      <a:r>
                        <a:rPr lang="zh-CN" altLang="en-US" sz="1200" dirty="0" smtClean="0">
                          <a:solidFill>
                            <a:schemeClr val="tx1"/>
                          </a:solidFill>
                          <a:effectLst/>
                          <a:latin typeface="+mn-lt"/>
                          <a:ea typeface="+mn-ea"/>
                          <a:cs typeface="+mn-ea"/>
                          <a:sym typeface="+mn-lt"/>
                        </a:rPr>
                        <a:t>指摘内容</a:t>
                      </a:r>
                      <a:r>
                        <a:rPr lang="en-US" altLang="zh-CN" sz="1200" dirty="0" smtClean="0">
                          <a:solidFill>
                            <a:schemeClr val="tx1"/>
                          </a:solidFill>
                          <a:effectLst/>
                          <a:latin typeface="+mn-lt"/>
                          <a:ea typeface="+mn-ea"/>
                          <a:cs typeface="+mn-ea"/>
                          <a:sym typeface="+mn-lt"/>
                        </a:rPr>
                        <a:t>】1102</a:t>
                      </a:r>
                    </a:p>
                    <a:p>
                      <a:pPr marL="0" marR="0" indent="0" algn="l" defTabSz="914400" rtl="0" eaLnBrk="1" fontAlgn="ctr" latinLnBrk="0" hangingPunct="1">
                        <a:lnSpc>
                          <a:spcPct val="150000"/>
                        </a:lnSpc>
                        <a:spcBef>
                          <a:spcPts val="0"/>
                        </a:spcBef>
                        <a:spcAft>
                          <a:spcPts val="0"/>
                        </a:spcAft>
                        <a:buClrTx/>
                        <a:buSzTx/>
                        <a:buFontTx/>
                        <a:buNone/>
                        <a:tabLst/>
                        <a:defRPr/>
                      </a:pPr>
                      <a:r>
                        <a:rPr lang="zh-CN" altLang="en-US" sz="1200" dirty="0" smtClean="0">
                          <a:solidFill>
                            <a:schemeClr val="tx1"/>
                          </a:solidFill>
                          <a:effectLst/>
                          <a:latin typeface="+mn-lt"/>
                          <a:ea typeface="+mn-ea"/>
                          <a:cs typeface="+mn-ea"/>
                          <a:sym typeface="+mn-lt"/>
                        </a:rPr>
                        <a:t>（</a:t>
                      </a:r>
                      <a:r>
                        <a:rPr lang="en-US" altLang="zh-CN" sz="1200" dirty="0" smtClean="0">
                          <a:solidFill>
                            <a:schemeClr val="tx1"/>
                          </a:solidFill>
                          <a:effectLst/>
                          <a:latin typeface="+mn-lt"/>
                          <a:ea typeface="+mn-ea"/>
                          <a:cs typeface="+mn-ea"/>
                          <a:sym typeface="+mn-lt"/>
                        </a:rPr>
                        <a:t>A88</a:t>
                      </a:r>
                      <a:r>
                        <a:rPr lang="zh-CN" altLang="en-US" sz="1200" dirty="0" smtClean="0">
                          <a:solidFill>
                            <a:schemeClr val="tx1"/>
                          </a:solidFill>
                          <a:effectLst/>
                          <a:latin typeface="+mn-lt"/>
                          <a:ea typeface="+mn-ea"/>
                          <a:cs typeface="+mn-ea"/>
                          <a:sym typeface="+mn-lt"/>
                        </a:rPr>
                        <a:t>）从用户角度整体策划，用用户能看懂的方式进行</a:t>
                      </a:r>
                      <a:r>
                        <a:rPr lang="en-US" altLang="zh-CN" sz="1200" dirty="0" smtClean="0">
                          <a:solidFill>
                            <a:schemeClr val="tx1"/>
                          </a:solidFill>
                          <a:effectLst/>
                          <a:latin typeface="+mn-lt"/>
                          <a:ea typeface="+mn-ea"/>
                          <a:cs typeface="+mn-ea"/>
                          <a:sym typeface="+mn-lt"/>
                        </a:rPr>
                        <a:t>VR</a:t>
                      </a:r>
                      <a:r>
                        <a:rPr lang="zh-CN" altLang="en-US" sz="1200" dirty="0" smtClean="0">
                          <a:solidFill>
                            <a:schemeClr val="tx1"/>
                          </a:solidFill>
                          <a:effectLst/>
                          <a:latin typeface="+mn-lt"/>
                          <a:ea typeface="+mn-ea"/>
                          <a:cs typeface="+mn-ea"/>
                          <a:sym typeface="+mn-lt"/>
                        </a:rPr>
                        <a:t>卖点展示</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rgbClr val="FF0000"/>
                          </a:solidFill>
                          <a:effectLst/>
                          <a:latin typeface="+mn-lt"/>
                          <a:ea typeface="+mn-ea"/>
                          <a:cs typeface="+mn-ea"/>
                          <a:sym typeface="+mn-lt"/>
                        </a:rPr>
                        <a:t>1118 M8 VR</a:t>
                      </a:r>
                      <a:r>
                        <a:rPr lang="zh-CN" altLang="en-US" sz="1200" dirty="0" smtClean="0">
                          <a:solidFill>
                            <a:srgbClr val="FF0000"/>
                          </a:solidFill>
                          <a:effectLst/>
                          <a:latin typeface="+mn-lt"/>
                          <a:ea typeface="+mn-ea"/>
                          <a:cs typeface="+mn-ea"/>
                          <a:sym typeface="+mn-lt"/>
                        </a:rPr>
                        <a:t>展厅卖点方案已基本完成，预计下周三进行初步方向汇报</a:t>
                      </a:r>
                      <a:r>
                        <a:rPr lang="en-US" altLang="zh-CN" sz="1200" baseline="0" dirty="0" smtClean="0">
                          <a:solidFill>
                            <a:srgbClr val="FF0000"/>
                          </a:solidFill>
                          <a:effectLst/>
                          <a:latin typeface="+mn-lt"/>
                          <a:ea typeface="+mn-ea"/>
                          <a:cs typeface="+mn-ea"/>
                          <a:sym typeface="+mn-lt"/>
                        </a:rPr>
                        <a:t> </a:t>
                      </a:r>
                      <a:endParaRPr lang="en-US" altLang="zh-CN" sz="120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65000"/>
                            </a:schemeClr>
                          </a:solidFill>
                          <a:effectLst/>
                          <a:latin typeface="+mn-lt"/>
                          <a:ea typeface="+mn-ea"/>
                          <a:cs typeface="+mn-ea"/>
                          <a:sym typeface="+mn-lt"/>
                        </a:rPr>
                        <a:t>1111 </a:t>
                      </a:r>
                      <a:r>
                        <a:rPr lang="zh-CN" altLang="en-US" sz="1200" dirty="0" smtClean="0">
                          <a:solidFill>
                            <a:schemeClr val="bg1">
                              <a:lumMod val="65000"/>
                            </a:schemeClr>
                          </a:solidFill>
                          <a:effectLst/>
                          <a:latin typeface="+mn-lt"/>
                          <a:ea typeface="+mn-ea"/>
                          <a:cs typeface="+mn-ea"/>
                          <a:sym typeface="+mn-lt"/>
                        </a:rPr>
                        <a:t>针对</a:t>
                      </a:r>
                      <a:r>
                        <a:rPr lang="en-US" altLang="zh-CN" sz="1200" dirty="0" smtClean="0">
                          <a:solidFill>
                            <a:schemeClr val="bg1">
                              <a:lumMod val="65000"/>
                            </a:schemeClr>
                          </a:solidFill>
                          <a:effectLst/>
                          <a:latin typeface="+mn-lt"/>
                          <a:ea typeface="+mn-ea"/>
                          <a:cs typeface="+mn-ea"/>
                          <a:sym typeface="+mn-lt"/>
                        </a:rPr>
                        <a:t>M8 VR</a:t>
                      </a:r>
                      <a:r>
                        <a:rPr lang="zh-CN" altLang="en-US" sz="1200" dirty="0" smtClean="0">
                          <a:solidFill>
                            <a:schemeClr val="bg1">
                              <a:lumMod val="65000"/>
                            </a:schemeClr>
                          </a:solidFill>
                          <a:effectLst/>
                          <a:latin typeface="+mn-lt"/>
                          <a:ea typeface="+mn-ea"/>
                          <a:cs typeface="+mn-ea"/>
                          <a:sym typeface="+mn-lt"/>
                        </a:rPr>
                        <a:t>展厅进行卖点方案策划，预计下周五进行初步方向汇报</a:t>
                      </a:r>
                      <a:endParaRPr lang="en-US" altLang="zh-CN" sz="1200" dirty="0" smtClean="0">
                        <a:solidFill>
                          <a:schemeClr val="bg1">
                            <a:lumMod val="65000"/>
                          </a:schemeClr>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65000"/>
                            </a:schemeClr>
                          </a:solidFill>
                          <a:effectLst/>
                          <a:latin typeface="+mn-lt"/>
                          <a:ea typeface="+mn-ea"/>
                          <a:cs typeface="+mn-ea"/>
                          <a:sym typeface="+mn-lt"/>
                        </a:rPr>
                        <a:t>1104 </a:t>
                      </a:r>
                      <a:r>
                        <a:rPr lang="zh-CN" altLang="en-US" sz="1200" dirty="0" smtClean="0">
                          <a:solidFill>
                            <a:schemeClr val="bg1">
                              <a:lumMod val="65000"/>
                            </a:schemeClr>
                          </a:solidFill>
                          <a:effectLst/>
                          <a:latin typeface="+mn-lt"/>
                          <a:ea typeface="+mn-ea"/>
                          <a:cs typeface="+mn-ea"/>
                          <a:sym typeface="+mn-lt"/>
                        </a:rPr>
                        <a:t>进行方案策划，预计下周提出初步方向及方案</a:t>
                      </a:r>
                      <a:endParaRPr lang="en-US" altLang="zh-CN" sz="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宿达恒</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7758094"/>
                  </a:ext>
                </a:extLst>
              </a:tr>
            </a:tbl>
          </a:graphicData>
        </a:graphic>
      </p:graphicFrame>
      <p:sp>
        <p:nvSpPr>
          <p:cNvPr id="7" name="矩形: 圆角 39">
            <a:extLst>
              <a:ext uri="{FF2B5EF4-FFF2-40B4-BE49-F238E27FC236}">
                <a16:creationId xmlns:a16="http://schemas.microsoft.com/office/drawing/2014/main" id="{FF15ED94-5A65-458C-905E-EF23F3E784C9}"/>
              </a:ext>
            </a:extLst>
          </p:cNvPr>
          <p:cNvSpPr/>
          <p:nvPr/>
        </p:nvSpPr>
        <p:spPr>
          <a:xfrm>
            <a:off x="5087888" y="495428"/>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smtClean="0">
                <a:solidFill>
                  <a:schemeClr val="bg1"/>
                </a:solidFill>
                <a:cs typeface="+mn-ea"/>
                <a:sym typeface="+mn-lt"/>
              </a:rPr>
              <a:t>数字化工具</a:t>
            </a:r>
            <a:endParaRPr kumimoji="1" lang="zh-CN" altLang="en-US" sz="1400" b="1" dirty="0">
              <a:solidFill>
                <a:schemeClr val="bg1"/>
              </a:solidFill>
              <a:cs typeface="+mn-ea"/>
              <a:sym typeface="+mn-lt"/>
            </a:endParaRPr>
          </a:p>
        </p:txBody>
      </p:sp>
    </p:spTree>
    <p:extLst>
      <p:ext uri="{BB962C8B-B14F-4D97-AF65-F5344CB8AC3E}">
        <p14:creationId xmlns:p14="http://schemas.microsoft.com/office/powerpoint/2010/main" val="992764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sp>
        <p:nvSpPr>
          <p:cNvPr id="8" name="矩形: 圆角 39">
            <a:extLst>
              <a:ext uri="{FF2B5EF4-FFF2-40B4-BE49-F238E27FC236}">
                <a16:creationId xmlns:a16="http://schemas.microsoft.com/office/drawing/2014/main" id="{FF15ED94-5A65-458C-905E-EF23F3E784C9}"/>
              </a:ext>
            </a:extLst>
          </p:cNvPr>
          <p:cNvSpPr/>
          <p:nvPr/>
        </p:nvSpPr>
        <p:spPr>
          <a:xfrm>
            <a:off x="5231904" y="495428"/>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smtClean="0">
                <a:solidFill>
                  <a:schemeClr val="bg1"/>
                </a:solidFill>
                <a:cs typeface="+mn-ea"/>
                <a:sym typeface="+mn-lt"/>
              </a:rPr>
              <a:t>用户运营</a:t>
            </a:r>
            <a:endParaRPr kumimoji="1" lang="zh-CN" altLang="en-US" sz="1400" b="1" dirty="0">
              <a:solidFill>
                <a:schemeClr val="bg1"/>
              </a:solidFill>
              <a:cs typeface="+mn-ea"/>
              <a:sym typeface="+mn-lt"/>
            </a:endParaRPr>
          </a:p>
        </p:txBody>
      </p:sp>
      <p:graphicFrame>
        <p:nvGraphicFramePr>
          <p:cNvPr id="5" name="表格 4"/>
          <p:cNvGraphicFramePr>
            <a:graphicFrameLocks noGrp="1"/>
          </p:cNvGraphicFramePr>
          <p:nvPr>
            <p:extLst>
              <p:ext uri="{D42A27DB-BD31-4B8C-83A1-F6EECF244321}">
                <p14:modId xmlns:p14="http://schemas.microsoft.com/office/powerpoint/2010/main" val="3036036363"/>
              </p:ext>
            </p:extLst>
          </p:nvPr>
        </p:nvGraphicFramePr>
        <p:xfrm>
          <a:off x="377079" y="1045954"/>
          <a:ext cx="11334360" cy="3459586"/>
        </p:xfrm>
        <a:graphic>
          <a:graphicData uri="http://schemas.openxmlformats.org/drawingml/2006/table">
            <a:tbl>
              <a:tblPr/>
              <a:tblGrid>
                <a:gridCol w="648000">
                  <a:extLst>
                    <a:ext uri="{9D8B030D-6E8A-4147-A177-3AD203B41FA5}">
                      <a16:colId xmlns:a16="http://schemas.microsoft.com/office/drawing/2014/main" val="3366887012"/>
                    </a:ext>
                  </a:extLst>
                </a:gridCol>
                <a:gridCol w="1651772">
                  <a:extLst>
                    <a:ext uri="{9D8B030D-6E8A-4147-A177-3AD203B41FA5}">
                      <a16:colId xmlns:a16="http://schemas.microsoft.com/office/drawing/2014/main" val="484113456"/>
                    </a:ext>
                  </a:extLst>
                </a:gridCol>
                <a:gridCol w="3702434">
                  <a:extLst>
                    <a:ext uri="{9D8B030D-6E8A-4147-A177-3AD203B41FA5}">
                      <a16:colId xmlns:a16="http://schemas.microsoft.com/office/drawing/2014/main" val="218647580"/>
                    </a:ext>
                  </a:extLst>
                </a:gridCol>
                <a:gridCol w="3645794">
                  <a:extLst>
                    <a:ext uri="{9D8B030D-6E8A-4147-A177-3AD203B41FA5}">
                      <a16:colId xmlns:a16="http://schemas.microsoft.com/office/drawing/2014/main" val="3743736683"/>
                    </a:ext>
                  </a:extLst>
                </a:gridCol>
                <a:gridCol w="869110">
                  <a:extLst>
                    <a:ext uri="{9D8B030D-6E8A-4147-A177-3AD203B41FA5}">
                      <a16:colId xmlns:a16="http://schemas.microsoft.com/office/drawing/2014/main" val="1640352159"/>
                    </a:ext>
                  </a:extLst>
                </a:gridCol>
                <a:gridCol w="817250">
                  <a:extLst>
                    <a:ext uri="{9D8B030D-6E8A-4147-A177-3AD203B41FA5}">
                      <a16:colId xmlns:a16="http://schemas.microsoft.com/office/drawing/2014/main" val="3839354263"/>
                    </a:ext>
                  </a:extLst>
                </a:gridCol>
              </a:tblGrid>
              <a:tr h="462226">
                <a:tc>
                  <a:txBody>
                    <a:bodyPr/>
                    <a:lstStyle/>
                    <a:p>
                      <a:pPr algn="ctr" fontAlgn="ctr">
                        <a:lnSpc>
                          <a:spcPct val="150000"/>
                        </a:lnSpc>
                      </a:pP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lnSpc>
                          <a:spcPct val="150000"/>
                        </a:lnSpc>
                      </a:pP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1260000">
                <a:tc>
                  <a:txBody>
                    <a:bodyPr/>
                    <a:lstStyle/>
                    <a:p>
                      <a:pPr algn="ctr" fontAlgn="ctr" latinLnBrk="0">
                        <a:lnSpc>
                          <a:spcPct val="150000"/>
                        </a:lnSpc>
                      </a:pPr>
                      <a:r>
                        <a:rPr lang="en-US" altLang="zh-CN" sz="1200" b="0" dirty="0" smtClean="0">
                          <a:solidFill>
                            <a:srgbClr val="000000"/>
                          </a:solidFill>
                          <a:effectLst/>
                          <a:latin typeface="+mn-lt"/>
                          <a:ea typeface="+mn-ea"/>
                          <a:cs typeface="+mn-ea"/>
                          <a:sym typeface="+mn-lt"/>
                        </a:rPr>
                        <a:t>1</a:t>
                      </a:r>
                      <a:endParaRPr lang="en-US" altLang="zh-CN" sz="1200" b="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b="1" dirty="0">
                          <a:solidFill>
                            <a:srgbClr val="000000"/>
                          </a:solidFill>
                          <a:effectLst/>
                          <a:latin typeface="+mn-lt"/>
                          <a:ea typeface="+mn-ea"/>
                          <a:cs typeface="+mn-ea"/>
                          <a:sym typeface="+mn-lt"/>
                        </a:rPr>
                        <a:t>超级合伙人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endParaRPr lang="zh-CN" altLang="en-US" sz="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kern="1200" dirty="0" smtClean="0">
                          <a:solidFill>
                            <a:srgbClr val="FF0000"/>
                          </a:solidFill>
                          <a:effectLst/>
                          <a:latin typeface="+mn-lt"/>
                          <a:ea typeface="+mn-ea"/>
                          <a:cs typeface="+mn-ea"/>
                          <a:sym typeface="+mn-lt"/>
                        </a:rPr>
                        <a:t>1118 </a:t>
                      </a:r>
                      <a:r>
                        <a:rPr lang="zh-CN" altLang="en-US" sz="1200" kern="1200" dirty="0" smtClean="0">
                          <a:solidFill>
                            <a:srgbClr val="FF0000"/>
                          </a:solidFill>
                          <a:effectLst/>
                          <a:latin typeface="+mn-lt"/>
                          <a:ea typeface="+mn-ea"/>
                          <a:cs typeface="+mn-ea"/>
                          <a:sym typeface="+mn-lt"/>
                        </a:rPr>
                        <a:t>超伙与一店一码的融合方案产品评估中；</a:t>
                      </a:r>
                      <a:r>
                        <a:rPr lang="en-US" altLang="zh-CN" sz="1200" kern="1200" dirty="0" smtClean="0">
                          <a:solidFill>
                            <a:srgbClr val="FF0000"/>
                          </a:solidFill>
                          <a:effectLst/>
                          <a:latin typeface="+mn-lt"/>
                          <a:ea typeface="+mn-ea"/>
                          <a:cs typeface="+mn-ea"/>
                          <a:sym typeface="+mn-lt"/>
                        </a:rPr>
                        <a:t>2022</a:t>
                      </a:r>
                      <a:r>
                        <a:rPr lang="zh-CN" altLang="en-US" sz="1200" kern="1200" dirty="0" smtClean="0">
                          <a:solidFill>
                            <a:srgbClr val="FF0000"/>
                          </a:solidFill>
                          <a:effectLst/>
                          <a:latin typeface="+mn-lt"/>
                          <a:ea typeface="+mn-ea"/>
                          <a:cs typeface="+mn-ea"/>
                          <a:sym typeface="+mn-lt"/>
                        </a:rPr>
                        <a:t>运营数据梳理完成</a:t>
                      </a:r>
                      <a:endParaRPr lang="en-US" altLang="zh-CN" sz="1200" kern="120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kern="1200" dirty="0" smtClean="0">
                          <a:solidFill>
                            <a:schemeClr val="bg1">
                              <a:lumMod val="65000"/>
                            </a:schemeClr>
                          </a:solidFill>
                          <a:effectLst/>
                          <a:latin typeface="+mn-lt"/>
                          <a:ea typeface="+mn-ea"/>
                          <a:cs typeface="+mn-ea"/>
                          <a:sym typeface="+mn-lt"/>
                        </a:rPr>
                        <a:t>1111 </a:t>
                      </a:r>
                      <a:r>
                        <a:rPr lang="zh-CN" altLang="en-US" sz="1200" kern="1200" dirty="0" smtClean="0">
                          <a:solidFill>
                            <a:schemeClr val="bg1">
                              <a:lumMod val="65000"/>
                            </a:schemeClr>
                          </a:solidFill>
                          <a:effectLst/>
                          <a:latin typeface="+mn-lt"/>
                          <a:ea typeface="+mn-ea"/>
                          <a:cs typeface="+mn-ea"/>
                          <a:sym typeface="+mn-lt"/>
                        </a:rPr>
                        <a:t>规划超伙和一店一码的融合方案，同时梳理年度数据进行复盘</a:t>
                      </a:r>
                      <a:r>
                        <a:rPr lang="zh-CN" altLang="en-US" sz="1200" kern="1200" dirty="0" smtClean="0">
                          <a:solidFill>
                            <a:schemeClr val="bg1">
                              <a:lumMod val="65000"/>
                            </a:schemeClr>
                          </a:solidFill>
                          <a:effectLst/>
                          <a:latin typeface="+mn-lt"/>
                          <a:ea typeface="+mn-ea"/>
                          <a:cs typeface="+mn-ea"/>
                          <a:sym typeface="+mn-lt"/>
                        </a:rPr>
                        <a:t>分析</a:t>
                      </a:r>
                      <a:endParaRPr lang="en-US" altLang="zh-CN" sz="1200" kern="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文莫敏</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陈娟</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696984"/>
                  </a:ext>
                </a:extLst>
              </a:tr>
              <a:tr h="1260000">
                <a:tc>
                  <a:txBody>
                    <a:bodyPr/>
                    <a:lstStyle/>
                    <a:p>
                      <a:pPr marL="0" algn="ctr" defTabSz="914400" rtl="0" eaLnBrk="1" fontAlgn="ctr" latinLnBrk="0" hangingPunct="1">
                        <a:lnSpc>
                          <a:spcPct val="150000"/>
                        </a:lnSpc>
                      </a:pPr>
                      <a:r>
                        <a:rPr lang="en-US" altLang="zh-CN" sz="1200" b="0" kern="1200" dirty="0" smtClean="0">
                          <a:solidFill>
                            <a:srgbClr val="000000"/>
                          </a:solidFill>
                          <a:effectLst/>
                          <a:latin typeface="+mn-lt"/>
                          <a:ea typeface="+mn-ea"/>
                          <a:cs typeface="+mn-ea"/>
                          <a:sym typeface="+mn-lt"/>
                        </a:rPr>
                        <a:t>2</a:t>
                      </a:r>
                      <a:endParaRPr lang="en-US" altLang="zh-CN" sz="1200" b="0"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lnSpc>
                          <a:spcPct val="150000"/>
                        </a:lnSpc>
                      </a:pPr>
                      <a:r>
                        <a:rPr lang="zh-CN" altLang="en-US" sz="1200" kern="1200" dirty="0">
                          <a:solidFill>
                            <a:srgbClr val="000000"/>
                          </a:solidFill>
                          <a:effectLst/>
                          <a:latin typeface="+mn-lt"/>
                          <a:ea typeface="+mn-ea"/>
                          <a:cs typeface="+mn-ea"/>
                          <a:sym typeface="+mn-lt"/>
                        </a:rPr>
                        <a:t>客户关怀</a:t>
                      </a:r>
                      <a:r>
                        <a:rPr lang="zh-CN" altLang="en-US" sz="1200" kern="1200" dirty="0" smtClean="0">
                          <a:solidFill>
                            <a:srgbClr val="000000"/>
                          </a:solidFill>
                          <a:effectLst/>
                          <a:latin typeface="+mn-lt"/>
                          <a:ea typeface="+mn-ea"/>
                          <a:cs typeface="+mn-ea"/>
                          <a:sym typeface="+mn-lt"/>
                        </a:rPr>
                        <a:t>中心</a:t>
                      </a:r>
                      <a:endParaRPr lang="zh-CN" altLang="en-US" sz="1200" kern="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tx1"/>
                          </a:solidFill>
                          <a:effectLst/>
                          <a:latin typeface="+mn-lt"/>
                          <a:ea typeface="+mn-ea"/>
                          <a:cs typeface="+mn-ea"/>
                          <a:sym typeface="+mn-lt"/>
                        </a:rPr>
                        <a:t>【</a:t>
                      </a:r>
                      <a:r>
                        <a:rPr lang="zh-CN" altLang="en-US" sz="1200" dirty="0" smtClean="0">
                          <a:solidFill>
                            <a:schemeClr val="tx1"/>
                          </a:solidFill>
                          <a:effectLst/>
                          <a:latin typeface="+mn-lt"/>
                          <a:ea typeface="+mn-ea"/>
                          <a:cs typeface="+mn-ea"/>
                          <a:sym typeface="+mn-lt"/>
                        </a:rPr>
                        <a:t>指摘内容</a:t>
                      </a:r>
                      <a:r>
                        <a:rPr lang="en-US" altLang="zh-CN" sz="1200" dirty="0" smtClean="0">
                          <a:solidFill>
                            <a:schemeClr val="tx1"/>
                          </a:solidFill>
                          <a:effectLst/>
                          <a:latin typeface="+mn-lt"/>
                          <a:ea typeface="+mn-ea"/>
                          <a:cs typeface="+mn-ea"/>
                          <a:sym typeface="+mn-lt"/>
                        </a:rPr>
                        <a:t>】1116</a:t>
                      </a: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chemeClr val="tx1"/>
                          </a:solidFill>
                          <a:effectLst/>
                          <a:latin typeface="+mn-lt"/>
                          <a:ea typeface="+mn-ea"/>
                          <a:cs typeface="+mn-ea"/>
                          <a:sym typeface="+mn-lt"/>
                        </a:rPr>
                        <a:t>上下游打通，数据一元化管理；</a:t>
                      </a:r>
                      <a:endParaRPr lang="en-US" altLang="zh-CN" sz="1200" dirty="0" smtClean="0">
                        <a:solidFill>
                          <a:schemeClr val="tx1"/>
                        </a:solidFill>
                        <a:effectLst/>
                        <a:latin typeface="+mn-lt"/>
                        <a:ea typeface="+mn-ea"/>
                        <a:cs typeface="+mn-ea"/>
                        <a:sym typeface="+mn-lt"/>
                      </a:endParaRP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chemeClr val="tx1"/>
                          </a:solidFill>
                          <a:effectLst/>
                          <a:latin typeface="+mn-lt"/>
                          <a:ea typeface="+mn-ea"/>
                          <a:cs typeface="+mn-ea"/>
                          <a:sym typeface="+mn-lt"/>
                        </a:rPr>
                        <a:t>客户满意度的评价体系；</a:t>
                      </a:r>
                      <a:endParaRPr lang="en-US" altLang="zh-CN" sz="1200" dirty="0" smtClean="0">
                        <a:solidFill>
                          <a:schemeClr val="tx1"/>
                        </a:solidFill>
                        <a:effectLst/>
                        <a:latin typeface="+mn-lt"/>
                        <a:ea typeface="+mn-ea"/>
                        <a:cs typeface="+mn-ea"/>
                        <a:sym typeface="+mn-lt"/>
                      </a:endParaRP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chemeClr val="tx1"/>
                          </a:solidFill>
                          <a:effectLst/>
                          <a:latin typeface="+mn-lt"/>
                          <a:ea typeface="+mn-ea"/>
                          <a:cs typeface="+mn-ea"/>
                          <a:sym typeface="+mn-lt"/>
                        </a:rPr>
                        <a:t>评估引入机器人客服</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rgbClr val="FF0000"/>
                          </a:solidFill>
                          <a:effectLst/>
                          <a:latin typeface="+mn-lt"/>
                          <a:ea typeface="+mn-ea"/>
                          <a:cs typeface="+mn-ea"/>
                          <a:sym typeface="+mn-lt"/>
                        </a:rPr>
                        <a:t>1118 </a:t>
                      </a:r>
                      <a:r>
                        <a:rPr lang="zh-CN" altLang="en-US" sz="1200" dirty="0" smtClean="0">
                          <a:solidFill>
                            <a:srgbClr val="FF0000"/>
                          </a:solidFill>
                          <a:effectLst/>
                          <a:latin typeface="+mn-lt"/>
                          <a:ea typeface="+mn-ea"/>
                          <a:cs typeface="+mn-ea"/>
                          <a:sym typeface="+mn-lt"/>
                        </a:rPr>
                        <a:t>本周三完成专项部长级汇报；</a:t>
                      </a:r>
                      <a:r>
                        <a:rPr lang="en-US" altLang="zh-CN" sz="1200" dirty="0" smtClean="0">
                          <a:solidFill>
                            <a:srgbClr val="FF0000"/>
                          </a:solidFill>
                          <a:effectLst/>
                          <a:latin typeface="+mn-lt"/>
                          <a:ea typeface="+mn-ea"/>
                          <a:cs typeface="+mn-ea"/>
                          <a:sym typeface="+mn-lt"/>
                        </a:rPr>
                        <a:t>M8</a:t>
                      </a:r>
                      <a:r>
                        <a:rPr lang="zh-CN" altLang="en-US" sz="1200" dirty="0" smtClean="0">
                          <a:solidFill>
                            <a:srgbClr val="FF0000"/>
                          </a:solidFill>
                          <a:effectLst/>
                          <a:latin typeface="+mn-lt"/>
                          <a:ea typeface="+mn-ea"/>
                          <a:cs typeface="+mn-ea"/>
                          <a:sym typeface="+mn-lt"/>
                        </a:rPr>
                        <a:t>宗师版交车透明问题突出，安抚话术效果有限</a:t>
                      </a:r>
                      <a:endParaRPr lang="en-US" altLang="zh-CN" sz="120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65000"/>
                            </a:schemeClr>
                          </a:solidFill>
                          <a:effectLst/>
                          <a:latin typeface="+mn-lt"/>
                          <a:ea typeface="+mn-ea"/>
                          <a:cs typeface="+mn-ea"/>
                          <a:sym typeface="+mn-lt"/>
                        </a:rPr>
                        <a:t>1111 </a:t>
                      </a:r>
                      <a:r>
                        <a:rPr lang="zh-CN" altLang="en-US" sz="1200" b="0" i="0" dirty="0" smtClean="0">
                          <a:solidFill>
                            <a:schemeClr val="bg1">
                              <a:lumMod val="65000"/>
                            </a:schemeClr>
                          </a:solidFill>
                          <a:effectLst/>
                          <a:latin typeface="+mn-lt"/>
                          <a:ea typeface="+mn-ea"/>
                          <a:cs typeface="+mn-ea"/>
                          <a:sym typeface="+mn-lt"/>
                        </a:rPr>
                        <a:t>完成项目</a:t>
                      </a:r>
                      <a:r>
                        <a:rPr lang="en-US" altLang="zh-CN" sz="1200" b="0" i="0" dirty="0" smtClean="0">
                          <a:solidFill>
                            <a:schemeClr val="bg1">
                              <a:lumMod val="65000"/>
                            </a:schemeClr>
                          </a:solidFill>
                          <a:effectLst/>
                          <a:latin typeface="+mn-lt"/>
                          <a:ea typeface="+mn-ea"/>
                          <a:cs typeface="+mn-ea"/>
                          <a:sym typeface="+mn-lt"/>
                        </a:rPr>
                        <a:t>2022</a:t>
                      </a:r>
                      <a:r>
                        <a:rPr lang="zh-CN" altLang="en-US" sz="1200" b="0" i="0" dirty="0" smtClean="0">
                          <a:solidFill>
                            <a:schemeClr val="bg1">
                              <a:lumMod val="65000"/>
                            </a:schemeClr>
                          </a:solidFill>
                          <a:effectLst/>
                          <a:latin typeface="+mn-lt"/>
                          <a:ea typeface="+mn-ea"/>
                          <a:cs typeface="+mn-ea"/>
                          <a:sym typeface="+mn-lt"/>
                        </a:rPr>
                        <a:t>年度总结及</a:t>
                      </a:r>
                      <a:r>
                        <a:rPr lang="en-US" altLang="zh-CN" sz="1200" b="0" i="0" dirty="0" smtClean="0">
                          <a:solidFill>
                            <a:schemeClr val="bg1">
                              <a:lumMod val="65000"/>
                            </a:schemeClr>
                          </a:solidFill>
                          <a:effectLst/>
                          <a:latin typeface="+mn-lt"/>
                          <a:ea typeface="+mn-ea"/>
                          <a:cs typeface="+mn-ea"/>
                          <a:sym typeface="+mn-lt"/>
                        </a:rPr>
                        <a:t>23</a:t>
                      </a:r>
                      <a:r>
                        <a:rPr lang="zh-CN" altLang="en-US" sz="1200" b="0" i="0" dirty="0" smtClean="0">
                          <a:solidFill>
                            <a:schemeClr val="bg1">
                              <a:lumMod val="65000"/>
                            </a:schemeClr>
                          </a:solidFill>
                          <a:effectLst/>
                          <a:latin typeface="+mn-lt"/>
                          <a:ea typeface="+mn-ea"/>
                          <a:cs typeface="+mn-ea"/>
                          <a:sym typeface="+mn-lt"/>
                        </a:rPr>
                        <a:t>年规划科长级汇报，根据意见补充后下周陈部及协同业务部门汇报</a:t>
                      </a:r>
                      <a:endParaRPr lang="en-US" altLang="zh-CN" sz="1200" dirty="0" smtClean="0">
                        <a:solidFill>
                          <a:schemeClr val="bg1">
                            <a:lumMod val="65000"/>
                          </a:schemeClr>
                        </a:solidFill>
                        <a:effectLst/>
                        <a:latin typeface="+mn-lt"/>
                        <a:ea typeface="+mn-ea"/>
                        <a:cs typeface="+mn-ea"/>
                        <a:sym typeface="+mn-lt"/>
                      </a:endParaRPr>
                    </a:p>
                    <a:p>
                      <a:pPr algn="l" fontAlgn="ctr" latinLnBrk="0">
                        <a:lnSpc>
                          <a:spcPct val="150000"/>
                        </a:lnSpc>
                      </a:pPr>
                      <a:r>
                        <a:rPr lang="en-US" altLang="zh-CN" sz="1200" dirty="0" smtClean="0">
                          <a:solidFill>
                            <a:schemeClr val="bg1">
                              <a:lumMod val="65000"/>
                            </a:schemeClr>
                          </a:solidFill>
                          <a:effectLst/>
                          <a:latin typeface="+mn-lt"/>
                          <a:ea typeface="+mn-ea"/>
                          <a:cs typeface="+mn-ea"/>
                          <a:sym typeface="+mn-lt"/>
                        </a:rPr>
                        <a:t>1104 M8</a:t>
                      </a:r>
                      <a:r>
                        <a:rPr lang="zh-CN" altLang="en-US" sz="1200" dirty="0" smtClean="0">
                          <a:solidFill>
                            <a:schemeClr val="bg1">
                              <a:lumMod val="65000"/>
                            </a:schemeClr>
                          </a:solidFill>
                          <a:effectLst/>
                          <a:latin typeface="+mn-lt"/>
                          <a:ea typeface="+mn-ea"/>
                          <a:cs typeface="+mn-ea"/>
                          <a:sym typeface="+mn-lt"/>
                        </a:rPr>
                        <a:t>宗师版客户关怀方案除赔偿方案外其他已确认，启动舆情关怀跟进及机制</a:t>
                      </a:r>
                      <a:r>
                        <a:rPr lang="zh-CN" altLang="en-US" sz="1200" dirty="0" smtClean="0">
                          <a:solidFill>
                            <a:schemeClr val="bg1">
                              <a:lumMod val="65000"/>
                            </a:schemeClr>
                          </a:solidFill>
                          <a:effectLst/>
                          <a:latin typeface="+mn-lt"/>
                          <a:ea typeface="+mn-ea"/>
                          <a:cs typeface="+mn-ea"/>
                          <a:sym typeface="+mn-lt"/>
                        </a:rPr>
                        <a:t>设计</a:t>
                      </a:r>
                      <a:endParaRPr lang="en-US" altLang="zh-CN" sz="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文莫敏</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陈娟</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0342623"/>
                  </a:ext>
                </a:extLst>
              </a:tr>
            </a:tbl>
          </a:graphicData>
        </a:graphic>
      </p:graphicFrame>
    </p:spTree>
    <p:extLst>
      <p:ext uri="{BB962C8B-B14F-4D97-AF65-F5344CB8AC3E}">
        <p14:creationId xmlns:p14="http://schemas.microsoft.com/office/powerpoint/2010/main" val="3751620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graphicFrame>
        <p:nvGraphicFramePr>
          <p:cNvPr id="10" name="表格 9"/>
          <p:cNvGraphicFramePr>
            <a:graphicFrameLocks noGrp="1"/>
          </p:cNvGraphicFramePr>
          <p:nvPr>
            <p:extLst>
              <p:ext uri="{D42A27DB-BD31-4B8C-83A1-F6EECF244321}">
                <p14:modId xmlns:p14="http://schemas.microsoft.com/office/powerpoint/2010/main" val="3537370793"/>
              </p:ext>
            </p:extLst>
          </p:nvPr>
        </p:nvGraphicFramePr>
        <p:xfrm>
          <a:off x="263352" y="807520"/>
          <a:ext cx="11701208" cy="5542480"/>
        </p:xfrm>
        <a:graphic>
          <a:graphicData uri="http://schemas.openxmlformats.org/drawingml/2006/table">
            <a:tbl>
              <a:tblPr/>
              <a:tblGrid>
                <a:gridCol w="648000">
                  <a:extLst>
                    <a:ext uri="{9D8B030D-6E8A-4147-A177-3AD203B41FA5}">
                      <a16:colId xmlns:a16="http://schemas.microsoft.com/office/drawing/2014/main" val="3366887012"/>
                    </a:ext>
                  </a:extLst>
                </a:gridCol>
                <a:gridCol w="1080192">
                  <a:extLst>
                    <a:ext uri="{9D8B030D-6E8A-4147-A177-3AD203B41FA5}">
                      <a16:colId xmlns:a16="http://schemas.microsoft.com/office/drawing/2014/main" val="484113456"/>
                    </a:ext>
                  </a:extLst>
                </a:gridCol>
                <a:gridCol w="2808312">
                  <a:extLst>
                    <a:ext uri="{9D8B030D-6E8A-4147-A177-3AD203B41FA5}">
                      <a16:colId xmlns:a16="http://schemas.microsoft.com/office/drawing/2014/main" val="218647580"/>
                    </a:ext>
                  </a:extLst>
                </a:gridCol>
                <a:gridCol w="5472608">
                  <a:extLst>
                    <a:ext uri="{9D8B030D-6E8A-4147-A177-3AD203B41FA5}">
                      <a16:colId xmlns:a16="http://schemas.microsoft.com/office/drawing/2014/main" val="3743736683"/>
                    </a:ext>
                  </a:extLst>
                </a:gridCol>
                <a:gridCol w="864096">
                  <a:extLst>
                    <a:ext uri="{9D8B030D-6E8A-4147-A177-3AD203B41FA5}">
                      <a16:colId xmlns:a16="http://schemas.microsoft.com/office/drawing/2014/main" val="1640352159"/>
                    </a:ext>
                  </a:extLst>
                </a:gridCol>
                <a:gridCol w="828000">
                  <a:extLst>
                    <a:ext uri="{9D8B030D-6E8A-4147-A177-3AD203B41FA5}">
                      <a16:colId xmlns:a16="http://schemas.microsoft.com/office/drawing/2014/main" val="3839354263"/>
                    </a:ext>
                  </a:extLst>
                </a:gridCol>
              </a:tblGrid>
              <a:tr h="432000">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2952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200" dirty="0" smtClean="0">
                          <a:solidFill>
                            <a:srgbClr val="000000"/>
                          </a:solidFill>
                          <a:effectLst/>
                          <a:latin typeface="+mn-lt"/>
                          <a:ea typeface="+mn-ea"/>
                          <a:cs typeface="+mn-ea"/>
                          <a:sym typeface="+mn-lt"/>
                        </a:rPr>
                        <a:t>1</a:t>
                      </a:r>
                      <a:endParaRPr lang="en-US" altLang="zh-CN" sz="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r>
                        <a:rPr lang="en-US" altLang="zh-CN" sz="1200" b="1" dirty="0" smtClean="0">
                          <a:solidFill>
                            <a:srgbClr val="000000"/>
                          </a:solidFill>
                          <a:effectLst/>
                          <a:latin typeface="+mn-lt"/>
                          <a:ea typeface="+mn-ea"/>
                          <a:cs typeface="+mn-ea"/>
                          <a:sym typeface="+mn-lt"/>
                        </a:rPr>
                        <a:t>【A2】</a:t>
                      </a:r>
                      <a:endParaRPr lang="en-US" altLang="zh-CN" sz="1200" b="1"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tx1"/>
                          </a:solidFill>
                          <a:effectLst/>
                          <a:latin typeface="+mn-lt"/>
                          <a:ea typeface="+mn-ea"/>
                          <a:cs typeface="+mn-ea"/>
                          <a:sym typeface="+mn-lt"/>
                        </a:rPr>
                        <a:t>【</a:t>
                      </a:r>
                      <a:r>
                        <a:rPr lang="zh-CN" altLang="en-US" sz="1200" dirty="0" smtClean="0">
                          <a:solidFill>
                            <a:schemeClr val="tx1"/>
                          </a:solidFill>
                          <a:effectLst/>
                          <a:latin typeface="+mn-lt"/>
                          <a:ea typeface="+mn-ea"/>
                          <a:cs typeface="+mn-ea"/>
                          <a:sym typeface="+mn-lt"/>
                        </a:rPr>
                        <a:t>指摘内容</a:t>
                      </a:r>
                      <a:r>
                        <a:rPr lang="en-US" altLang="zh-CN" sz="1200" dirty="0" smtClean="0">
                          <a:solidFill>
                            <a:schemeClr val="tx1"/>
                          </a:solidFill>
                          <a:effectLst/>
                          <a:latin typeface="+mn-lt"/>
                          <a:ea typeface="+mn-ea"/>
                          <a:cs typeface="+mn-ea"/>
                          <a:sym typeface="+mn-lt"/>
                        </a:rPr>
                        <a:t>】1111</a:t>
                      </a: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chemeClr val="tx1"/>
                          </a:solidFill>
                          <a:effectLst/>
                          <a:latin typeface="+mn-lt"/>
                          <a:ea typeface="+mn-ea"/>
                          <a:cs typeface="+mn-ea"/>
                          <a:sym typeface="+mn-lt"/>
                        </a:rPr>
                        <a:t>沟通“经销商积分”与“</a:t>
                      </a:r>
                      <a:r>
                        <a:rPr lang="en-US" altLang="zh-CN" sz="1200" dirty="0" smtClean="0">
                          <a:solidFill>
                            <a:schemeClr val="tx1"/>
                          </a:solidFill>
                          <a:effectLst/>
                          <a:latin typeface="+mn-lt"/>
                          <a:ea typeface="+mn-ea"/>
                          <a:cs typeface="+mn-ea"/>
                          <a:sym typeface="+mn-lt"/>
                        </a:rPr>
                        <a:t>G</a:t>
                      </a:r>
                      <a:r>
                        <a:rPr lang="zh-CN" altLang="en-US" sz="1200" dirty="0" smtClean="0">
                          <a:solidFill>
                            <a:schemeClr val="tx1"/>
                          </a:solidFill>
                          <a:effectLst/>
                          <a:latin typeface="+mn-lt"/>
                          <a:ea typeface="+mn-ea"/>
                          <a:cs typeface="+mn-ea"/>
                          <a:sym typeface="+mn-lt"/>
                        </a:rPr>
                        <a:t>豆”之间的通兑、结算规则</a:t>
                      </a:r>
                      <a:endParaRPr lang="en-US" altLang="zh-CN" sz="1200" dirty="0" smtClean="0">
                        <a:solidFill>
                          <a:schemeClr val="tx1"/>
                        </a:solidFill>
                        <a:effectLst/>
                        <a:latin typeface="+mn-lt"/>
                        <a:ea typeface="+mn-ea"/>
                        <a:cs typeface="+mn-ea"/>
                        <a:sym typeface="+mn-lt"/>
                      </a:endParaRP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chemeClr val="tx1"/>
                          </a:solidFill>
                          <a:effectLst/>
                          <a:latin typeface="+mn-lt"/>
                          <a:ea typeface="+mn-ea"/>
                          <a:cs typeface="+mn-ea"/>
                          <a:sym typeface="+mn-lt"/>
                        </a:rPr>
                        <a:t>以抖音直播作为阵地使用，在未来可满足店端用户使用抖音进行直播带货</a:t>
                      </a:r>
                      <a:endParaRPr lang="zh-CN" altLang="en-US" sz="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1118</a:t>
                      </a:r>
                    </a:p>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a:t>
                      </a:r>
                      <a:r>
                        <a:rPr lang="zh-CN" altLang="en-US" sz="1200" dirty="0" smtClean="0">
                          <a:solidFill>
                            <a:srgbClr val="FF0000"/>
                          </a:solidFill>
                          <a:effectLst/>
                          <a:latin typeface="+mn-lt"/>
                          <a:ea typeface="+mn-ea"/>
                          <a:cs typeface="+mn-ea"/>
                          <a:sym typeface="+mn-lt"/>
                        </a:rPr>
                        <a:t>咨询</a:t>
                      </a:r>
                      <a:r>
                        <a:rPr lang="en-US" altLang="zh-CN" sz="1200" dirty="0" smtClean="0">
                          <a:solidFill>
                            <a:srgbClr val="FF0000"/>
                          </a:solidFill>
                          <a:effectLst/>
                          <a:latin typeface="+mn-lt"/>
                          <a:ea typeface="+mn-ea"/>
                          <a:cs typeface="+mn-ea"/>
                          <a:sym typeface="+mn-lt"/>
                        </a:rPr>
                        <a:t>】A2</a:t>
                      </a:r>
                      <a:r>
                        <a:rPr lang="zh-CN" altLang="en-US" sz="1200" dirty="0" smtClean="0">
                          <a:solidFill>
                            <a:srgbClr val="FF0000"/>
                          </a:solidFill>
                          <a:effectLst/>
                          <a:latin typeface="+mn-lt"/>
                          <a:ea typeface="+mn-ea"/>
                          <a:cs typeface="+mn-ea"/>
                          <a:sym typeface="+mn-lt"/>
                        </a:rPr>
                        <a:t>整体蓝图制作中，计划今日定例会进行部长级汇报。</a:t>
                      </a:r>
                      <a:r>
                        <a:rPr lang="en-US" altLang="zh-CN" sz="1200" dirty="0" smtClean="0">
                          <a:solidFill>
                            <a:srgbClr val="FF0000"/>
                          </a:solidFill>
                          <a:effectLst/>
                          <a:latin typeface="+mn-lt"/>
                          <a:ea typeface="+mn-ea"/>
                          <a:cs typeface="+mn-ea"/>
                          <a:sym typeface="+mn-lt"/>
                        </a:rPr>
                        <a:t>【</a:t>
                      </a:r>
                      <a:r>
                        <a:rPr lang="zh-CN" altLang="en-US" sz="1200" dirty="0" smtClean="0">
                          <a:solidFill>
                            <a:srgbClr val="FF0000"/>
                          </a:solidFill>
                          <a:effectLst/>
                          <a:latin typeface="+mn-lt"/>
                          <a:ea typeface="+mn-ea"/>
                          <a:cs typeface="+mn-ea"/>
                          <a:sym typeface="+mn-lt"/>
                        </a:rPr>
                        <a:t>中台</a:t>
                      </a:r>
                      <a:r>
                        <a:rPr lang="en-US" altLang="zh-CN" sz="1200" dirty="0" smtClean="0">
                          <a:solidFill>
                            <a:srgbClr val="FF0000"/>
                          </a:solidFill>
                          <a:effectLst/>
                          <a:latin typeface="+mn-lt"/>
                          <a:ea typeface="+mn-ea"/>
                          <a:cs typeface="+mn-ea"/>
                          <a:sym typeface="+mn-lt"/>
                        </a:rPr>
                        <a:t>】</a:t>
                      </a:r>
                      <a:r>
                        <a:rPr lang="zh-CN" altLang="en-US" sz="1200" dirty="0" smtClean="0">
                          <a:solidFill>
                            <a:srgbClr val="FF0000"/>
                          </a:solidFill>
                          <a:effectLst/>
                          <a:latin typeface="+mn-lt"/>
                          <a:ea typeface="+mn-ea"/>
                          <a:cs typeface="+mn-ea"/>
                          <a:sym typeface="+mn-lt"/>
                        </a:rPr>
                        <a:t>线索、订单、用户等中心规划及与周边应用额集成架构沟通确认，技术架构方案确认，同步进入要件设计阶段。</a:t>
                      </a:r>
                      <a:endParaRPr lang="en-US" altLang="zh-CN" sz="1200" dirty="0" smtClean="0">
                        <a:solidFill>
                          <a:srgbClr val="FF0000"/>
                        </a:solidFill>
                        <a:effectLst/>
                        <a:latin typeface="+mn-lt"/>
                        <a:ea typeface="+mn-ea"/>
                        <a:cs typeface="+mn-ea"/>
                        <a:sym typeface="+mn-lt"/>
                      </a:endParaRPr>
                    </a:p>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【APP】APP</a:t>
                      </a:r>
                      <a:r>
                        <a:rPr lang="zh-CN" altLang="en-US" sz="1200" dirty="0" smtClean="0">
                          <a:solidFill>
                            <a:srgbClr val="FF0000"/>
                          </a:solidFill>
                          <a:effectLst/>
                          <a:latin typeface="+mn-lt"/>
                          <a:ea typeface="+mn-ea"/>
                          <a:cs typeface="+mn-ea"/>
                          <a:sym typeface="+mn-lt"/>
                        </a:rPr>
                        <a:t>前端各板块：发现、爱车、我的、展厅板块蓝图材料梳理，同步进入要件设计阶段。</a:t>
                      </a:r>
                      <a:endParaRPr lang="en-US" altLang="zh-CN" sz="1200" dirty="0" smtClean="0">
                        <a:solidFill>
                          <a:srgbClr val="FF0000"/>
                        </a:solidFill>
                        <a:effectLst/>
                        <a:latin typeface="+mn-lt"/>
                        <a:ea typeface="+mn-ea"/>
                        <a:cs typeface="+mn-ea"/>
                        <a:sym typeface="+mn-lt"/>
                      </a:endParaRPr>
                    </a:p>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a:t>
                      </a:r>
                      <a:r>
                        <a:rPr lang="zh-CN" altLang="en-US" sz="1200" dirty="0" smtClean="0">
                          <a:solidFill>
                            <a:srgbClr val="FF0000"/>
                          </a:solidFill>
                          <a:effectLst/>
                          <a:latin typeface="+mn-lt"/>
                          <a:ea typeface="+mn-ea"/>
                          <a:cs typeface="+mn-ea"/>
                          <a:sym typeface="+mn-lt"/>
                        </a:rPr>
                        <a:t>云店</a:t>
                      </a:r>
                      <a:r>
                        <a:rPr lang="en-US" altLang="zh-CN" sz="1200" dirty="0" smtClean="0">
                          <a:solidFill>
                            <a:srgbClr val="FF0000"/>
                          </a:solidFill>
                          <a:effectLst/>
                          <a:latin typeface="+mn-lt"/>
                          <a:ea typeface="+mn-ea"/>
                          <a:cs typeface="+mn-ea"/>
                          <a:sym typeface="+mn-lt"/>
                        </a:rPr>
                        <a:t>】</a:t>
                      </a:r>
                      <a:r>
                        <a:rPr lang="zh-CN" altLang="en-US" sz="1200" dirty="0" smtClean="0">
                          <a:solidFill>
                            <a:srgbClr val="FF0000"/>
                          </a:solidFill>
                          <a:effectLst/>
                          <a:latin typeface="+mn-lt"/>
                          <a:ea typeface="+mn-ea"/>
                          <a:cs typeface="+mn-ea"/>
                          <a:sym typeface="+mn-lt"/>
                        </a:rPr>
                        <a:t>云店</a:t>
                      </a:r>
                      <a:r>
                        <a:rPr lang="en-US" altLang="zh-CN" sz="1200" dirty="0" smtClean="0">
                          <a:solidFill>
                            <a:srgbClr val="FF0000"/>
                          </a:solidFill>
                          <a:effectLst/>
                          <a:latin typeface="+mn-lt"/>
                          <a:ea typeface="+mn-ea"/>
                          <a:cs typeface="+mn-ea"/>
                          <a:sym typeface="+mn-lt"/>
                        </a:rPr>
                        <a:t>A2</a:t>
                      </a:r>
                      <a:r>
                        <a:rPr lang="zh-CN" altLang="en-US" sz="1200" dirty="0" smtClean="0">
                          <a:solidFill>
                            <a:srgbClr val="FF0000"/>
                          </a:solidFill>
                          <a:effectLst/>
                          <a:latin typeface="+mn-lt"/>
                          <a:ea typeface="+mn-ea"/>
                          <a:cs typeface="+mn-ea"/>
                          <a:sym typeface="+mn-lt"/>
                        </a:rPr>
                        <a:t>阶段业务蓝图已完成部长级汇报，推进要件制作。</a:t>
                      </a:r>
                      <a:endParaRPr lang="en-US" altLang="zh-CN" sz="1200" dirty="0" smtClean="0">
                        <a:solidFill>
                          <a:srgbClr val="FF0000"/>
                        </a:solidFill>
                        <a:effectLst/>
                        <a:latin typeface="+mn-lt"/>
                        <a:ea typeface="+mn-ea"/>
                        <a:cs typeface="+mn-ea"/>
                        <a:sym typeface="+mn-lt"/>
                      </a:endParaRPr>
                    </a:p>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a:t>
                      </a:r>
                      <a:r>
                        <a:rPr lang="zh-CN" altLang="en-US" sz="1200" dirty="0" smtClean="0">
                          <a:solidFill>
                            <a:srgbClr val="FF0000"/>
                          </a:solidFill>
                          <a:effectLst/>
                          <a:latin typeface="+mn-lt"/>
                          <a:ea typeface="+mn-ea"/>
                          <a:cs typeface="+mn-ea"/>
                          <a:sym typeface="+mn-lt"/>
                        </a:rPr>
                        <a:t>内容</a:t>
                      </a:r>
                      <a:r>
                        <a:rPr lang="en-US" altLang="zh-CN" sz="1200" dirty="0" smtClean="0">
                          <a:solidFill>
                            <a:srgbClr val="FF0000"/>
                          </a:solidFill>
                          <a:effectLst/>
                          <a:latin typeface="+mn-lt"/>
                          <a:ea typeface="+mn-ea"/>
                          <a:cs typeface="+mn-ea"/>
                          <a:sym typeface="+mn-lt"/>
                        </a:rPr>
                        <a:t>】APP</a:t>
                      </a:r>
                      <a:r>
                        <a:rPr lang="zh-CN" altLang="en-US" sz="1200" dirty="0" smtClean="0">
                          <a:solidFill>
                            <a:srgbClr val="FF0000"/>
                          </a:solidFill>
                          <a:effectLst/>
                          <a:latin typeface="+mn-lt"/>
                          <a:ea typeface="+mn-ea"/>
                          <a:cs typeface="+mn-ea"/>
                          <a:sym typeface="+mn-lt"/>
                        </a:rPr>
                        <a:t>团队联调，完成内容定制控制台的使用培训，预计 </a:t>
                      </a:r>
                      <a:r>
                        <a:rPr lang="en-US" altLang="zh-CN" sz="1200" dirty="0" smtClean="0">
                          <a:solidFill>
                            <a:srgbClr val="FF0000"/>
                          </a:solidFill>
                          <a:effectLst/>
                          <a:latin typeface="+mn-lt"/>
                          <a:ea typeface="+mn-ea"/>
                          <a:cs typeface="+mn-ea"/>
                          <a:sym typeface="+mn-lt"/>
                        </a:rPr>
                        <a:t>11.24 A1</a:t>
                      </a:r>
                      <a:r>
                        <a:rPr lang="zh-CN" altLang="en-US" sz="1200" dirty="0" smtClean="0">
                          <a:solidFill>
                            <a:srgbClr val="FF0000"/>
                          </a:solidFill>
                          <a:effectLst/>
                          <a:latin typeface="+mn-lt"/>
                          <a:ea typeface="+mn-ea"/>
                          <a:cs typeface="+mn-ea"/>
                          <a:sym typeface="+mn-lt"/>
                        </a:rPr>
                        <a:t>上线。</a:t>
                      </a:r>
                      <a:endParaRPr lang="en-US" altLang="zh-CN" sz="1200" dirty="0" smtClean="0">
                        <a:solidFill>
                          <a:srgbClr val="FF0000"/>
                        </a:solidFill>
                        <a:effectLst/>
                        <a:latin typeface="+mn-lt"/>
                        <a:ea typeface="+mn-ea"/>
                        <a:cs typeface="+mn-ea"/>
                        <a:sym typeface="+mn-lt"/>
                      </a:endParaRPr>
                    </a:p>
                    <a:p>
                      <a:pPr marL="0" indent="0" algn="l" fontAlgn="ctr" latinLnBrk="0">
                        <a:lnSpc>
                          <a:spcPts val="2000"/>
                        </a:lnSpc>
                        <a:buFont typeface="Arial" panose="020B0604020202020204" pitchFamily="34" charset="0"/>
                        <a:buNone/>
                      </a:pPr>
                      <a:endParaRPr lang="en-US" altLang="zh-CN" sz="1200" dirty="0" smtClean="0">
                        <a:solidFill>
                          <a:srgbClr val="FF0000"/>
                        </a:solidFill>
                        <a:effectLst/>
                        <a:latin typeface="+mn-lt"/>
                        <a:ea typeface="+mn-ea"/>
                        <a:cs typeface="+mn-ea"/>
                        <a:sym typeface="+mn-lt"/>
                      </a:endParaRPr>
                    </a:p>
                    <a:p>
                      <a:pPr marL="0" indent="0" algn="l" fontAlgn="ctr" latinLnBrk="0">
                        <a:lnSpc>
                          <a:spcPts val="2000"/>
                        </a:lnSpc>
                        <a:buFont typeface="Arial" panose="020B0604020202020204" pitchFamily="34" charset="0"/>
                        <a:buNone/>
                      </a:pPr>
                      <a:r>
                        <a:rPr lang="zh-CN" altLang="en-US" sz="1200" dirty="0" smtClean="0">
                          <a:solidFill>
                            <a:schemeClr val="tx1"/>
                          </a:solidFill>
                          <a:effectLst/>
                          <a:latin typeface="+mn-lt"/>
                          <a:ea typeface="+mn-ea"/>
                          <a:cs typeface="+mn-ea"/>
                          <a:sym typeface="+mn-lt"/>
                        </a:rPr>
                        <a:t>云店指摘内容：</a:t>
                      </a:r>
                      <a:endParaRPr lang="en-US" altLang="zh-CN" sz="1200" dirty="0" smtClean="0">
                        <a:solidFill>
                          <a:schemeClr val="tx1"/>
                        </a:solidFill>
                        <a:effectLst/>
                        <a:latin typeface="+mn-lt"/>
                        <a:ea typeface="+mn-ea"/>
                        <a:cs typeface="+mn-ea"/>
                        <a:sym typeface="+mn-lt"/>
                      </a:endParaRPr>
                    </a:p>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1</a:t>
                      </a:r>
                      <a:r>
                        <a:rPr lang="zh-CN" altLang="en-US" sz="1200" dirty="0" smtClean="0">
                          <a:solidFill>
                            <a:srgbClr val="FF0000"/>
                          </a:solidFill>
                          <a:effectLst/>
                          <a:latin typeface="+mn-lt"/>
                          <a:ea typeface="+mn-ea"/>
                          <a:cs typeface="+mn-ea"/>
                          <a:sym typeface="+mn-lt"/>
                        </a:rPr>
                        <a:t>、</a:t>
                      </a:r>
                      <a:r>
                        <a:rPr lang="zh-CN" altLang="en-US" sz="1200" dirty="0" smtClean="0">
                          <a:solidFill>
                            <a:schemeClr val="tx1"/>
                          </a:solidFill>
                          <a:effectLst/>
                          <a:latin typeface="+mn-lt"/>
                          <a:ea typeface="+mn-ea"/>
                          <a:cs typeface="+mn-ea"/>
                          <a:sym typeface="+mn-lt"/>
                        </a:rPr>
                        <a:t>“经销商积分”与“</a:t>
                      </a:r>
                      <a:r>
                        <a:rPr lang="en-US" altLang="zh-CN" sz="1200" dirty="0" smtClean="0">
                          <a:solidFill>
                            <a:schemeClr val="tx1"/>
                          </a:solidFill>
                          <a:effectLst/>
                          <a:latin typeface="+mn-lt"/>
                          <a:ea typeface="+mn-ea"/>
                          <a:cs typeface="+mn-ea"/>
                          <a:sym typeface="+mn-lt"/>
                        </a:rPr>
                        <a:t>G</a:t>
                      </a:r>
                      <a:r>
                        <a:rPr lang="zh-CN" altLang="en-US" sz="1200" dirty="0" smtClean="0">
                          <a:solidFill>
                            <a:schemeClr val="tx1"/>
                          </a:solidFill>
                          <a:effectLst/>
                          <a:latin typeface="+mn-lt"/>
                          <a:ea typeface="+mn-ea"/>
                          <a:cs typeface="+mn-ea"/>
                          <a:sym typeface="+mn-lt"/>
                        </a:rPr>
                        <a:t>豆”之间的通兑、结算规则</a:t>
                      </a:r>
                    </a:p>
                    <a:p>
                      <a:pPr marL="0" indent="0" algn="l" fontAlgn="ctr" latinLnBrk="0">
                        <a:lnSpc>
                          <a:spcPts val="2000"/>
                        </a:lnSpc>
                        <a:buFont typeface="Arial" panose="020B0604020202020204" pitchFamily="34" charset="0"/>
                        <a:buNone/>
                      </a:pPr>
                      <a:r>
                        <a:rPr lang="zh-CN" altLang="en-US" sz="1200" dirty="0" smtClean="0">
                          <a:solidFill>
                            <a:srgbClr val="FF0000"/>
                          </a:solidFill>
                          <a:effectLst/>
                          <a:latin typeface="+mn-lt"/>
                          <a:ea typeface="+mn-ea"/>
                          <a:cs typeface="+mn-ea"/>
                          <a:sym typeface="+mn-lt"/>
                        </a:rPr>
                        <a:t>与运营担当沟通梳理方案，预计下周完成方案制作，推进下周三向陈部汇报。</a:t>
                      </a:r>
                      <a:endParaRPr lang="en-US" altLang="zh-CN" sz="1200" dirty="0" smtClean="0">
                        <a:solidFill>
                          <a:srgbClr val="FF0000"/>
                        </a:solidFill>
                        <a:effectLst/>
                        <a:latin typeface="+mn-lt"/>
                        <a:ea typeface="+mn-ea"/>
                        <a:cs typeface="+mn-ea"/>
                        <a:sym typeface="+mn-lt"/>
                      </a:endParaRPr>
                    </a:p>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2</a:t>
                      </a:r>
                      <a:r>
                        <a:rPr lang="zh-CN" altLang="en-US" sz="1200" dirty="0" smtClean="0">
                          <a:solidFill>
                            <a:srgbClr val="FF0000"/>
                          </a:solidFill>
                          <a:effectLst/>
                          <a:latin typeface="+mn-lt"/>
                          <a:ea typeface="+mn-ea"/>
                          <a:cs typeface="+mn-ea"/>
                          <a:sym typeface="+mn-lt"/>
                        </a:rPr>
                        <a:t>、</a:t>
                      </a:r>
                      <a:r>
                        <a:rPr lang="zh-CN" altLang="en-US" sz="1200" dirty="0" smtClean="0">
                          <a:solidFill>
                            <a:schemeClr val="tx1"/>
                          </a:solidFill>
                          <a:effectLst/>
                          <a:latin typeface="+mn-lt"/>
                          <a:ea typeface="+mn-ea"/>
                          <a:cs typeface="+mn-ea"/>
                          <a:sym typeface="+mn-lt"/>
                        </a:rPr>
                        <a:t>以抖音直播作为阵地使用</a:t>
                      </a:r>
                      <a:endParaRPr lang="en-US" altLang="zh-CN" sz="1200" dirty="0" smtClean="0">
                        <a:solidFill>
                          <a:schemeClr val="tx1"/>
                        </a:solidFill>
                        <a:effectLst/>
                        <a:latin typeface="+mn-lt"/>
                        <a:ea typeface="+mn-ea"/>
                        <a:cs typeface="+mn-ea"/>
                        <a:sym typeface="+mn-lt"/>
                      </a:endParaRPr>
                    </a:p>
                    <a:p>
                      <a:pPr marL="0" indent="0" algn="l" fontAlgn="ctr" latinLnBrk="0">
                        <a:lnSpc>
                          <a:spcPts val="2000"/>
                        </a:lnSpc>
                        <a:buFont typeface="Arial" panose="020B0604020202020204" pitchFamily="34" charset="0"/>
                        <a:buNone/>
                      </a:pPr>
                      <a:r>
                        <a:rPr lang="zh-CN" altLang="en-US" sz="1200" dirty="0" smtClean="0">
                          <a:solidFill>
                            <a:srgbClr val="FF0000"/>
                          </a:solidFill>
                          <a:effectLst/>
                          <a:latin typeface="+mn-lt"/>
                          <a:ea typeface="+mn-ea"/>
                          <a:cs typeface="+mn-ea"/>
                          <a:sym typeface="+mn-lt"/>
                        </a:rPr>
                        <a:t>进行方案研究，预计下周三向陈部汇报课题。</a:t>
                      </a:r>
                      <a:endParaRPr lang="en-US" altLang="zh-CN" sz="1200" dirty="0" smtClean="0">
                        <a:solidFill>
                          <a:srgbClr val="FF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梁炯</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4696984"/>
                  </a:ext>
                </a:extLst>
              </a:tr>
              <a:tr h="14400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200" dirty="0" smtClean="0">
                          <a:solidFill>
                            <a:srgbClr val="000000"/>
                          </a:solidFill>
                          <a:effectLst/>
                          <a:latin typeface="+mn-lt"/>
                          <a:ea typeface="+mn-ea"/>
                          <a:cs typeface="+mn-ea"/>
                          <a:sym typeface="+mn-lt"/>
                        </a:rPr>
                        <a:t>2</a:t>
                      </a:r>
                      <a:endParaRPr lang="en-US" altLang="zh-CN" sz="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r>
                        <a:rPr lang="zh-CN" altLang="en-US" sz="1200" b="0" dirty="0" smtClean="0">
                          <a:solidFill>
                            <a:srgbClr val="000000"/>
                          </a:solidFill>
                          <a:effectLst/>
                          <a:latin typeface="+mn-lt"/>
                          <a:ea typeface="+mn-ea"/>
                          <a:cs typeface="+mn-ea"/>
                          <a:sym typeface="+mn-lt"/>
                        </a:rPr>
                        <a:t>配额制</a:t>
                      </a:r>
                      <a:endParaRPr lang="en-US" altLang="zh-CN" sz="1200" b="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tx1"/>
                          </a:solidFill>
                          <a:effectLst/>
                          <a:latin typeface="+mn-lt"/>
                          <a:ea typeface="+mn-ea"/>
                          <a:cs typeface="+mn-ea"/>
                          <a:sym typeface="+mn-lt"/>
                        </a:rPr>
                        <a:t>【</a:t>
                      </a:r>
                      <a:r>
                        <a:rPr lang="zh-CN" altLang="en-US" sz="1200" dirty="0" smtClean="0">
                          <a:solidFill>
                            <a:schemeClr val="tx1"/>
                          </a:solidFill>
                          <a:effectLst/>
                          <a:latin typeface="+mn-lt"/>
                          <a:ea typeface="+mn-ea"/>
                          <a:cs typeface="+mn-ea"/>
                          <a:sym typeface="+mn-lt"/>
                        </a:rPr>
                        <a:t>指摘内容</a:t>
                      </a:r>
                      <a:r>
                        <a:rPr lang="en-US" altLang="zh-CN" sz="1200" dirty="0" smtClean="0">
                          <a:solidFill>
                            <a:schemeClr val="tx1"/>
                          </a:solidFill>
                          <a:effectLst/>
                          <a:latin typeface="+mn-lt"/>
                          <a:ea typeface="+mn-ea"/>
                          <a:cs typeface="+mn-ea"/>
                          <a:sym typeface="+mn-lt"/>
                        </a:rPr>
                        <a:t>】1116</a:t>
                      </a: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chemeClr val="tx1"/>
                          </a:solidFill>
                          <a:effectLst/>
                          <a:latin typeface="+mn-lt"/>
                          <a:ea typeface="+mn-ea"/>
                          <a:cs typeface="+mn-ea"/>
                          <a:sym typeface="+mn-lt"/>
                        </a:rPr>
                        <a:t>研究新模式应用延展到其他车型可能会存在的问题，如超额、超配等；</a:t>
                      </a:r>
                      <a:endParaRPr lang="en-US" altLang="zh-CN" sz="1200" dirty="0" smtClean="0">
                        <a:solidFill>
                          <a:schemeClr val="tx1"/>
                        </a:solidFill>
                        <a:effectLst/>
                        <a:latin typeface="+mn-lt"/>
                        <a:ea typeface="+mn-ea"/>
                        <a:cs typeface="+mn-ea"/>
                        <a:sym typeface="+mn-lt"/>
                      </a:endParaRPr>
                    </a:p>
                    <a:p>
                      <a:pPr marL="228600" marR="0" indent="-228600" algn="l" defTabSz="914400" rtl="0" eaLnBrk="1" fontAlgn="ctr" latinLnBrk="0" hangingPunct="1">
                        <a:lnSpc>
                          <a:spcPct val="150000"/>
                        </a:lnSpc>
                        <a:spcBef>
                          <a:spcPts val="0"/>
                        </a:spcBef>
                        <a:spcAft>
                          <a:spcPts val="0"/>
                        </a:spcAft>
                        <a:buClrTx/>
                        <a:buSzTx/>
                        <a:buFontTx/>
                        <a:buAutoNum type="arabicPeriod"/>
                        <a:tabLst/>
                        <a:defRPr/>
                      </a:pPr>
                      <a:r>
                        <a:rPr lang="zh-CN" altLang="en-US" sz="1200" dirty="0" smtClean="0">
                          <a:solidFill>
                            <a:schemeClr val="tx1"/>
                          </a:solidFill>
                          <a:effectLst/>
                          <a:latin typeface="+mn-lt"/>
                          <a:ea typeface="+mn-ea"/>
                          <a:cs typeface="+mn-ea"/>
                          <a:sym typeface="+mn-lt"/>
                        </a:rPr>
                        <a:t>研究供需关系转换时，如何去进行管理且如何调整</a:t>
                      </a:r>
                      <a:endParaRPr lang="zh-CN" altLang="en-US" sz="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fontAlgn="ctr" latinLnBrk="0">
                        <a:lnSpc>
                          <a:spcPts val="2000"/>
                        </a:lnSpc>
                        <a:buFont typeface="Arial" panose="020B0604020202020204" pitchFamily="34" charset="0"/>
                        <a:buNone/>
                      </a:pPr>
                      <a:r>
                        <a:rPr lang="en-US" altLang="zh-CN" sz="1200" dirty="0" smtClean="0">
                          <a:solidFill>
                            <a:srgbClr val="FF0000"/>
                          </a:solidFill>
                          <a:effectLst/>
                          <a:latin typeface="+mn-lt"/>
                          <a:ea typeface="+mn-ea"/>
                          <a:cs typeface="+mn-ea"/>
                          <a:sym typeface="+mn-lt"/>
                        </a:rPr>
                        <a:t>1118 </a:t>
                      </a:r>
                      <a:r>
                        <a:rPr lang="zh-CN" altLang="en-US" sz="1200" dirty="0" smtClean="0">
                          <a:solidFill>
                            <a:srgbClr val="FF0000"/>
                          </a:solidFill>
                          <a:effectLst/>
                          <a:latin typeface="+mn-lt"/>
                          <a:ea typeface="+mn-ea"/>
                          <a:cs typeface="+mn-ea"/>
                          <a:sym typeface="+mn-lt"/>
                        </a:rPr>
                        <a:t>计划后续进行销售科及门店调研，持续完善配额制模式；进行行业对标及过往问题归纳总结，分析延展应用可行方案及供需变化的管理方案</a:t>
                      </a:r>
                      <a:endParaRPr lang="en-US" altLang="zh-CN" sz="1200" dirty="0" smtClean="0">
                        <a:solidFill>
                          <a:srgbClr val="FF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梁炯</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303751"/>
                  </a:ext>
                </a:extLst>
              </a:tr>
            </a:tbl>
          </a:graphicData>
        </a:graphic>
      </p:graphicFrame>
    </p:spTree>
    <p:extLst>
      <p:ext uri="{BB962C8B-B14F-4D97-AF65-F5344CB8AC3E}">
        <p14:creationId xmlns:p14="http://schemas.microsoft.com/office/powerpoint/2010/main" val="22200855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sp>
        <p:nvSpPr>
          <p:cNvPr id="8" name="矩形: 圆角 39">
            <a:extLst>
              <a:ext uri="{FF2B5EF4-FFF2-40B4-BE49-F238E27FC236}">
                <a16:creationId xmlns:a16="http://schemas.microsoft.com/office/drawing/2014/main" id="{FF15ED94-5A65-458C-905E-EF23F3E784C9}"/>
              </a:ext>
            </a:extLst>
          </p:cNvPr>
          <p:cNvSpPr/>
          <p:nvPr/>
        </p:nvSpPr>
        <p:spPr>
          <a:xfrm>
            <a:off x="5159896" y="495428"/>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smtClean="0">
                <a:solidFill>
                  <a:schemeClr val="bg1"/>
                </a:solidFill>
                <a:cs typeface="+mn-ea"/>
                <a:sym typeface="+mn-lt"/>
              </a:rPr>
              <a:t>业务赋能</a:t>
            </a:r>
            <a:endParaRPr kumimoji="1" lang="zh-CN" altLang="en-US" sz="1400" b="1" dirty="0">
              <a:solidFill>
                <a:schemeClr val="bg1"/>
              </a:solidFill>
              <a:cs typeface="+mn-ea"/>
              <a:sym typeface="+mn-lt"/>
            </a:endParaRPr>
          </a:p>
        </p:txBody>
      </p:sp>
      <p:graphicFrame>
        <p:nvGraphicFramePr>
          <p:cNvPr id="5" name="表格 4"/>
          <p:cNvGraphicFramePr>
            <a:graphicFrameLocks noGrp="1"/>
          </p:cNvGraphicFramePr>
          <p:nvPr>
            <p:extLst>
              <p:ext uri="{D42A27DB-BD31-4B8C-83A1-F6EECF244321}">
                <p14:modId xmlns:p14="http://schemas.microsoft.com/office/powerpoint/2010/main" val="3372310874"/>
              </p:ext>
            </p:extLst>
          </p:nvPr>
        </p:nvGraphicFramePr>
        <p:xfrm>
          <a:off x="377079" y="1527006"/>
          <a:ext cx="11339741" cy="4273906"/>
        </p:xfrm>
        <a:graphic>
          <a:graphicData uri="http://schemas.openxmlformats.org/drawingml/2006/table">
            <a:tbl>
              <a:tblPr/>
              <a:tblGrid>
                <a:gridCol w="648000">
                  <a:extLst>
                    <a:ext uri="{9D8B030D-6E8A-4147-A177-3AD203B41FA5}">
                      <a16:colId xmlns:a16="http://schemas.microsoft.com/office/drawing/2014/main" val="3366887012"/>
                    </a:ext>
                  </a:extLst>
                </a:gridCol>
                <a:gridCol w="2318746">
                  <a:extLst>
                    <a:ext uri="{9D8B030D-6E8A-4147-A177-3AD203B41FA5}">
                      <a16:colId xmlns:a16="http://schemas.microsoft.com/office/drawing/2014/main" val="484113456"/>
                    </a:ext>
                  </a:extLst>
                </a:gridCol>
                <a:gridCol w="2392135">
                  <a:extLst>
                    <a:ext uri="{9D8B030D-6E8A-4147-A177-3AD203B41FA5}">
                      <a16:colId xmlns:a16="http://schemas.microsoft.com/office/drawing/2014/main" val="218647580"/>
                    </a:ext>
                  </a:extLst>
                </a:gridCol>
                <a:gridCol w="4294500">
                  <a:extLst>
                    <a:ext uri="{9D8B030D-6E8A-4147-A177-3AD203B41FA5}">
                      <a16:colId xmlns:a16="http://schemas.microsoft.com/office/drawing/2014/main" val="3743736683"/>
                    </a:ext>
                  </a:extLst>
                </a:gridCol>
                <a:gridCol w="869110">
                  <a:extLst>
                    <a:ext uri="{9D8B030D-6E8A-4147-A177-3AD203B41FA5}">
                      <a16:colId xmlns:a16="http://schemas.microsoft.com/office/drawing/2014/main" val="1640352159"/>
                    </a:ext>
                  </a:extLst>
                </a:gridCol>
                <a:gridCol w="817250">
                  <a:extLst>
                    <a:ext uri="{9D8B030D-6E8A-4147-A177-3AD203B41FA5}">
                      <a16:colId xmlns:a16="http://schemas.microsoft.com/office/drawing/2014/main" val="3839354263"/>
                    </a:ext>
                  </a:extLst>
                </a:gridCol>
              </a:tblGrid>
              <a:tr h="462226">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1728000">
                <a:tc>
                  <a:txBody>
                    <a:bodyPr/>
                    <a:lstStyle/>
                    <a:p>
                      <a:pPr marL="0" algn="ctr" defTabSz="914400" rtl="0" eaLnBrk="1" fontAlgn="ctr" latinLnBrk="0" hangingPunct="1">
                        <a:lnSpc>
                          <a:spcPct val="150000"/>
                        </a:lnSpc>
                        <a:spcAft>
                          <a:spcPts val="0"/>
                        </a:spcAft>
                      </a:pPr>
                      <a:r>
                        <a:rPr lang="en-US" altLang="zh-CN" sz="1200" kern="100" dirty="0" smtClean="0">
                          <a:solidFill>
                            <a:schemeClr val="tx1"/>
                          </a:solidFill>
                          <a:effectLst/>
                          <a:latin typeface="+mn-lt"/>
                          <a:ea typeface="+mn-ea"/>
                          <a:cs typeface="+mn-ea"/>
                          <a:sym typeface="+mn-lt"/>
                        </a:rPr>
                        <a:t>1</a:t>
                      </a:r>
                      <a:endParaRPr lang="en-US" altLang="zh-CN" sz="1200" kern="1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kern="1200" dirty="0" smtClean="0">
                          <a:solidFill>
                            <a:schemeClr val="tx1"/>
                          </a:solidFill>
                          <a:effectLst/>
                          <a:latin typeface="+mn-lt"/>
                          <a:ea typeface="+mn-ea"/>
                          <a:cs typeface="+mn-ea"/>
                          <a:sym typeface="+mn-lt"/>
                        </a:rPr>
                        <a:t>线</a:t>
                      </a:r>
                      <a:r>
                        <a:rPr lang="zh-CN" altLang="en-US" sz="1200" kern="1200" dirty="0" smtClean="0">
                          <a:solidFill>
                            <a:schemeClr val="tx1"/>
                          </a:solidFill>
                          <a:effectLst/>
                          <a:latin typeface="+mn-lt"/>
                          <a:ea typeface="+mn-ea"/>
                          <a:cs typeface="+mn-ea"/>
                          <a:sym typeface="+mn-lt"/>
                        </a:rPr>
                        <a:t>下展厅优化落地进展</a:t>
                      </a:r>
                      <a:endParaRPr lang="en-US" altLang="zh-CN" sz="1200" kern="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tx1"/>
                          </a:solidFill>
                          <a:effectLst/>
                          <a:latin typeface="+mn-lt"/>
                          <a:ea typeface="+mn-ea"/>
                          <a:cs typeface="+mn-ea"/>
                          <a:sym typeface="+mn-lt"/>
                        </a:rPr>
                        <a:t>【</a:t>
                      </a:r>
                      <a:r>
                        <a:rPr lang="zh-CN" altLang="en-US" sz="1200" dirty="0" smtClean="0">
                          <a:solidFill>
                            <a:schemeClr val="tx1"/>
                          </a:solidFill>
                          <a:effectLst/>
                          <a:latin typeface="+mn-lt"/>
                          <a:ea typeface="+mn-ea"/>
                          <a:cs typeface="+mn-ea"/>
                          <a:sym typeface="+mn-lt"/>
                        </a:rPr>
                        <a:t>指摘内容</a:t>
                      </a:r>
                      <a:r>
                        <a:rPr lang="en-US" altLang="zh-CN" sz="1200" dirty="0" smtClean="0">
                          <a:solidFill>
                            <a:schemeClr val="tx1"/>
                          </a:solidFill>
                          <a:effectLst/>
                          <a:latin typeface="+mn-lt"/>
                          <a:ea typeface="+mn-ea"/>
                          <a:cs typeface="+mn-ea"/>
                          <a:sym typeface="+mn-lt"/>
                        </a:rPr>
                        <a:t>】1111</a:t>
                      </a:r>
                    </a:p>
                    <a:p>
                      <a:pPr marL="0" marR="0" indent="0" algn="l" defTabSz="914400" rtl="0" eaLnBrk="1" fontAlgn="ctr" latinLnBrk="0" hangingPunct="1">
                        <a:lnSpc>
                          <a:spcPct val="150000"/>
                        </a:lnSpc>
                        <a:spcBef>
                          <a:spcPts val="0"/>
                        </a:spcBef>
                        <a:spcAft>
                          <a:spcPts val="0"/>
                        </a:spcAft>
                        <a:buClrTx/>
                        <a:buSzTx/>
                        <a:buFontTx/>
                        <a:buNone/>
                        <a:tabLst/>
                        <a:defRPr/>
                      </a:pPr>
                      <a:r>
                        <a:rPr lang="zh-CN" altLang="en-US" sz="1200" dirty="0" smtClean="0">
                          <a:solidFill>
                            <a:schemeClr val="tx1"/>
                          </a:solidFill>
                          <a:effectLst/>
                          <a:latin typeface="+mn-lt"/>
                          <a:ea typeface="+mn-ea"/>
                          <a:cs typeface="+mn-ea"/>
                          <a:sym typeface="+mn-lt"/>
                        </a:rPr>
                        <a:t>下周组织演练</a:t>
                      </a:r>
                      <a:endParaRPr lang="en-US" altLang="zh-CN" sz="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lnSpc>
                          <a:spcPct val="150000"/>
                        </a:lnSpc>
                        <a:tabLst>
                          <a:tab pos="1435100" algn="l"/>
                        </a:tabLst>
                      </a:pPr>
                      <a:r>
                        <a:rPr lang="en-US" altLang="zh-CN" sz="1200" kern="1200" dirty="0" smtClean="0">
                          <a:solidFill>
                            <a:srgbClr val="FF0000"/>
                          </a:solidFill>
                          <a:effectLst/>
                          <a:latin typeface="+mn-lt"/>
                          <a:ea typeface="+mn-ea"/>
                          <a:cs typeface="+mn-ea"/>
                          <a:sym typeface="+mn-lt"/>
                        </a:rPr>
                        <a:t>1118 </a:t>
                      </a:r>
                      <a:r>
                        <a:rPr lang="zh-CN" altLang="en-US" sz="1200" kern="1200" dirty="0" smtClean="0">
                          <a:solidFill>
                            <a:srgbClr val="FF0000"/>
                          </a:solidFill>
                          <a:effectLst/>
                          <a:latin typeface="+mn-lt"/>
                          <a:ea typeface="+mn-ea"/>
                          <a:cs typeface="+mn-ea"/>
                          <a:sym typeface="+mn-lt"/>
                        </a:rPr>
                        <a:t>已经进行流程演练内部优化，计划</a:t>
                      </a:r>
                      <a:r>
                        <a:rPr lang="en-US" altLang="zh-CN" sz="1200" kern="1200" dirty="0" smtClean="0">
                          <a:solidFill>
                            <a:srgbClr val="FF0000"/>
                          </a:solidFill>
                          <a:effectLst/>
                          <a:latin typeface="+mn-lt"/>
                          <a:ea typeface="+mn-ea"/>
                          <a:cs typeface="+mn-ea"/>
                          <a:sym typeface="+mn-lt"/>
                        </a:rPr>
                        <a:t>1118</a:t>
                      </a:r>
                      <a:r>
                        <a:rPr lang="zh-CN" altLang="en-US" sz="1200" kern="1200" dirty="0" smtClean="0">
                          <a:solidFill>
                            <a:srgbClr val="FF0000"/>
                          </a:solidFill>
                          <a:effectLst/>
                          <a:latin typeface="+mn-lt"/>
                          <a:ea typeface="+mn-ea"/>
                          <a:cs typeface="+mn-ea"/>
                          <a:sym typeface="+mn-lt"/>
                        </a:rPr>
                        <a:t>与陈部进行汇报演练；大屏增加车型模块，目前补充素材中，已增加</a:t>
                      </a:r>
                      <a:r>
                        <a:rPr lang="en-US" altLang="zh-CN" sz="1200" kern="1200" dirty="0" smtClean="0">
                          <a:solidFill>
                            <a:srgbClr val="FF0000"/>
                          </a:solidFill>
                          <a:effectLst/>
                          <a:latin typeface="+mn-lt"/>
                          <a:ea typeface="+mn-ea"/>
                          <a:cs typeface="+mn-ea"/>
                          <a:sym typeface="+mn-lt"/>
                        </a:rPr>
                        <a:t>GS8</a:t>
                      </a:r>
                      <a:r>
                        <a:rPr lang="zh-CN" altLang="en-US" sz="1200" kern="1200" dirty="0" smtClean="0">
                          <a:solidFill>
                            <a:srgbClr val="FF0000"/>
                          </a:solidFill>
                          <a:effectLst/>
                          <a:latin typeface="+mn-lt"/>
                          <a:ea typeface="+mn-ea"/>
                          <a:cs typeface="+mn-ea"/>
                          <a:sym typeface="+mn-lt"/>
                        </a:rPr>
                        <a:t>车型；大屏部分素材内容照片部分与文科及广告科完成确认，产品视频待与广告科确认后续责任单位；</a:t>
                      </a:r>
                      <a:endParaRPr lang="en-US" altLang="zh-CN" sz="1200" kern="1200" dirty="0" smtClean="0">
                        <a:solidFill>
                          <a:srgbClr val="FF0000"/>
                        </a:solidFill>
                        <a:effectLst/>
                        <a:latin typeface="+mn-lt"/>
                        <a:ea typeface="+mn-ea"/>
                        <a:cs typeface="+mn-ea"/>
                        <a:sym typeface="+mn-lt"/>
                      </a:endParaRPr>
                    </a:p>
                    <a:p>
                      <a:pPr marL="0" algn="l" defTabSz="914400" rtl="0" eaLnBrk="1" fontAlgn="ctr" latinLnBrk="0" hangingPunct="1">
                        <a:lnSpc>
                          <a:spcPct val="150000"/>
                        </a:lnSpc>
                        <a:tabLst>
                          <a:tab pos="1435100" algn="l"/>
                        </a:tabLst>
                      </a:pPr>
                      <a:r>
                        <a:rPr lang="en-US" altLang="zh-CN" sz="1200" kern="1200" dirty="0" smtClean="0">
                          <a:solidFill>
                            <a:schemeClr val="bg1">
                              <a:lumMod val="65000"/>
                            </a:schemeClr>
                          </a:solidFill>
                          <a:effectLst/>
                          <a:latin typeface="+mn-lt"/>
                          <a:ea typeface="+mn-ea"/>
                          <a:cs typeface="+mn-ea"/>
                          <a:sym typeface="+mn-lt"/>
                        </a:rPr>
                        <a:t>1111 </a:t>
                      </a:r>
                      <a:r>
                        <a:rPr lang="zh-CN" altLang="en-US" sz="1200" kern="1200" dirty="0" smtClean="0">
                          <a:solidFill>
                            <a:schemeClr val="bg1">
                              <a:lumMod val="65000"/>
                            </a:schemeClr>
                          </a:solidFill>
                          <a:effectLst/>
                          <a:latin typeface="+mn-lt"/>
                          <a:ea typeface="+mn-ea"/>
                          <a:cs typeface="+mn-ea"/>
                          <a:sym typeface="+mn-lt"/>
                        </a:rPr>
                        <a:t>丰凯店的</a:t>
                      </a:r>
                      <a:r>
                        <a:rPr lang="en-US" altLang="zh-CN" sz="1200" kern="1200" dirty="0" smtClean="0">
                          <a:solidFill>
                            <a:schemeClr val="bg1">
                              <a:lumMod val="65000"/>
                            </a:schemeClr>
                          </a:solidFill>
                          <a:effectLst/>
                          <a:latin typeface="+mn-lt"/>
                          <a:ea typeface="+mn-ea"/>
                          <a:cs typeface="+mn-ea"/>
                          <a:sym typeface="+mn-lt"/>
                        </a:rPr>
                        <a:t>SCRM</a:t>
                      </a:r>
                      <a:r>
                        <a:rPr lang="zh-CN" altLang="en-US" sz="1200" kern="1200" dirty="0" smtClean="0">
                          <a:solidFill>
                            <a:schemeClr val="bg1">
                              <a:lumMod val="65000"/>
                            </a:schemeClr>
                          </a:solidFill>
                          <a:effectLst/>
                          <a:latin typeface="+mn-lt"/>
                          <a:ea typeface="+mn-ea"/>
                          <a:cs typeface="+mn-ea"/>
                          <a:sym typeface="+mn-lt"/>
                        </a:rPr>
                        <a:t>加微后、试驾登记、商谈模块周四已汇报刁总，正在进行汇报后的整理，增加漏斗环节间的引导内容，整理后再汇报</a:t>
                      </a:r>
                      <a:r>
                        <a:rPr lang="zh-CN" altLang="en-US" sz="1200" kern="1200" dirty="0" smtClean="0">
                          <a:solidFill>
                            <a:schemeClr val="bg1">
                              <a:lumMod val="65000"/>
                            </a:schemeClr>
                          </a:solidFill>
                          <a:effectLst/>
                          <a:latin typeface="+mn-lt"/>
                          <a:ea typeface="+mn-ea"/>
                          <a:cs typeface="+mn-ea"/>
                          <a:sym typeface="+mn-lt"/>
                        </a:rPr>
                        <a:t>。</a:t>
                      </a:r>
                      <a:endParaRPr lang="en-US" altLang="zh-CN" sz="1200" kern="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刘平</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1955607"/>
                  </a:ext>
                </a:extLst>
              </a:tr>
              <a:tr h="1800000">
                <a:tc>
                  <a:txBody>
                    <a:bodyPr/>
                    <a:lstStyle/>
                    <a:p>
                      <a:pPr marL="0" algn="ctr" defTabSz="914400" rtl="0" eaLnBrk="1" fontAlgn="ctr" latinLnBrk="0" hangingPunct="1">
                        <a:lnSpc>
                          <a:spcPct val="150000"/>
                        </a:lnSpc>
                        <a:spcAft>
                          <a:spcPts val="0"/>
                        </a:spcAft>
                      </a:pPr>
                      <a:r>
                        <a:rPr lang="en-US" altLang="zh-CN" sz="1200" kern="100" dirty="0" smtClean="0">
                          <a:solidFill>
                            <a:schemeClr val="tx1"/>
                          </a:solidFill>
                          <a:effectLst/>
                          <a:latin typeface="+mn-lt"/>
                          <a:ea typeface="+mn-ea"/>
                          <a:cs typeface="+mn-ea"/>
                          <a:sym typeface="+mn-lt"/>
                        </a:rPr>
                        <a:t>2</a:t>
                      </a:r>
                      <a:endParaRPr lang="en-US" altLang="zh-CN" sz="1200" kern="1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kern="1200" dirty="0" smtClean="0">
                          <a:solidFill>
                            <a:schemeClr val="tx1"/>
                          </a:solidFill>
                          <a:effectLst/>
                          <a:latin typeface="+mn-lt"/>
                          <a:ea typeface="+mn-ea"/>
                          <a:cs typeface="+mn-ea"/>
                          <a:sym typeface="+mn-lt"/>
                        </a:rPr>
                        <a:t>专项推进漏斗模型及指标梳理</a:t>
                      </a:r>
                      <a:endParaRPr lang="zh-CN" altLang="en-US"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endParaRPr lang="zh-CN" altLang="en-US"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b="0" i="0" dirty="0" smtClean="0">
                          <a:solidFill>
                            <a:srgbClr val="FF0000"/>
                          </a:solidFill>
                          <a:effectLst/>
                          <a:latin typeface="+mn-lt"/>
                          <a:ea typeface="+mn-ea"/>
                          <a:cs typeface="+mn-ea"/>
                          <a:sym typeface="+mn-lt"/>
                        </a:rPr>
                        <a:t>1118 </a:t>
                      </a:r>
                      <a:r>
                        <a:rPr lang="zh-CN" altLang="en-US" sz="1200" b="0" i="0" dirty="0" smtClean="0">
                          <a:solidFill>
                            <a:srgbClr val="FF0000"/>
                          </a:solidFill>
                          <a:effectLst/>
                          <a:latin typeface="+mn-lt"/>
                          <a:ea typeface="+mn-ea"/>
                          <a:cs typeface="+mn-ea"/>
                          <a:sym typeface="+mn-lt"/>
                        </a:rPr>
                        <a:t>漏斗模型已输出，迭代中；</a:t>
                      </a:r>
                      <a:endParaRPr lang="en-US" altLang="zh-CN" sz="1200" b="0" i="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b="0" i="0" dirty="0" smtClean="0">
                          <a:solidFill>
                            <a:schemeClr val="bg1">
                              <a:lumMod val="65000"/>
                            </a:schemeClr>
                          </a:solidFill>
                          <a:effectLst/>
                          <a:latin typeface="+mn-lt"/>
                          <a:ea typeface="+mn-ea"/>
                          <a:cs typeface="+mn-ea"/>
                          <a:sym typeface="+mn-lt"/>
                        </a:rPr>
                        <a:t>1111 </a:t>
                      </a:r>
                      <a:r>
                        <a:rPr lang="zh-CN" altLang="en-US" sz="1200" b="0" i="0" dirty="0" smtClean="0">
                          <a:solidFill>
                            <a:schemeClr val="bg1">
                              <a:lumMod val="65000"/>
                            </a:schemeClr>
                          </a:solidFill>
                          <a:effectLst/>
                          <a:latin typeface="+mn-lt"/>
                          <a:ea typeface="+mn-ea"/>
                          <a:cs typeface="+mn-ea"/>
                          <a:sym typeface="+mn-lt"/>
                        </a:rPr>
                        <a:t>漏斗转型周四已经给了陈部新一版的分车型漏斗，其中对几个</a:t>
                      </a:r>
                      <a:r>
                        <a:rPr lang="en-US" altLang="zh-CN" sz="1200" b="0" i="0" dirty="0" smtClean="0">
                          <a:solidFill>
                            <a:schemeClr val="bg1">
                              <a:lumMod val="65000"/>
                            </a:schemeClr>
                          </a:solidFill>
                          <a:effectLst/>
                          <a:latin typeface="+mn-lt"/>
                          <a:ea typeface="+mn-ea"/>
                          <a:cs typeface="+mn-ea"/>
                          <a:sym typeface="+mn-lt"/>
                        </a:rPr>
                        <a:t>400</a:t>
                      </a:r>
                      <a:r>
                        <a:rPr lang="zh-CN" altLang="en-US" sz="1200" b="0" i="0" dirty="0" smtClean="0">
                          <a:solidFill>
                            <a:schemeClr val="bg1">
                              <a:lumMod val="65000"/>
                            </a:schemeClr>
                          </a:solidFill>
                          <a:effectLst/>
                          <a:latin typeface="+mn-lt"/>
                          <a:ea typeface="+mn-ea"/>
                          <a:cs typeface="+mn-ea"/>
                          <a:sym typeface="+mn-lt"/>
                        </a:rPr>
                        <a:t>的内容进行了合并。后续会对线索来源纬度进行转化漏斗的数据整理以及试驾模块数据的转化关系整理</a:t>
                      </a:r>
                      <a:r>
                        <a:rPr lang="zh-CN" altLang="en-US" sz="1200" b="0" i="0" dirty="0" smtClean="0">
                          <a:solidFill>
                            <a:schemeClr val="bg1">
                              <a:lumMod val="65000"/>
                            </a:schemeClr>
                          </a:solidFill>
                          <a:effectLst/>
                          <a:latin typeface="+mn-lt"/>
                          <a:ea typeface="+mn-ea"/>
                          <a:cs typeface="+mn-ea"/>
                          <a:sym typeface="+mn-lt"/>
                        </a:rPr>
                        <a:t>。</a:t>
                      </a:r>
                      <a:endParaRPr lang="en-US" altLang="zh-CN" sz="1200" b="0" i="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刘平</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138722"/>
                  </a:ext>
                </a:extLst>
              </a:tr>
            </a:tbl>
          </a:graphicData>
        </a:graphic>
      </p:graphicFrame>
    </p:spTree>
    <p:extLst>
      <p:ext uri="{BB962C8B-B14F-4D97-AF65-F5344CB8AC3E}">
        <p14:creationId xmlns:p14="http://schemas.microsoft.com/office/powerpoint/2010/main" val="1168092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sp>
        <p:nvSpPr>
          <p:cNvPr id="8" name="矩形: 圆角 39">
            <a:extLst>
              <a:ext uri="{FF2B5EF4-FFF2-40B4-BE49-F238E27FC236}">
                <a16:creationId xmlns:a16="http://schemas.microsoft.com/office/drawing/2014/main" id="{FF15ED94-5A65-458C-905E-EF23F3E784C9}"/>
              </a:ext>
            </a:extLst>
          </p:cNvPr>
          <p:cNvSpPr/>
          <p:nvPr/>
        </p:nvSpPr>
        <p:spPr>
          <a:xfrm>
            <a:off x="9753498" y="550004"/>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smtClean="0">
                <a:solidFill>
                  <a:schemeClr val="bg1"/>
                </a:solidFill>
                <a:cs typeface="+mn-ea"/>
                <a:sym typeface="+mn-lt"/>
              </a:rPr>
              <a:t>大数据赋能</a:t>
            </a:r>
            <a:endParaRPr kumimoji="1" lang="zh-CN" altLang="en-US" sz="1400" b="1" dirty="0">
              <a:solidFill>
                <a:schemeClr val="bg1"/>
              </a:solidFill>
              <a:cs typeface="+mn-ea"/>
              <a:sym typeface="+mn-lt"/>
            </a:endParaRPr>
          </a:p>
        </p:txBody>
      </p:sp>
      <p:graphicFrame>
        <p:nvGraphicFramePr>
          <p:cNvPr id="5" name="表格 4"/>
          <p:cNvGraphicFramePr>
            <a:graphicFrameLocks noGrp="1"/>
          </p:cNvGraphicFramePr>
          <p:nvPr>
            <p:extLst>
              <p:ext uri="{D42A27DB-BD31-4B8C-83A1-F6EECF244321}">
                <p14:modId xmlns:p14="http://schemas.microsoft.com/office/powerpoint/2010/main" val="398652099"/>
              </p:ext>
            </p:extLst>
          </p:nvPr>
        </p:nvGraphicFramePr>
        <p:xfrm>
          <a:off x="377079" y="1042320"/>
          <a:ext cx="11339741" cy="3517906"/>
        </p:xfrm>
        <a:graphic>
          <a:graphicData uri="http://schemas.openxmlformats.org/drawingml/2006/table">
            <a:tbl>
              <a:tblPr/>
              <a:tblGrid>
                <a:gridCol w="648000">
                  <a:extLst>
                    <a:ext uri="{9D8B030D-6E8A-4147-A177-3AD203B41FA5}">
                      <a16:colId xmlns:a16="http://schemas.microsoft.com/office/drawing/2014/main" val="3366887012"/>
                    </a:ext>
                  </a:extLst>
                </a:gridCol>
                <a:gridCol w="2318746">
                  <a:extLst>
                    <a:ext uri="{9D8B030D-6E8A-4147-A177-3AD203B41FA5}">
                      <a16:colId xmlns:a16="http://schemas.microsoft.com/office/drawing/2014/main" val="484113456"/>
                    </a:ext>
                  </a:extLst>
                </a:gridCol>
                <a:gridCol w="3086635">
                  <a:extLst>
                    <a:ext uri="{9D8B030D-6E8A-4147-A177-3AD203B41FA5}">
                      <a16:colId xmlns:a16="http://schemas.microsoft.com/office/drawing/2014/main" val="218647580"/>
                    </a:ext>
                  </a:extLst>
                </a:gridCol>
                <a:gridCol w="3600000">
                  <a:extLst>
                    <a:ext uri="{9D8B030D-6E8A-4147-A177-3AD203B41FA5}">
                      <a16:colId xmlns:a16="http://schemas.microsoft.com/office/drawing/2014/main" val="3743736683"/>
                    </a:ext>
                  </a:extLst>
                </a:gridCol>
                <a:gridCol w="869110">
                  <a:extLst>
                    <a:ext uri="{9D8B030D-6E8A-4147-A177-3AD203B41FA5}">
                      <a16:colId xmlns:a16="http://schemas.microsoft.com/office/drawing/2014/main" val="1640352159"/>
                    </a:ext>
                  </a:extLst>
                </a:gridCol>
                <a:gridCol w="817250">
                  <a:extLst>
                    <a:ext uri="{9D8B030D-6E8A-4147-A177-3AD203B41FA5}">
                      <a16:colId xmlns:a16="http://schemas.microsoft.com/office/drawing/2014/main" val="3839354263"/>
                    </a:ext>
                  </a:extLst>
                </a:gridCol>
              </a:tblGrid>
              <a:tr h="462226">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1044000">
                <a:tc>
                  <a:txBody>
                    <a:bodyPr/>
                    <a:lstStyle/>
                    <a:p>
                      <a:pPr marL="0" algn="ctr" defTabSz="914400" rtl="0" eaLnBrk="1" fontAlgn="ctr" latinLnBrk="0" hangingPunct="1">
                        <a:lnSpc>
                          <a:spcPct val="150000"/>
                        </a:lnSpc>
                        <a:spcAft>
                          <a:spcPts val="0"/>
                        </a:spcAft>
                      </a:pPr>
                      <a:r>
                        <a:rPr lang="en-US" altLang="zh-CN" sz="1200" kern="100" dirty="0" smtClean="0">
                          <a:solidFill>
                            <a:schemeClr val="tx1"/>
                          </a:solidFill>
                          <a:effectLst/>
                          <a:latin typeface="+mn-lt"/>
                          <a:ea typeface="+mn-ea"/>
                          <a:cs typeface="+mn-ea"/>
                          <a:sym typeface="+mn-lt"/>
                        </a:rPr>
                        <a:t>1</a:t>
                      </a:r>
                      <a:endParaRPr lang="en-US" altLang="zh-CN" sz="1200" kern="1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en-US" altLang="zh-CN" sz="1200" kern="1200" dirty="0" smtClean="0">
                          <a:solidFill>
                            <a:schemeClr val="tx1"/>
                          </a:solidFill>
                          <a:effectLst/>
                          <a:latin typeface="+mn-lt"/>
                          <a:ea typeface="+mn-ea"/>
                          <a:cs typeface="+mn-ea"/>
                          <a:sym typeface="+mn-lt"/>
                        </a:rPr>
                        <a:t>【</a:t>
                      </a:r>
                      <a:r>
                        <a:rPr lang="zh-CN" altLang="en-US" sz="1200" kern="1200" dirty="0" smtClean="0">
                          <a:solidFill>
                            <a:schemeClr val="tx1"/>
                          </a:solidFill>
                          <a:effectLst/>
                          <a:latin typeface="+mn-lt"/>
                          <a:ea typeface="+mn-ea"/>
                          <a:cs typeface="+mn-ea"/>
                          <a:sym typeface="+mn-lt"/>
                        </a:rPr>
                        <a:t>主数据</a:t>
                      </a:r>
                      <a:r>
                        <a:rPr lang="en-US" altLang="zh-CN" sz="1200" kern="1200" dirty="0" smtClean="0">
                          <a:solidFill>
                            <a:schemeClr val="tx1"/>
                          </a:solidFill>
                          <a:effectLst/>
                          <a:latin typeface="+mn-lt"/>
                          <a:ea typeface="+mn-ea"/>
                          <a:cs typeface="+mn-ea"/>
                          <a:sym typeface="+mn-lt"/>
                        </a:rPr>
                        <a:t>】</a:t>
                      </a:r>
                    </a:p>
                    <a:p>
                      <a:pPr algn="l" fontAlgn="ctr" latinLnBrk="0">
                        <a:lnSpc>
                          <a:spcPct val="150000"/>
                        </a:lnSpc>
                      </a:pPr>
                      <a:r>
                        <a:rPr lang="zh-CN" altLang="en-US" sz="1200" kern="1200" dirty="0" smtClean="0">
                          <a:solidFill>
                            <a:schemeClr val="tx1"/>
                          </a:solidFill>
                          <a:effectLst/>
                          <a:latin typeface="+mn-lt"/>
                          <a:ea typeface="+mn-ea"/>
                          <a:cs typeface="+mn-ea"/>
                          <a:sym typeface="+mn-lt"/>
                        </a:rPr>
                        <a:t>主数据整体课题</a:t>
                      </a:r>
                      <a:r>
                        <a:rPr lang="zh-CN" altLang="en-US" sz="1200" kern="1200" dirty="0" smtClean="0">
                          <a:solidFill>
                            <a:schemeClr val="tx1"/>
                          </a:solidFill>
                          <a:effectLst/>
                          <a:latin typeface="+mn-lt"/>
                          <a:ea typeface="+mn-ea"/>
                          <a:cs typeface="+mn-ea"/>
                          <a:sym typeface="+mn-lt"/>
                        </a:rPr>
                        <a:t>清单</a:t>
                      </a:r>
                      <a:endParaRPr lang="en-US" altLang="zh-CN" sz="1200" kern="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en-US" altLang="zh-CN" sz="1200" kern="1200" dirty="0" smtClean="0">
                          <a:solidFill>
                            <a:schemeClr val="tx1"/>
                          </a:solidFill>
                          <a:effectLst/>
                          <a:latin typeface="+mn-lt"/>
                          <a:ea typeface="+mn-ea"/>
                          <a:cs typeface="+mn-ea"/>
                          <a:sym typeface="+mn-lt"/>
                        </a:rPr>
                        <a:t>【</a:t>
                      </a:r>
                      <a:r>
                        <a:rPr lang="zh-CN" altLang="en-US" sz="1200" kern="1200" dirty="0" smtClean="0">
                          <a:solidFill>
                            <a:schemeClr val="tx1"/>
                          </a:solidFill>
                          <a:effectLst/>
                          <a:latin typeface="+mn-lt"/>
                          <a:ea typeface="+mn-ea"/>
                          <a:cs typeface="+mn-ea"/>
                          <a:sym typeface="+mn-lt"/>
                        </a:rPr>
                        <a:t>指摘</a:t>
                      </a:r>
                      <a:r>
                        <a:rPr lang="en-US" altLang="zh-CN" sz="1200" kern="1200" dirty="0" smtClean="0">
                          <a:solidFill>
                            <a:schemeClr val="tx1"/>
                          </a:solidFill>
                          <a:effectLst/>
                          <a:latin typeface="+mn-lt"/>
                          <a:ea typeface="+mn-ea"/>
                          <a:cs typeface="+mn-ea"/>
                          <a:sym typeface="+mn-lt"/>
                        </a:rPr>
                        <a:t>】</a:t>
                      </a:r>
                    </a:p>
                    <a:p>
                      <a:pPr algn="l" fontAlgn="ctr" latinLnBrk="0">
                        <a:lnSpc>
                          <a:spcPct val="150000"/>
                        </a:lnSpc>
                      </a:pPr>
                      <a:r>
                        <a:rPr lang="en-US" altLang="zh-CN" sz="1200" kern="1200" dirty="0" smtClean="0">
                          <a:solidFill>
                            <a:schemeClr val="tx1"/>
                          </a:solidFill>
                          <a:effectLst/>
                          <a:latin typeface="+mn-lt"/>
                          <a:ea typeface="+mn-ea"/>
                          <a:cs typeface="+mn-ea"/>
                          <a:sym typeface="+mn-lt"/>
                        </a:rPr>
                        <a:t>0729 </a:t>
                      </a:r>
                      <a:r>
                        <a:rPr lang="zh-CN" altLang="en-US" sz="1200" kern="1200" dirty="0" smtClean="0">
                          <a:solidFill>
                            <a:schemeClr val="tx1"/>
                          </a:solidFill>
                          <a:effectLst/>
                          <a:latin typeface="+mn-lt"/>
                          <a:ea typeface="+mn-ea"/>
                          <a:cs typeface="+mn-ea"/>
                          <a:sym typeface="+mn-lt"/>
                        </a:rPr>
                        <a:t>数字化例会汇报</a:t>
                      </a:r>
                      <a:endParaRPr lang="en-US" altLang="zh-CN" sz="1200" kern="1200" dirty="0" smtClean="0">
                        <a:solidFill>
                          <a:schemeClr val="tx1"/>
                        </a:solidFill>
                        <a:effectLst/>
                        <a:latin typeface="+mn-lt"/>
                        <a:ea typeface="+mn-ea"/>
                        <a:cs typeface="+mn-ea"/>
                        <a:sym typeface="+mn-lt"/>
                      </a:endParaRPr>
                    </a:p>
                    <a:p>
                      <a:pPr algn="l" fontAlgn="ctr" latinLnBrk="0">
                        <a:lnSpc>
                          <a:spcPct val="150000"/>
                        </a:lnSpc>
                      </a:pPr>
                      <a:r>
                        <a:rPr lang="zh-CN" altLang="en-US" sz="1200" kern="1200" dirty="0" smtClean="0">
                          <a:solidFill>
                            <a:schemeClr val="tx1"/>
                          </a:solidFill>
                          <a:effectLst/>
                          <a:latin typeface="+mn-lt"/>
                          <a:ea typeface="+mn-ea"/>
                          <a:cs typeface="+mn-ea"/>
                          <a:sym typeface="+mn-lt"/>
                        </a:rPr>
                        <a:t>主数据源头及流程，评估各类主数据管理涉及的部门及职责，是否需要进行组织变革；项目的执行计划及需要领导配合协调计划</a:t>
                      </a:r>
                      <a:endParaRPr lang="en-US" altLang="zh-CN" sz="1200" kern="1200" dirty="0" smtClean="0">
                        <a:solidFill>
                          <a:schemeClr val="tx1"/>
                        </a:solidFill>
                        <a:effectLst/>
                        <a:latin typeface="+mn-lt"/>
                        <a:ea typeface="+mn-ea"/>
                        <a:cs typeface="+mn-ea"/>
                        <a:sym typeface="+mn-lt"/>
                      </a:endParaRPr>
                    </a:p>
                    <a:p>
                      <a:pPr algn="l" fontAlgn="ctr" latinLnBrk="0">
                        <a:lnSpc>
                          <a:spcPct val="150000"/>
                        </a:lnSpc>
                      </a:pPr>
                      <a:r>
                        <a:rPr lang="en-US" altLang="zh-CN" sz="1200" kern="1200" dirty="0" smtClean="0">
                          <a:solidFill>
                            <a:schemeClr val="tx1"/>
                          </a:solidFill>
                          <a:effectLst/>
                          <a:latin typeface="+mn-lt"/>
                          <a:ea typeface="+mn-ea"/>
                          <a:cs typeface="+mn-ea"/>
                          <a:sym typeface="+mn-lt"/>
                        </a:rPr>
                        <a:t>0831 </a:t>
                      </a:r>
                      <a:r>
                        <a:rPr lang="zh-CN" altLang="en-US" sz="1200" kern="1200" dirty="0" smtClean="0">
                          <a:solidFill>
                            <a:schemeClr val="tx1"/>
                          </a:solidFill>
                          <a:effectLst/>
                          <a:latin typeface="+mn-lt"/>
                          <a:ea typeface="+mn-ea"/>
                          <a:cs typeface="+mn-ea"/>
                          <a:sym typeface="+mn-lt"/>
                        </a:rPr>
                        <a:t>提供财务相关主数据清单</a:t>
                      </a:r>
                      <a:endParaRPr lang="zh-CN" altLang="en-US"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lnSpc>
                          <a:spcPct val="150000"/>
                        </a:lnSpc>
                        <a:tabLst>
                          <a:tab pos="1435100" algn="l"/>
                        </a:tabLst>
                      </a:pPr>
                      <a:r>
                        <a:rPr lang="en-US" altLang="zh-CN" sz="1200" kern="1200" dirty="0" smtClean="0">
                          <a:solidFill>
                            <a:srgbClr val="FF0000"/>
                          </a:solidFill>
                          <a:effectLst/>
                          <a:latin typeface="+mn-lt"/>
                          <a:ea typeface="+mn-ea"/>
                          <a:cs typeface="+mn-ea"/>
                          <a:sym typeface="+mn-lt"/>
                        </a:rPr>
                        <a:t>1118 1116</a:t>
                      </a:r>
                      <a:r>
                        <a:rPr lang="zh-CN" altLang="en-US" sz="1200" kern="1200" dirty="0" smtClean="0">
                          <a:solidFill>
                            <a:srgbClr val="FF0000"/>
                          </a:solidFill>
                          <a:effectLst/>
                          <a:latin typeface="+mn-lt"/>
                          <a:ea typeface="+mn-ea"/>
                          <a:cs typeface="+mn-ea"/>
                          <a:sym typeface="+mn-lt"/>
                        </a:rPr>
                        <a:t>进行主数据项目蓝图汇报，汇报目前项目课题进展，按照陈部指摘梳理主数据认责清单，计划</a:t>
                      </a:r>
                      <a:r>
                        <a:rPr lang="en-US" altLang="zh-CN" sz="1200" kern="1200" dirty="0" smtClean="0">
                          <a:solidFill>
                            <a:srgbClr val="FF0000"/>
                          </a:solidFill>
                          <a:effectLst/>
                          <a:latin typeface="+mn-lt"/>
                          <a:ea typeface="+mn-ea"/>
                          <a:cs typeface="+mn-ea"/>
                          <a:sym typeface="+mn-lt"/>
                        </a:rPr>
                        <a:t>1118</a:t>
                      </a:r>
                      <a:r>
                        <a:rPr lang="zh-CN" altLang="en-US" sz="1200" kern="1200" dirty="0" smtClean="0">
                          <a:solidFill>
                            <a:srgbClr val="FF0000"/>
                          </a:solidFill>
                          <a:effectLst/>
                          <a:latin typeface="+mn-lt"/>
                          <a:ea typeface="+mn-ea"/>
                          <a:cs typeface="+mn-ea"/>
                          <a:sym typeface="+mn-lt"/>
                        </a:rPr>
                        <a:t>进行认责清单汇报</a:t>
                      </a:r>
                      <a:endParaRPr lang="en-US" altLang="zh-CN" sz="1200" kern="1200" dirty="0" smtClean="0">
                        <a:solidFill>
                          <a:srgbClr val="FF0000"/>
                        </a:solidFill>
                        <a:effectLst/>
                        <a:latin typeface="+mn-lt"/>
                        <a:ea typeface="+mn-ea"/>
                        <a:cs typeface="+mn-ea"/>
                        <a:sym typeface="+mn-lt"/>
                      </a:endParaRPr>
                    </a:p>
                    <a:p>
                      <a:pPr marL="0" algn="l" defTabSz="914400" rtl="0" eaLnBrk="1" fontAlgn="ctr" latinLnBrk="0" hangingPunct="1">
                        <a:lnSpc>
                          <a:spcPct val="150000"/>
                        </a:lnSpc>
                        <a:tabLst>
                          <a:tab pos="1435100" algn="l"/>
                        </a:tabLst>
                      </a:pPr>
                      <a:r>
                        <a:rPr lang="en-US" altLang="zh-CN" sz="1200" kern="1200" dirty="0" smtClean="0">
                          <a:solidFill>
                            <a:schemeClr val="bg1">
                              <a:lumMod val="65000"/>
                            </a:schemeClr>
                          </a:solidFill>
                          <a:effectLst/>
                          <a:latin typeface="+mn-lt"/>
                          <a:ea typeface="+mn-ea"/>
                          <a:cs typeface="+mn-ea"/>
                          <a:sym typeface="+mn-lt"/>
                        </a:rPr>
                        <a:t>1111 </a:t>
                      </a:r>
                      <a:r>
                        <a:rPr lang="zh-CN" altLang="en-US" sz="1200" kern="1200" dirty="0" smtClean="0">
                          <a:solidFill>
                            <a:schemeClr val="bg1">
                              <a:lumMod val="65000"/>
                            </a:schemeClr>
                          </a:solidFill>
                          <a:effectLst/>
                          <a:latin typeface="+mn-lt"/>
                          <a:ea typeface="+mn-ea"/>
                          <a:cs typeface="+mn-ea"/>
                          <a:sym typeface="+mn-lt"/>
                        </a:rPr>
                        <a:t>已基本课题清单梳理，计划下周一输出，面向科长汇报</a:t>
                      </a:r>
                      <a:endParaRPr lang="en-US" altLang="zh-CN" sz="1200" kern="1200" dirty="0" smtClean="0">
                        <a:solidFill>
                          <a:schemeClr val="bg1">
                            <a:lumMod val="65000"/>
                          </a:schemeClr>
                        </a:solidFill>
                        <a:effectLst/>
                        <a:latin typeface="+mn-lt"/>
                        <a:ea typeface="+mn-ea"/>
                        <a:cs typeface="+mn-ea"/>
                        <a:sym typeface="+mn-lt"/>
                      </a:endParaRPr>
                    </a:p>
                    <a:p>
                      <a:pPr marL="0" algn="l" defTabSz="914400" rtl="0" eaLnBrk="1" fontAlgn="ctr" latinLnBrk="0" hangingPunct="1">
                        <a:lnSpc>
                          <a:spcPct val="150000"/>
                        </a:lnSpc>
                        <a:tabLst>
                          <a:tab pos="1435100" algn="l"/>
                        </a:tabLst>
                      </a:pPr>
                      <a:r>
                        <a:rPr lang="en-US" altLang="zh-CN" sz="1200" kern="1200" dirty="0" smtClean="0">
                          <a:solidFill>
                            <a:schemeClr val="bg1">
                              <a:lumMod val="65000"/>
                            </a:schemeClr>
                          </a:solidFill>
                          <a:effectLst/>
                          <a:latin typeface="+mn-lt"/>
                          <a:ea typeface="+mn-ea"/>
                          <a:cs typeface="+mn-ea"/>
                          <a:sym typeface="+mn-lt"/>
                        </a:rPr>
                        <a:t>0923 </a:t>
                      </a:r>
                      <a:r>
                        <a:rPr lang="zh-CN" altLang="en-US" sz="1200" kern="1200" dirty="0" smtClean="0">
                          <a:solidFill>
                            <a:schemeClr val="bg1">
                              <a:lumMod val="65000"/>
                            </a:schemeClr>
                          </a:solidFill>
                          <a:effectLst/>
                          <a:latin typeface="+mn-lt"/>
                          <a:ea typeface="+mn-ea"/>
                          <a:cs typeface="+mn-ea"/>
                          <a:sym typeface="+mn-lt"/>
                        </a:rPr>
                        <a:t>上周五已和刁科汇报了一次，今天和陈部汇报还有</a:t>
                      </a:r>
                      <a:r>
                        <a:rPr lang="en-US" altLang="zh-CN" sz="1200" kern="1200" dirty="0" smtClean="0">
                          <a:solidFill>
                            <a:schemeClr val="bg1">
                              <a:lumMod val="65000"/>
                            </a:schemeClr>
                          </a:solidFill>
                          <a:effectLst/>
                          <a:latin typeface="+mn-lt"/>
                          <a:ea typeface="+mn-ea"/>
                          <a:cs typeface="+mn-ea"/>
                          <a:sym typeface="+mn-lt"/>
                        </a:rPr>
                        <a:t>4</a:t>
                      </a:r>
                      <a:r>
                        <a:rPr lang="zh-CN" altLang="en-US" sz="1200" kern="1200" dirty="0" smtClean="0">
                          <a:solidFill>
                            <a:schemeClr val="bg1">
                              <a:lumMod val="65000"/>
                            </a:schemeClr>
                          </a:solidFill>
                          <a:effectLst/>
                          <a:latin typeface="+mn-lt"/>
                          <a:ea typeface="+mn-ea"/>
                          <a:cs typeface="+mn-ea"/>
                          <a:sym typeface="+mn-lt"/>
                        </a:rPr>
                        <a:t>个字段无明确维护人员和工具的课题</a:t>
                      </a:r>
                      <a:endParaRPr lang="en-US" altLang="zh-CN" sz="1200" kern="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梁鹏程</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1955607"/>
                  </a:ext>
                </a:extLst>
              </a:tr>
              <a:tr h="1044000">
                <a:tc>
                  <a:txBody>
                    <a:bodyPr/>
                    <a:lstStyle/>
                    <a:p>
                      <a:pPr marL="0" algn="ctr" defTabSz="914400" rtl="0" eaLnBrk="1" fontAlgn="ctr" latinLnBrk="0" hangingPunct="1">
                        <a:lnSpc>
                          <a:spcPct val="150000"/>
                        </a:lnSpc>
                        <a:spcAft>
                          <a:spcPts val="0"/>
                        </a:spcAft>
                      </a:pPr>
                      <a:r>
                        <a:rPr lang="en-US" altLang="zh-CN" sz="1200" kern="100" dirty="0" smtClean="0">
                          <a:solidFill>
                            <a:schemeClr val="tx1"/>
                          </a:solidFill>
                          <a:effectLst/>
                          <a:latin typeface="+mn-lt"/>
                          <a:ea typeface="+mn-ea"/>
                          <a:cs typeface="+mn-ea"/>
                          <a:sym typeface="+mn-lt"/>
                        </a:rPr>
                        <a:t>2</a:t>
                      </a:r>
                      <a:endParaRPr lang="en-US" altLang="zh-CN" sz="1200" kern="1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zh-CN" altLang="en-US" sz="1200" kern="1200" dirty="0" smtClean="0">
                          <a:solidFill>
                            <a:schemeClr val="tx1"/>
                          </a:solidFill>
                          <a:effectLst/>
                          <a:latin typeface="+mn-lt"/>
                          <a:ea typeface="+mn-ea"/>
                          <a:cs typeface="+mn-ea"/>
                          <a:sym typeface="+mn-lt"/>
                        </a:rPr>
                        <a:t>推进漏斗模型及指标梳理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endParaRPr lang="zh-CN" altLang="en-US"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lnSpc>
                          <a:spcPct val="150000"/>
                        </a:lnSpc>
                        <a:tabLst>
                          <a:tab pos="1435100" algn="l"/>
                        </a:tabLst>
                      </a:pPr>
                      <a:r>
                        <a:rPr lang="en-US" altLang="zh-CN" sz="1200" kern="1200" dirty="0" smtClean="0">
                          <a:solidFill>
                            <a:srgbClr val="FF0000"/>
                          </a:solidFill>
                          <a:effectLst/>
                          <a:latin typeface="+mn-lt"/>
                          <a:ea typeface="+mn-ea"/>
                          <a:cs typeface="+mn-ea"/>
                          <a:sym typeface="+mn-lt"/>
                        </a:rPr>
                        <a:t>1114 </a:t>
                      </a:r>
                      <a:r>
                        <a:rPr lang="zh-CN" altLang="en-US" sz="1200" kern="1200" dirty="0" smtClean="0">
                          <a:solidFill>
                            <a:srgbClr val="FF0000"/>
                          </a:solidFill>
                          <a:effectLst/>
                          <a:latin typeface="+mn-lt"/>
                          <a:ea typeface="+mn-ea"/>
                          <a:cs typeface="+mn-ea"/>
                          <a:sym typeface="+mn-lt"/>
                        </a:rPr>
                        <a:t>按照滚动的逻辑重新输出漏斗数据</a:t>
                      </a:r>
                      <a:endParaRPr lang="en-US" altLang="zh-CN" sz="1200" kern="1200" dirty="0" smtClean="0">
                        <a:solidFill>
                          <a:srgbClr val="FF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梁鹏程</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6280593"/>
                  </a:ext>
                </a:extLst>
              </a:tr>
            </a:tbl>
          </a:graphicData>
        </a:graphic>
      </p:graphicFrame>
    </p:spTree>
    <p:extLst>
      <p:ext uri="{BB962C8B-B14F-4D97-AF65-F5344CB8AC3E}">
        <p14:creationId xmlns:p14="http://schemas.microsoft.com/office/powerpoint/2010/main" val="15677521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sp>
        <p:nvSpPr>
          <p:cNvPr id="8" name="矩形: 圆角 39">
            <a:extLst>
              <a:ext uri="{FF2B5EF4-FFF2-40B4-BE49-F238E27FC236}">
                <a16:creationId xmlns:a16="http://schemas.microsoft.com/office/drawing/2014/main" id="{FF15ED94-5A65-458C-905E-EF23F3E784C9}"/>
              </a:ext>
            </a:extLst>
          </p:cNvPr>
          <p:cNvSpPr/>
          <p:nvPr/>
        </p:nvSpPr>
        <p:spPr>
          <a:xfrm>
            <a:off x="9753498" y="550004"/>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smtClean="0">
                <a:solidFill>
                  <a:schemeClr val="bg1"/>
                </a:solidFill>
                <a:cs typeface="+mn-ea"/>
                <a:sym typeface="+mn-lt"/>
              </a:rPr>
              <a:t>大数据赋能</a:t>
            </a:r>
            <a:endParaRPr kumimoji="1" lang="zh-CN" altLang="en-US" sz="1400" b="1" dirty="0">
              <a:solidFill>
                <a:schemeClr val="bg1"/>
              </a:solidFill>
              <a:cs typeface="+mn-ea"/>
              <a:sym typeface="+mn-lt"/>
            </a:endParaRPr>
          </a:p>
        </p:txBody>
      </p:sp>
      <p:graphicFrame>
        <p:nvGraphicFramePr>
          <p:cNvPr id="5" name="表格 4"/>
          <p:cNvGraphicFramePr>
            <a:graphicFrameLocks noGrp="1"/>
          </p:cNvGraphicFramePr>
          <p:nvPr>
            <p:extLst>
              <p:ext uri="{D42A27DB-BD31-4B8C-83A1-F6EECF244321}">
                <p14:modId xmlns:p14="http://schemas.microsoft.com/office/powerpoint/2010/main" val="883614362"/>
              </p:ext>
            </p:extLst>
          </p:nvPr>
        </p:nvGraphicFramePr>
        <p:xfrm>
          <a:off x="377079" y="1042320"/>
          <a:ext cx="11339741" cy="3243586"/>
        </p:xfrm>
        <a:graphic>
          <a:graphicData uri="http://schemas.openxmlformats.org/drawingml/2006/table">
            <a:tbl>
              <a:tblPr/>
              <a:tblGrid>
                <a:gridCol w="648000">
                  <a:extLst>
                    <a:ext uri="{9D8B030D-6E8A-4147-A177-3AD203B41FA5}">
                      <a16:colId xmlns:a16="http://schemas.microsoft.com/office/drawing/2014/main" val="3366887012"/>
                    </a:ext>
                  </a:extLst>
                </a:gridCol>
                <a:gridCol w="2318746">
                  <a:extLst>
                    <a:ext uri="{9D8B030D-6E8A-4147-A177-3AD203B41FA5}">
                      <a16:colId xmlns:a16="http://schemas.microsoft.com/office/drawing/2014/main" val="484113456"/>
                    </a:ext>
                  </a:extLst>
                </a:gridCol>
                <a:gridCol w="3086635">
                  <a:extLst>
                    <a:ext uri="{9D8B030D-6E8A-4147-A177-3AD203B41FA5}">
                      <a16:colId xmlns:a16="http://schemas.microsoft.com/office/drawing/2014/main" val="218647580"/>
                    </a:ext>
                  </a:extLst>
                </a:gridCol>
                <a:gridCol w="3600000">
                  <a:extLst>
                    <a:ext uri="{9D8B030D-6E8A-4147-A177-3AD203B41FA5}">
                      <a16:colId xmlns:a16="http://schemas.microsoft.com/office/drawing/2014/main" val="3743736683"/>
                    </a:ext>
                  </a:extLst>
                </a:gridCol>
                <a:gridCol w="869110">
                  <a:extLst>
                    <a:ext uri="{9D8B030D-6E8A-4147-A177-3AD203B41FA5}">
                      <a16:colId xmlns:a16="http://schemas.microsoft.com/office/drawing/2014/main" val="1640352159"/>
                    </a:ext>
                  </a:extLst>
                </a:gridCol>
                <a:gridCol w="817250">
                  <a:extLst>
                    <a:ext uri="{9D8B030D-6E8A-4147-A177-3AD203B41FA5}">
                      <a16:colId xmlns:a16="http://schemas.microsoft.com/office/drawing/2014/main" val="3839354263"/>
                    </a:ext>
                  </a:extLst>
                </a:gridCol>
              </a:tblGrid>
              <a:tr h="462226">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1044000">
                <a:tc>
                  <a:txBody>
                    <a:bodyPr/>
                    <a:lstStyle/>
                    <a:p>
                      <a:pPr marL="0" algn="ctr" defTabSz="914400" rtl="0" eaLnBrk="1" fontAlgn="ctr" latinLnBrk="0" hangingPunct="1">
                        <a:lnSpc>
                          <a:spcPct val="150000"/>
                        </a:lnSpc>
                        <a:spcAft>
                          <a:spcPts val="0"/>
                        </a:spcAft>
                      </a:pPr>
                      <a:r>
                        <a:rPr lang="en-US" altLang="zh-CN" sz="1200" kern="100" dirty="0" smtClean="0">
                          <a:solidFill>
                            <a:schemeClr val="tx1"/>
                          </a:solidFill>
                          <a:effectLst/>
                          <a:latin typeface="+mn-lt"/>
                          <a:ea typeface="+mn-ea"/>
                          <a:cs typeface="+mn-ea"/>
                          <a:sym typeface="+mn-lt"/>
                        </a:rPr>
                        <a:t>1</a:t>
                      </a:r>
                      <a:endParaRPr lang="en-US" altLang="zh-CN" sz="1200" kern="1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en-US" altLang="zh-CN" sz="1200" kern="1200" dirty="0" smtClean="0">
                          <a:solidFill>
                            <a:schemeClr val="tx1"/>
                          </a:solidFill>
                          <a:effectLst/>
                          <a:latin typeface="+mn-lt"/>
                          <a:ea typeface="+mn-ea"/>
                          <a:cs typeface="+mn-ea"/>
                          <a:sym typeface="+mn-lt"/>
                        </a:rPr>
                        <a:t>【</a:t>
                      </a:r>
                      <a:r>
                        <a:rPr lang="zh-CN" altLang="en-US" sz="1200" kern="1200" dirty="0" smtClean="0">
                          <a:solidFill>
                            <a:schemeClr val="tx1"/>
                          </a:solidFill>
                          <a:effectLst/>
                          <a:latin typeface="+mn-lt"/>
                          <a:ea typeface="+mn-ea"/>
                          <a:cs typeface="+mn-ea"/>
                          <a:sym typeface="+mn-lt"/>
                        </a:rPr>
                        <a:t>主数据</a:t>
                      </a:r>
                      <a:r>
                        <a:rPr lang="en-US" altLang="zh-CN" sz="1200" kern="1200" dirty="0" smtClean="0">
                          <a:solidFill>
                            <a:schemeClr val="tx1"/>
                          </a:solidFill>
                          <a:effectLst/>
                          <a:latin typeface="+mn-lt"/>
                          <a:ea typeface="+mn-ea"/>
                          <a:cs typeface="+mn-ea"/>
                          <a:sym typeface="+mn-lt"/>
                        </a:rPr>
                        <a:t>】</a:t>
                      </a:r>
                    </a:p>
                    <a:p>
                      <a:pPr algn="l" fontAlgn="ctr" latinLnBrk="0">
                        <a:lnSpc>
                          <a:spcPct val="150000"/>
                        </a:lnSpc>
                      </a:pPr>
                      <a:r>
                        <a:rPr lang="zh-CN" altLang="en-US" sz="1200" kern="1200" dirty="0" smtClean="0">
                          <a:solidFill>
                            <a:schemeClr val="tx1"/>
                          </a:solidFill>
                          <a:effectLst/>
                          <a:latin typeface="+mn-lt"/>
                          <a:ea typeface="+mn-ea"/>
                          <a:cs typeface="+mn-ea"/>
                          <a:sym typeface="+mn-lt"/>
                        </a:rPr>
                        <a:t>整体课题清单</a:t>
                      </a:r>
                      <a:endParaRPr lang="en-US" altLang="zh-CN" sz="1200" kern="1200" dirty="0" smtClean="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en-US" altLang="zh-CN" sz="1200" kern="1200" dirty="0" smtClean="0">
                          <a:solidFill>
                            <a:schemeClr val="tx1"/>
                          </a:solidFill>
                          <a:effectLst/>
                          <a:latin typeface="+mn-lt"/>
                          <a:ea typeface="+mn-ea"/>
                          <a:cs typeface="+mn-ea"/>
                          <a:sym typeface="+mn-lt"/>
                        </a:rPr>
                        <a:t>【</a:t>
                      </a:r>
                      <a:r>
                        <a:rPr lang="zh-CN" altLang="en-US" sz="1200" kern="1200" dirty="0" smtClean="0">
                          <a:solidFill>
                            <a:schemeClr val="tx1"/>
                          </a:solidFill>
                          <a:effectLst/>
                          <a:latin typeface="+mn-lt"/>
                          <a:ea typeface="+mn-ea"/>
                          <a:cs typeface="+mn-ea"/>
                          <a:sym typeface="+mn-lt"/>
                        </a:rPr>
                        <a:t>指摘</a:t>
                      </a:r>
                      <a:r>
                        <a:rPr lang="en-US" altLang="zh-CN" sz="1200" kern="1200" dirty="0" smtClean="0">
                          <a:solidFill>
                            <a:schemeClr val="tx1"/>
                          </a:solidFill>
                          <a:effectLst/>
                          <a:latin typeface="+mn-lt"/>
                          <a:ea typeface="+mn-ea"/>
                          <a:cs typeface="+mn-ea"/>
                          <a:sym typeface="+mn-lt"/>
                        </a:rPr>
                        <a:t>】</a:t>
                      </a:r>
                    </a:p>
                    <a:p>
                      <a:pPr algn="l" fontAlgn="ctr" latinLnBrk="0">
                        <a:lnSpc>
                          <a:spcPct val="150000"/>
                        </a:lnSpc>
                      </a:pPr>
                      <a:r>
                        <a:rPr lang="en-US" altLang="zh-CN" sz="1200" kern="1200" dirty="0" smtClean="0">
                          <a:solidFill>
                            <a:schemeClr val="tx1"/>
                          </a:solidFill>
                          <a:effectLst/>
                          <a:latin typeface="+mn-lt"/>
                          <a:ea typeface="+mn-ea"/>
                          <a:cs typeface="+mn-ea"/>
                          <a:sym typeface="+mn-lt"/>
                        </a:rPr>
                        <a:t>0729 </a:t>
                      </a:r>
                      <a:r>
                        <a:rPr lang="zh-CN" altLang="en-US" sz="1200" kern="1200" dirty="0" smtClean="0">
                          <a:solidFill>
                            <a:schemeClr val="tx1"/>
                          </a:solidFill>
                          <a:effectLst/>
                          <a:latin typeface="+mn-lt"/>
                          <a:ea typeface="+mn-ea"/>
                          <a:cs typeface="+mn-ea"/>
                          <a:sym typeface="+mn-lt"/>
                        </a:rPr>
                        <a:t>数字化例会汇报</a:t>
                      </a:r>
                      <a:endParaRPr lang="en-US" altLang="zh-CN" sz="1200" kern="1200" dirty="0" smtClean="0">
                        <a:solidFill>
                          <a:schemeClr val="tx1"/>
                        </a:solidFill>
                        <a:effectLst/>
                        <a:latin typeface="+mn-lt"/>
                        <a:ea typeface="+mn-ea"/>
                        <a:cs typeface="+mn-ea"/>
                        <a:sym typeface="+mn-lt"/>
                      </a:endParaRPr>
                    </a:p>
                    <a:p>
                      <a:pPr algn="l" fontAlgn="ctr" latinLnBrk="0">
                        <a:lnSpc>
                          <a:spcPct val="150000"/>
                        </a:lnSpc>
                      </a:pPr>
                      <a:r>
                        <a:rPr lang="zh-CN" altLang="en-US" sz="1200" kern="1200" dirty="0" smtClean="0">
                          <a:solidFill>
                            <a:schemeClr val="tx1"/>
                          </a:solidFill>
                          <a:effectLst/>
                          <a:latin typeface="+mn-lt"/>
                          <a:ea typeface="+mn-ea"/>
                          <a:cs typeface="+mn-ea"/>
                          <a:sym typeface="+mn-lt"/>
                        </a:rPr>
                        <a:t>主数据源头及流程，评估各类主数据管理涉及的部门及职责，是否需要进行组织变革；项目的执行计划及需要领导配合协调计划</a:t>
                      </a:r>
                      <a:endParaRPr lang="en-US" altLang="zh-CN" sz="1200" kern="1200" dirty="0" smtClean="0">
                        <a:solidFill>
                          <a:schemeClr val="tx1"/>
                        </a:solidFill>
                        <a:effectLst/>
                        <a:latin typeface="+mn-lt"/>
                        <a:ea typeface="+mn-ea"/>
                        <a:cs typeface="+mn-ea"/>
                        <a:sym typeface="+mn-lt"/>
                      </a:endParaRPr>
                    </a:p>
                    <a:p>
                      <a:pPr algn="l" fontAlgn="ctr" latinLnBrk="0">
                        <a:lnSpc>
                          <a:spcPct val="150000"/>
                        </a:lnSpc>
                      </a:pPr>
                      <a:r>
                        <a:rPr lang="en-US" altLang="zh-CN" sz="1200" kern="1200" dirty="0" smtClean="0">
                          <a:solidFill>
                            <a:schemeClr val="tx1"/>
                          </a:solidFill>
                          <a:effectLst/>
                          <a:latin typeface="+mn-lt"/>
                          <a:ea typeface="+mn-ea"/>
                          <a:cs typeface="+mn-ea"/>
                          <a:sym typeface="+mn-lt"/>
                        </a:rPr>
                        <a:t>0831 </a:t>
                      </a:r>
                      <a:r>
                        <a:rPr lang="zh-CN" altLang="en-US" sz="1200" kern="1200" dirty="0" smtClean="0">
                          <a:solidFill>
                            <a:schemeClr val="tx1"/>
                          </a:solidFill>
                          <a:effectLst/>
                          <a:latin typeface="+mn-lt"/>
                          <a:ea typeface="+mn-ea"/>
                          <a:cs typeface="+mn-ea"/>
                          <a:sym typeface="+mn-lt"/>
                        </a:rPr>
                        <a:t>提供财务相关主数据清单</a:t>
                      </a:r>
                      <a:endParaRPr lang="zh-CN" altLang="en-US"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lnSpc>
                          <a:spcPct val="150000"/>
                        </a:lnSpc>
                        <a:tabLst>
                          <a:tab pos="1435100" algn="l"/>
                        </a:tabLst>
                      </a:pPr>
                      <a:r>
                        <a:rPr lang="en-US" altLang="zh-CN" sz="1200" kern="1200" dirty="0" smtClean="0">
                          <a:solidFill>
                            <a:srgbClr val="FF0000"/>
                          </a:solidFill>
                          <a:effectLst/>
                          <a:latin typeface="+mn-lt"/>
                          <a:ea typeface="+mn-ea"/>
                          <a:cs typeface="+mn-ea"/>
                          <a:sym typeface="+mn-lt"/>
                        </a:rPr>
                        <a:t>1111 </a:t>
                      </a:r>
                      <a:r>
                        <a:rPr lang="zh-CN" altLang="en-US" sz="1200" kern="1200" dirty="0" smtClean="0">
                          <a:solidFill>
                            <a:srgbClr val="FF0000"/>
                          </a:solidFill>
                          <a:effectLst/>
                          <a:latin typeface="+mn-lt"/>
                          <a:ea typeface="+mn-ea"/>
                          <a:cs typeface="+mn-ea"/>
                          <a:sym typeface="+mn-lt"/>
                        </a:rPr>
                        <a:t>已基本课题清单梳理，计划下周一输出，面向科长汇报</a:t>
                      </a:r>
                      <a:endParaRPr lang="en-US" altLang="zh-CN" sz="1200" kern="1200" dirty="0" smtClean="0">
                        <a:solidFill>
                          <a:srgbClr val="FF0000"/>
                        </a:solidFill>
                        <a:effectLst/>
                        <a:latin typeface="+mn-lt"/>
                        <a:ea typeface="+mn-ea"/>
                        <a:cs typeface="+mn-ea"/>
                        <a:sym typeface="+mn-lt"/>
                      </a:endParaRPr>
                    </a:p>
                    <a:p>
                      <a:pPr marL="0" algn="l" defTabSz="914400" rtl="0" eaLnBrk="1" fontAlgn="ctr" latinLnBrk="0" hangingPunct="1">
                        <a:lnSpc>
                          <a:spcPct val="150000"/>
                        </a:lnSpc>
                        <a:tabLst>
                          <a:tab pos="1435100" algn="l"/>
                        </a:tabLst>
                      </a:pPr>
                      <a:r>
                        <a:rPr lang="en-US" altLang="zh-CN" sz="1200" kern="1200" dirty="0" smtClean="0">
                          <a:solidFill>
                            <a:schemeClr val="bg1">
                              <a:lumMod val="65000"/>
                            </a:schemeClr>
                          </a:solidFill>
                          <a:effectLst/>
                          <a:latin typeface="+mn-lt"/>
                          <a:ea typeface="+mn-ea"/>
                          <a:cs typeface="+mn-ea"/>
                          <a:sym typeface="+mn-lt"/>
                        </a:rPr>
                        <a:t>0923 </a:t>
                      </a:r>
                      <a:r>
                        <a:rPr lang="zh-CN" altLang="en-US" sz="1200" kern="1200" dirty="0" smtClean="0">
                          <a:solidFill>
                            <a:schemeClr val="bg1">
                              <a:lumMod val="65000"/>
                            </a:schemeClr>
                          </a:solidFill>
                          <a:effectLst/>
                          <a:latin typeface="+mn-lt"/>
                          <a:ea typeface="+mn-ea"/>
                          <a:cs typeface="+mn-ea"/>
                          <a:sym typeface="+mn-lt"/>
                        </a:rPr>
                        <a:t>上周五已和刁科汇报了一次，今天和陈部汇报还有</a:t>
                      </a:r>
                      <a:r>
                        <a:rPr lang="en-US" altLang="zh-CN" sz="1200" kern="1200" dirty="0" smtClean="0">
                          <a:solidFill>
                            <a:schemeClr val="bg1">
                              <a:lumMod val="65000"/>
                            </a:schemeClr>
                          </a:solidFill>
                          <a:effectLst/>
                          <a:latin typeface="+mn-lt"/>
                          <a:ea typeface="+mn-ea"/>
                          <a:cs typeface="+mn-ea"/>
                          <a:sym typeface="+mn-lt"/>
                        </a:rPr>
                        <a:t>4</a:t>
                      </a:r>
                      <a:r>
                        <a:rPr lang="zh-CN" altLang="en-US" sz="1200" kern="1200" dirty="0" smtClean="0">
                          <a:solidFill>
                            <a:schemeClr val="bg1">
                              <a:lumMod val="65000"/>
                            </a:schemeClr>
                          </a:solidFill>
                          <a:effectLst/>
                          <a:latin typeface="+mn-lt"/>
                          <a:ea typeface="+mn-ea"/>
                          <a:cs typeface="+mn-ea"/>
                          <a:sym typeface="+mn-lt"/>
                        </a:rPr>
                        <a:t>个字段无明确维护人员和工具的课题</a:t>
                      </a:r>
                      <a:endParaRPr lang="en-US" altLang="zh-CN" sz="1200" kern="1200" dirty="0" smtClean="0">
                        <a:solidFill>
                          <a:schemeClr val="bg1">
                            <a:lumMod val="6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梁鹏程</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1955607"/>
                  </a:ext>
                </a:extLst>
              </a:tr>
              <a:tr h="1044000">
                <a:tc>
                  <a:txBody>
                    <a:bodyPr/>
                    <a:lstStyle/>
                    <a:p>
                      <a:pPr marL="0" algn="ctr" defTabSz="914400" rtl="0" eaLnBrk="1" fontAlgn="ctr" latinLnBrk="0" hangingPunct="1">
                        <a:lnSpc>
                          <a:spcPct val="150000"/>
                        </a:lnSpc>
                        <a:spcAft>
                          <a:spcPts val="0"/>
                        </a:spcAft>
                      </a:pPr>
                      <a:r>
                        <a:rPr lang="en-US" altLang="zh-CN" sz="1200" kern="100" dirty="0" smtClean="0">
                          <a:solidFill>
                            <a:schemeClr val="tx1"/>
                          </a:solidFill>
                          <a:effectLst/>
                          <a:latin typeface="+mn-lt"/>
                          <a:ea typeface="+mn-ea"/>
                          <a:cs typeface="+mn-ea"/>
                          <a:sym typeface="+mn-lt"/>
                        </a:rPr>
                        <a:t>2</a:t>
                      </a:r>
                      <a:endParaRPr lang="en-US" altLang="zh-CN" sz="1200" kern="1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kern="1200" dirty="0" smtClean="0">
                          <a:solidFill>
                            <a:schemeClr val="tx1"/>
                          </a:solidFill>
                          <a:effectLst/>
                          <a:latin typeface="+mn-lt"/>
                          <a:ea typeface="+mn-ea"/>
                          <a:cs typeface="+mn-ea"/>
                          <a:sym typeface="+mn-lt"/>
                        </a:rPr>
                        <a:t>提供车型及到店订单交付及库存周转率数据，核查订单数据真实性</a:t>
                      </a:r>
                      <a:endParaRPr lang="zh-CN" altLang="en-US"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en-US" altLang="zh-CN" sz="1200" kern="1200" dirty="0" smtClean="0">
                          <a:solidFill>
                            <a:schemeClr val="tx1"/>
                          </a:solidFill>
                          <a:effectLst/>
                          <a:latin typeface="+mn-lt"/>
                          <a:ea typeface="+mn-ea"/>
                          <a:cs typeface="+mn-ea"/>
                          <a:sym typeface="+mn-lt"/>
                        </a:rPr>
                        <a:t>【</a:t>
                      </a:r>
                      <a:r>
                        <a:rPr lang="zh-CN" altLang="en-US" sz="1200" kern="1200" dirty="0" smtClean="0">
                          <a:solidFill>
                            <a:schemeClr val="tx1"/>
                          </a:solidFill>
                          <a:effectLst/>
                          <a:latin typeface="+mn-lt"/>
                          <a:ea typeface="+mn-ea"/>
                          <a:cs typeface="+mn-ea"/>
                          <a:sym typeface="+mn-lt"/>
                        </a:rPr>
                        <a:t>指摘</a:t>
                      </a:r>
                      <a:r>
                        <a:rPr lang="en-US" altLang="zh-CN" sz="1200" kern="1200" dirty="0" smtClean="0">
                          <a:solidFill>
                            <a:schemeClr val="tx1"/>
                          </a:solidFill>
                          <a:effectLst/>
                          <a:latin typeface="+mn-lt"/>
                          <a:ea typeface="+mn-ea"/>
                          <a:cs typeface="+mn-ea"/>
                          <a:sym typeface="+mn-lt"/>
                        </a:rPr>
                        <a:t>】</a:t>
                      </a:r>
                    </a:p>
                    <a:p>
                      <a:pPr algn="l" fontAlgn="ctr" latinLnBrk="0">
                        <a:lnSpc>
                          <a:spcPct val="150000"/>
                        </a:lnSpc>
                      </a:pPr>
                      <a:r>
                        <a:rPr lang="en-US" altLang="zh-CN" sz="1200" kern="1200" dirty="0" smtClean="0">
                          <a:solidFill>
                            <a:schemeClr val="tx1"/>
                          </a:solidFill>
                          <a:effectLst/>
                          <a:latin typeface="+mn-lt"/>
                          <a:ea typeface="+mn-ea"/>
                          <a:cs typeface="+mn-ea"/>
                          <a:sym typeface="+mn-lt"/>
                        </a:rPr>
                        <a:t>1109 </a:t>
                      </a:r>
                      <a:r>
                        <a:rPr lang="zh-CN" altLang="en-US" sz="1200" kern="1200" dirty="0" smtClean="0">
                          <a:solidFill>
                            <a:schemeClr val="tx1"/>
                          </a:solidFill>
                          <a:effectLst/>
                          <a:latin typeface="+mn-lt"/>
                          <a:ea typeface="+mn-ea"/>
                          <a:cs typeface="+mn-ea"/>
                          <a:sym typeface="+mn-lt"/>
                        </a:rPr>
                        <a:t>转化率中间加公式；在订单转化率后加上其中试驾转化数据</a:t>
                      </a:r>
                      <a:endParaRPr lang="zh-CN" altLang="en-US" sz="1200" kern="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b="0" i="0" dirty="0" smtClean="0">
                          <a:solidFill>
                            <a:srgbClr val="FF0000"/>
                          </a:solidFill>
                          <a:effectLst/>
                          <a:latin typeface="+mn-lt"/>
                          <a:ea typeface="+mn-ea"/>
                          <a:cs typeface="+mn-ea"/>
                          <a:sym typeface="+mn-lt"/>
                        </a:rPr>
                        <a:t>1111 </a:t>
                      </a:r>
                      <a:r>
                        <a:rPr lang="zh-CN" altLang="en-US" sz="1200" b="0" i="0" dirty="0" smtClean="0">
                          <a:solidFill>
                            <a:srgbClr val="FF0000"/>
                          </a:solidFill>
                          <a:effectLst/>
                          <a:latin typeface="+mn-lt"/>
                          <a:ea typeface="+mn-ea"/>
                          <a:cs typeface="+mn-ea"/>
                          <a:sym typeface="+mn-lt"/>
                        </a:rPr>
                        <a:t>已汇报通过，后续持续更新数据信息</a:t>
                      </a:r>
                      <a:endParaRPr lang="en-US" altLang="zh-CN" sz="1200" b="0" i="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b="0" i="0" dirty="0" smtClean="0">
                          <a:solidFill>
                            <a:schemeClr val="bg1">
                              <a:lumMod val="75000"/>
                            </a:schemeClr>
                          </a:solidFill>
                          <a:effectLst/>
                          <a:latin typeface="+mn-lt"/>
                          <a:ea typeface="+mn-ea"/>
                          <a:cs typeface="+mn-ea"/>
                          <a:sym typeface="+mn-lt"/>
                        </a:rPr>
                        <a:t>1104 </a:t>
                      </a:r>
                      <a:r>
                        <a:rPr lang="zh-CN" altLang="en-US" sz="1200" b="0" i="0" dirty="0" smtClean="0">
                          <a:solidFill>
                            <a:schemeClr val="bg1">
                              <a:lumMod val="75000"/>
                            </a:schemeClr>
                          </a:solidFill>
                          <a:effectLst/>
                          <a:latin typeface="+mn-lt"/>
                          <a:ea typeface="+mn-ea"/>
                          <a:cs typeface="+mn-ea"/>
                          <a:sym typeface="+mn-lt"/>
                        </a:rPr>
                        <a:t>进行数据逻辑汇报并展示相关数据</a:t>
                      </a:r>
                      <a:endParaRPr lang="en-US" altLang="zh-CN" sz="1200" b="0" i="0" dirty="0" smtClean="0">
                        <a:solidFill>
                          <a:schemeClr val="bg1">
                            <a:lumMod val="7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刁榕辉</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梁鹏程</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138722"/>
                  </a:ext>
                </a:extLst>
              </a:tr>
            </a:tbl>
          </a:graphicData>
        </a:graphic>
      </p:graphicFrame>
    </p:spTree>
    <p:extLst>
      <p:ext uri="{BB962C8B-B14F-4D97-AF65-F5344CB8AC3E}">
        <p14:creationId xmlns:p14="http://schemas.microsoft.com/office/powerpoint/2010/main" val="29961811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sp>
        <p:nvSpPr>
          <p:cNvPr id="8" name="矩形: 圆角 39">
            <a:extLst>
              <a:ext uri="{FF2B5EF4-FFF2-40B4-BE49-F238E27FC236}">
                <a16:creationId xmlns:a16="http://schemas.microsoft.com/office/drawing/2014/main" id="{FF15ED94-5A65-458C-905E-EF23F3E784C9}"/>
              </a:ext>
            </a:extLst>
          </p:cNvPr>
          <p:cNvSpPr/>
          <p:nvPr/>
        </p:nvSpPr>
        <p:spPr>
          <a:xfrm>
            <a:off x="5231904" y="495427"/>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a:solidFill>
                  <a:schemeClr val="bg1"/>
                </a:solidFill>
                <a:cs typeface="+mn-ea"/>
                <a:sym typeface="+mn-lt"/>
              </a:rPr>
              <a:t>业务模式变革探索</a:t>
            </a:r>
          </a:p>
        </p:txBody>
      </p:sp>
      <p:graphicFrame>
        <p:nvGraphicFramePr>
          <p:cNvPr id="5" name="表格 4"/>
          <p:cNvGraphicFramePr>
            <a:graphicFrameLocks noGrp="1"/>
          </p:cNvGraphicFramePr>
          <p:nvPr>
            <p:extLst>
              <p:ext uri="{D42A27DB-BD31-4B8C-83A1-F6EECF244321}">
                <p14:modId xmlns:p14="http://schemas.microsoft.com/office/powerpoint/2010/main" val="717069818"/>
              </p:ext>
            </p:extLst>
          </p:nvPr>
        </p:nvGraphicFramePr>
        <p:xfrm>
          <a:off x="396734" y="1160654"/>
          <a:ext cx="11339741" cy="4485586"/>
        </p:xfrm>
        <a:graphic>
          <a:graphicData uri="http://schemas.openxmlformats.org/drawingml/2006/table">
            <a:tbl>
              <a:tblPr/>
              <a:tblGrid>
                <a:gridCol w="648000">
                  <a:extLst>
                    <a:ext uri="{9D8B030D-6E8A-4147-A177-3AD203B41FA5}">
                      <a16:colId xmlns:a16="http://schemas.microsoft.com/office/drawing/2014/main" val="3366887012"/>
                    </a:ext>
                  </a:extLst>
                </a:gridCol>
                <a:gridCol w="1980000">
                  <a:extLst>
                    <a:ext uri="{9D8B030D-6E8A-4147-A177-3AD203B41FA5}">
                      <a16:colId xmlns:a16="http://schemas.microsoft.com/office/drawing/2014/main" val="484113456"/>
                    </a:ext>
                  </a:extLst>
                </a:gridCol>
                <a:gridCol w="3802708">
                  <a:extLst>
                    <a:ext uri="{9D8B030D-6E8A-4147-A177-3AD203B41FA5}">
                      <a16:colId xmlns:a16="http://schemas.microsoft.com/office/drawing/2014/main" val="218647580"/>
                    </a:ext>
                  </a:extLst>
                </a:gridCol>
                <a:gridCol w="3222673">
                  <a:extLst>
                    <a:ext uri="{9D8B030D-6E8A-4147-A177-3AD203B41FA5}">
                      <a16:colId xmlns:a16="http://schemas.microsoft.com/office/drawing/2014/main" val="3743736683"/>
                    </a:ext>
                  </a:extLst>
                </a:gridCol>
                <a:gridCol w="869110">
                  <a:extLst>
                    <a:ext uri="{9D8B030D-6E8A-4147-A177-3AD203B41FA5}">
                      <a16:colId xmlns:a16="http://schemas.microsoft.com/office/drawing/2014/main" val="1640352159"/>
                    </a:ext>
                  </a:extLst>
                </a:gridCol>
                <a:gridCol w="817250">
                  <a:extLst>
                    <a:ext uri="{9D8B030D-6E8A-4147-A177-3AD203B41FA5}">
                      <a16:colId xmlns:a16="http://schemas.microsoft.com/office/drawing/2014/main" val="3839354263"/>
                    </a:ext>
                  </a:extLst>
                </a:gridCol>
              </a:tblGrid>
              <a:tr h="462226">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828000">
                <a:tc>
                  <a:txBody>
                    <a:bodyPr/>
                    <a:lstStyle/>
                    <a:p>
                      <a:pPr algn="ctr">
                        <a:lnSpc>
                          <a:spcPct val="150000"/>
                        </a:lnSpc>
                      </a:pPr>
                      <a:r>
                        <a:rPr lang="en-US" altLang="zh-CN" sz="1200" dirty="0" smtClean="0">
                          <a:solidFill>
                            <a:schemeClr val="tx1"/>
                          </a:solidFill>
                          <a:latin typeface="+mn-lt"/>
                          <a:ea typeface="+mn-ea"/>
                          <a:cs typeface="+mn-ea"/>
                          <a:sym typeface="+mn-lt"/>
                        </a:rPr>
                        <a:t>1</a:t>
                      </a:r>
                      <a:endParaRPr lang="zh-CN" altLang="en-US" sz="1200" dirty="0">
                        <a:solidFill>
                          <a:schemeClr val="tx1"/>
                        </a:solidFill>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dirty="0" smtClean="0">
                          <a:solidFill>
                            <a:schemeClr val="tx1"/>
                          </a:solidFill>
                          <a:effectLst/>
                          <a:latin typeface="+mn-lt"/>
                          <a:ea typeface="+mn-ea"/>
                          <a:cs typeface="+mn-ea"/>
                          <a:sym typeface="+mn-lt"/>
                        </a:rPr>
                        <a:t>门店调研</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zh-CN" altLang="en-US" sz="1200" dirty="0" smtClean="0">
                          <a:solidFill>
                            <a:schemeClr val="tx1"/>
                          </a:solidFill>
                          <a:effectLst/>
                          <a:latin typeface="+mn-lt"/>
                          <a:ea typeface="+mn-ea"/>
                          <a:cs typeface="+mn-ea"/>
                          <a:sym typeface="+mn-lt"/>
                        </a:rPr>
                        <a:t>各产品团队计划进行双周门店调研</a:t>
                      </a:r>
                      <a:endParaRPr lang="en-US" altLang="zh-CN" sz="1200" dirty="0" smtClean="0">
                        <a:solidFill>
                          <a:schemeClr val="tx1"/>
                        </a:solidFill>
                        <a:effectLst/>
                        <a:latin typeface="+mn-lt"/>
                        <a:ea typeface="+mn-ea"/>
                        <a:cs typeface="+mn-ea"/>
                        <a:sym typeface="+mn-lt"/>
                      </a:endParaRPr>
                    </a:p>
                    <a:p>
                      <a:pPr algn="l" fontAlgn="ctr" latinLnBrk="0">
                        <a:lnSpc>
                          <a:spcPct val="150000"/>
                        </a:lnSpc>
                      </a:pPr>
                      <a:r>
                        <a:rPr lang="en-US" altLang="zh-CN" sz="1200" dirty="0" smtClean="0">
                          <a:solidFill>
                            <a:schemeClr val="tx1"/>
                          </a:solidFill>
                          <a:effectLst/>
                          <a:latin typeface="+mn-lt"/>
                          <a:ea typeface="+mn-ea"/>
                          <a:cs typeface="+mn-ea"/>
                          <a:sym typeface="+mn-lt"/>
                        </a:rPr>
                        <a:t>0810 </a:t>
                      </a:r>
                      <a:r>
                        <a:rPr lang="zh-CN" altLang="en-US" sz="1200" dirty="0" smtClean="0">
                          <a:solidFill>
                            <a:schemeClr val="tx1"/>
                          </a:solidFill>
                          <a:effectLst/>
                          <a:latin typeface="+mn-lt"/>
                          <a:ea typeface="+mn-ea"/>
                          <a:cs typeface="+mn-ea"/>
                          <a:sym typeface="+mn-lt"/>
                        </a:rPr>
                        <a:t>产品每周驻店工作安排</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rgbClr val="FF0000"/>
                          </a:solidFill>
                          <a:effectLst/>
                          <a:latin typeface="+mn-lt"/>
                          <a:ea typeface="+mn-ea"/>
                          <a:cs typeface="+mn-ea"/>
                          <a:sym typeface="+mn-lt"/>
                        </a:rPr>
                        <a:t>0923 SCRM</a:t>
                      </a:r>
                      <a:r>
                        <a:rPr lang="zh-CN" altLang="en-US" sz="1200" dirty="0" smtClean="0">
                          <a:solidFill>
                            <a:srgbClr val="FF0000"/>
                          </a:solidFill>
                          <a:effectLst/>
                          <a:latin typeface="+mn-lt"/>
                          <a:ea typeface="+mn-ea"/>
                          <a:cs typeface="+mn-ea"/>
                          <a:sym typeface="+mn-lt"/>
                        </a:rPr>
                        <a:t>产品团队</a:t>
                      </a:r>
                      <a:r>
                        <a:rPr lang="en-US" altLang="zh-CN" sz="1200" dirty="0" smtClean="0">
                          <a:solidFill>
                            <a:srgbClr val="FF0000"/>
                          </a:solidFill>
                          <a:effectLst/>
                          <a:latin typeface="+mn-lt"/>
                          <a:ea typeface="+mn-ea"/>
                          <a:cs typeface="+mn-ea"/>
                          <a:sym typeface="+mn-lt"/>
                        </a:rPr>
                        <a:t>9</a:t>
                      </a:r>
                      <a:r>
                        <a:rPr lang="zh-CN" altLang="en-US" sz="1200" dirty="0" smtClean="0">
                          <a:solidFill>
                            <a:srgbClr val="FF0000"/>
                          </a:solidFill>
                          <a:effectLst/>
                          <a:latin typeface="+mn-lt"/>
                          <a:ea typeface="+mn-ea"/>
                          <a:cs typeface="+mn-ea"/>
                          <a:sym typeface="+mn-lt"/>
                        </a:rPr>
                        <a:t>月</a:t>
                      </a:r>
                      <a:r>
                        <a:rPr lang="en-US" altLang="zh-CN" sz="1200" dirty="0" smtClean="0">
                          <a:solidFill>
                            <a:srgbClr val="FF0000"/>
                          </a:solidFill>
                          <a:effectLst/>
                          <a:latin typeface="+mn-lt"/>
                          <a:ea typeface="+mn-ea"/>
                          <a:cs typeface="+mn-ea"/>
                          <a:sym typeface="+mn-lt"/>
                        </a:rPr>
                        <a:t>23</a:t>
                      </a:r>
                      <a:r>
                        <a:rPr lang="zh-CN" altLang="en-US" sz="1200" dirty="0" smtClean="0">
                          <a:solidFill>
                            <a:srgbClr val="FF0000"/>
                          </a:solidFill>
                          <a:effectLst/>
                          <a:latin typeface="+mn-lt"/>
                          <a:ea typeface="+mn-ea"/>
                          <a:cs typeface="+mn-ea"/>
                          <a:sym typeface="+mn-lt"/>
                        </a:rPr>
                        <a:t>日进行传祺丰凯店调研，主要针对新企划项目，进行门店交车前的准备、客户到店后交车的流程，全流程涉及到的系统以及线下材料等调研</a:t>
                      </a:r>
                      <a:endParaRPr lang="en-US" altLang="zh-CN" sz="120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75000"/>
                            </a:schemeClr>
                          </a:solidFill>
                          <a:effectLst/>
                          <a:latin typeface="+mn-lt"/>
                          <a:ea typeface="+mn-ea"/>
                          <a:cs typeface="+mn-ea"/>
                          <a:sym typeface="+mn-lt"/>
                        </a:rPr>
                        <a:t>0916 </a:t>
                      </a:r>
                      <a:r>
                        <a:rPr lang="zh-CN" altLang="en-US" sz="1200" dirty="0" smtClean="0">
                          <a:solidFill>
                            <a:schemeClr val="bg1">
                              <a:lumMod val="75000"/>
                            </a:schemeClr>
                          </a:solidFill>
                          <a:effectLst/>
                          <a:latin typeface="+mn-lt"/>
                          <a:ea typeface="+mn-ea"/>
                          <a:cs typeface="+mn-ea"/>
                          <a:sym typeface="+mn-lt"/>
                        </a:rPr>
                        <a:t>计划下周进行门店传祺门店调研</a:t>
                      </a:r>
                      <a:endParaRPr lang="en-US" altLang="zh-CN" sz="1200" dirty="0" smtClean="0">
                        <a:solidFill>
                          <a:schemeClr val="bg1">
                            <a:lumMod val="75000"/>
                          </a:schemeClr>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75000"/>
                            </a:schemeClr>
                          </a:solidFill>
                          <a:effectLst/>
                          <a:latin typeface="+mn-lt"/>
                          <a:ea typeface="+mn-ea"/>
                          <a:cs typeface="+mn-ea"/>
                          <a:sym typeface="+mn-lt"/>
                        </a:rPr>
                        <a:t>0909 </a:t>
                      </a:r>
                      <a:r>
                        <a:rPr lang="zh-CN" altLang="en-US" sz="1200" dirty="0" smtClean="0">
                          <a:solidFill>
                            <a:schemeClr val="bg1">
                              <a:lumMod val="75000"/>
                            </a:schemeClr>
                          </a:solidFill>
                          <a:effectLst/>
                          <a:latin typeface="+mn-lt"/>
                          <a:ea typeface="+mn-ea"/>
                          <a:cs typeface="+mn-ea"/>
                          <a:sym typeface="+mn-lt"/>
                        </a:rPr>
                        <a:t>集团中青班团队本周去特斯拉调研，各产品团队已提交调研问题清单</a:t>
                      </a:r>
                      <a:endParaRPr lang="en-US" altLang="zh-CN" sz="1200" dirty="0" smtClean="0">
                        <a:solidFill>
                          <a:schemeClr val="bg1">
                            <a:lumMod val="75000"/>
                          </a:schemeClr>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dirty="0" smtClean="0">
                          <a:solidFill>
                            <a:schemeClr val="bg1">
                              <a:lumMod val="75000"/>
                            </a:schemeClr>
                          </a:solidFill>
                          <a:effectLst/>
                          <a:latin typeface="+mn-lt"/>
                          <a:ea typeface="+mn-ea"/>
                          <a:cs typeface="+mn-ea"/>
                          <a:sym typeface="+mn-lt"/>
                        </a:rPr>
                        <a:t>0902 </a:t>
                      </a:r>
                      <a:r>
                        <a:rPr lang="zh-CN" altLang="en-US" sz="1200" dirty="0" smtClean="0">
                          <a:solidFill>
                            <a:schemeClr val="bg1">
                              <a:lumMod val="75000"/>
                            </a:schemeClr>
                          </a:solidFill>
                          <a:effectLst/>
                          <a:latin typeface="+mn-lt"/>
                          <a:ea typeface="+mn-ea"/>
                          <a:cs typeface="+mn-ea"/>
                          <a:sym typeface="+mn-lt"/>
                        </a:rPr>
                        <a:t>与</a:t>
                      </a:r>
                      <a:r>
                        <a:rPr lang="en-US" altLang="zh-CN" sz="1200" dirty="0" smtClean="0">
                          <a:solidFill>
                            <a:schemeClr val="bg1">
                              <a:lumMod val="75000"/>
                            </a:schemeClr>
                          </a:solidFill>
                          <a:effectLst/>
                          <a:latin typeface="+mn-lt"/>
                          <a:ea typeface="+mn-ea"/>
                          <a:cs typeface="+mn-ea"/>
                          <a:sym typeface="+mn-lt"/>
                        </a:rPr>
                        <a:t>0826</a:t>
                      </a:r>
                      <a:r>
                        <a:rPr lang="zh-CN" altLang="en-US" sz="1200" dirty="0" smtClean="0">
                          <a:solidFill>
                            <a:schemeClr val="bg1">
                              <a:lumMod val="75000"/>
                            </a:schemeClr>
                          </a:solidFill>
                          <a:effectLst/>
                          <a:latin typeface="+mn-lt"/>
                          <a:ea typeface="+mn-ea"/>
                          <a:cs typeface="+mn-ea"/>
                          <a:sym typeface="+mn-lt"/>
                        </a:rPr>
                        <a:t>用户运营、云外呼及</a:t>
                      </a:r>
                      <a:r>
                        <a:rPr lang="en-US" altLang="zh-CN" sz="1200" dirty="0" smtClean="0">
                          <a:solidFill>
                            <a:schemeClr val="bg1">
                              <a:lumMod val="75000"/>
                            </a:schemeClr>
                          </a:solidFill>
                          <a:effectLst/>
                          <a:latin typeface="+mn-lt"/>
                          <a:ea typeface="+mn-ea"/>
                          <a:cs typeface="+mn-ea"/>
                          <a:sym typeface="+mn-lt"/>
                        </a:rPr>
                        <a:t>SCRM</a:t>
                      </a:r>
                      <a:r>
                        <a:rPr lang="zh-CN" altLang="en-US" sz="1200" dirty="0" smtClean="0">
                          <a:solidFill>
                            <a:schemeClr val="bg1">
                              <a:lumMod val="75000"/>
                            </a:schemeClr>
                          </a:solidFill>
                          <a:effectLst/>
                          <a:latin typeface="+mn-lt"/>
                          <a:ea typeface="+mn-ea"/>
                          <a:cs typeface="+mn-ea"/>
                          <a:sym typeface="+mn-lt"/>
                        </a:rPr>
                        <a:t>团队进行其他品牌门店调研</a:t>
                      </a:r>
                      <a:endParaRPr lang="en-US" altLang="zh-CN" sz="1200" dirty="0" smtClean="0">
                        <a:solidFill>
                          <a:schemeClr val="bg1">
                            <a:lumMod val="7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50000"/>
                        </a:lnSpc>
                        <a:spcBef>
                          <a:spcPts val="0"/>
                        </a:spcBef>
                        <a:spcAft>
                          <a:spcPts val="0"/>
                        </a:spcAft>
                        <a:buClrTx/>
                        <a:buSzTx/>
                        <a:buFontTx/>
                        <a:buNone/>
                        <a:tabLst/>
                        <a:defRPr/>
                      </a:pPr>
                      <a:r>
                        <a:rPr lang="zh-CN" altLang="en-US" sz="1200" b="0" i="0" u="none" strike="noStrike" dirty="0" smtClean="0">
                          <a:solidFill>
                            <a:srgbClr val="000000"/>
                          </a:solidFill>
                          <a:effectLst/>
                          <a:latin typeface="+mn-lt"/>
                          <a:ea typeface="+mn-ea"/>
                          <a:cs typeface="+mn-ea"/>
                          <a:sym typeface="+mn-lt"/>
                        </a:rPr>
                        <a:t>刁榕辉</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金丽霞</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7936543"/>
                  </a:ext>
                </a:extLst>
              </a:tr>
              <a:tr h="1152000">
                <a:tc>
                  <a:txBody>
                    <a:bodyPr/>
                    <a:lstStyle/>
                    <a:p>
                      <a:pPr algn="ctr">
                        <a:lnSpc>
                          <a:spcPct val="150000"/>
                        </a:lnSpc>
                      </a:pPr>
                      <a:r>
                        <a:rPr lang="en-US" altLang="zh-CN" sz="1200" dirty="0" smtClean="0">
                          <a:latin typeface="+mn-lt"/>
                          <a:ea typeface="+mn-ea"/>
                          <a:cs typeface="+mn-ea"/>
                          <a:sym typeface="+mn-lt"/>
                        </a:rPr>
                        <a:t>3</a:t>
                      </a:r>
                      <a:endParaRPr lang="zh-CN" altLang="en-US" sz="120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dirty="0" smtClean="0">
                          <a:solidFill>
                            <a:srgbClr val="000000"/>
                          </a:solidFill>
                          <a:effectLst/>
                          <a:latin typeface="+mn-lt"/>
                          <a:ea typeface="+mn-ea"/>
                          <a:cs typeface="+mn-ea"/>
                          <a:sym typeface="+mn-lt"/>
                        </a:rPr>
                        <a:t>数字化创新中心挂牌</a:t>
                      </a:r>
                      <a:endParaRPr lang="zh-CN" altLang="en-US" sz="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en-US" altLang="zh-CN" sz="1200" dirty="0" smtClean="0">
                          <a:solidFill>
                            <a:schemeClr val="tx1"/>
                          </a:solidFill>
                          <a:effectLst/>
                          <a:latin typeface="+mn-lt"/>
                          <a:ea typeface="+mn-ea"/>
                          <a:cs typeface="+mn-ea"/>
                          <a:sym typeface="+mn-lt"/>
                        </a:rPr>
                        <a:t>0812 </a:t>
                      </a:r>
                      <a:r>
                        <a:rPr lang="zh-CN" altLang="en-US" sz="1200" dirty="0" smtClean="0">
                          <a:solidFill>
                            <a:schemeClr val="tx1"/>
                          </a:solidFill>
                          <a:effectLst/>
                          <a:latin typeface="+mn-lt"/>
                          <a:ea typeface="+mn-ea"/>
                          <a:cs typeface="+mn-ea"/>
                          <a:sym typeface="+mn-lt"/>
                        </a:rPr>
                        <a:t>创新工作室工作计划</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kern="1200" dirty="0" smtClean="0">
                          <a:solidFill>
                            <a:srgbClr val="FF0000"/>
                          </a:solidFill>
                          <a:effectLst/>
                          <a:latin typeface="+mn-lt"/>
                          <a:ea typeface="+mn-ea"/>
                          <a:cs typeface="+mn-ea"/>
                          <a:sym typeface="+mn-lt"/>
                        </a:rPr>
                        <a:t>0923 </a:t>
                      </a:r>
                      <a:r>
                        <a:rPr lang="zh-CN" altLang="en-US" sz="1200" kern="1200" dirty="0" smtClean="0">
                          <a:solidFill>
                            <a:srgbClr val="FF0000"/>
                          </a:solidFill>
                          <a:effectLst/>
                          <a:latin typeface="+mn-lt"/>
                          <a:ea typeface="+mn-ea"/>
                          <a:cs typeface="+mn-ea"/>
                          <a:sym typeface="+mn-lt"/>
                        </a:rPr>
                        <a:t>待确认集团领导时间执行活动</a:t>
                      </a:r>
                      <a:endParaRPr lang="en-US" altLang="zh-CN" sz="1200" kern="1200" dirty="0" smtClean="0">
                        <a:solidFill>
                          <a:srgbClr val="FF0000"/>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kern="1200" dirty="0" smtClean="0">
                          <a:solidFill>
                            <a:schemeClr val="bg1">
                              <a:lumMod val="75000"/>
                            </a:schemeClr>
                          </a:solidFill>
                          <a:effectLst/>
                          <a:latin typeface="+mn-lt"/>
                          <a:ea typeface="+mn-ea"/>
                          <a:cs typeface="+mn-ea"/>
                          <a:sym typeface="+mn-lt"/>
                        </a:rPr>
                        <a:t>0916 </a:t>
                      </a:r>
                      <a:r>
                        <a:rPr lang="zh-CN" altLang="en-US" sz="1200" kern="1200" dirty="0" smtClean="0">
                          <a:solidFill>
                            <a:schemeClr val="bg1">
                              <a:lumMod val="75000"/>
                            </a:schemeClr>
                          </a:solidFill>
                          <a:effectLst/>
                          <a:latin typeface="+mn-lt"/>
                          <a:ea typeface="+mn-ea"/>
                          <a:cs typeface="+mn-ea"/>
                          <a:sym typeface="+mn-lt"/>
                        </a:rPr>
                        <a:t>待确认集团领导时间执行活动</a:t>
                      </a:r>
                      <a:endParaRPr lang="en-US" altLang="zh-CN" sz="1200" kern="1200" dirty="0" smtClean="0">
                        <a:solidFill>
                          <a:schemeClr val="bg1">
                            <a:lumMod val="75000"/>
                          </a:schemeClr>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kern="1200" dirty="0" smtClean="0">
                          <a:solidFill>
                            <a:schemeClr val="bg1">
                              <a:lumMod val="75000"/>
                            </a:schemeClr>
                          </a:solidFill>
                          <a:effectLst/>
                          <a:latin typeface="+mn-lt"/>
                          <a:ea typeface="+mn-ea"/>
                          <a:cs typeface="+mn-ea"/>
                          <a:sym typeface="+mn-lt"/>
                        </a:rPr>
                        <a:t>0909 </a:t>
                      </a:r>
                      <a:r>
                        <a:rPr lang="zh-CN" altLang="en-US" sz="1200" kern="1200" dirty="0" smtClean="0">
                          <a:solidFill>
                            <a:schemeClr val="bg1">
                              <a:lumMod val="75000"/>
                            </a:schemeClr>
                          </a:solidFill>
                          <a:effectLst/>
                          <a:latin typeface="+mn-lt"/>
                          <a:ea typeface="+mn-ea"/>
                          <a:cs typeface="+mn-ea"/>
                          <a:sym typeface="+mn-lt"/>
                        </a:rPr>
                        <a:t>待确认集团领导时间执行活动</a:t>
                      </a:r>
                      <a:endParaRPr lang="en-US" altLang="zh-CN" sz="1200" kern="1200" dirty="0" smtClean="0">
                        <a:solidFill>
                          <a:schemeClr val="bg1">
                            <a:lumMod val="75000"/>
                          </a:schemeClr>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kern="1200" dirty="0" smtClean="0">
                          <a:solidFill>
                            <a:schemeClr val="bg1">
                              <a:lumMod val="75000"/>
                            </a:schemeClr>
                          </a:solidFill>
                          <a:effectLst/>
                          <a:latin typeface="+mn-lt"/>
                          <a:ea typeface="+mn-ea"/>
                          <a:cs typeface="+mn-ea"/>
                          <a:sym typeface="+mn-lt"/>
                        </a:rPr>
                        <a:t>0902 </a:t>
                      </a:r>
                      <a:r>
                        <a:rPr lang="zh-CN" altLang="en-US" sz="1200" kern="1200" dirty="0" smtClean="0">
                          <a:solidFill>
                            <a:schemeClr val="bg1">
                              <a:lumMod val="75000"/>
                            </a:schemeClr>
                          </a:solidFill>
                          <a:effectLst/>
                          <a:latin typeface="+mn-lt"/>
                          <a:ea typeface="+mn-ea"/>
                          <a:cs typeface="+mn-ea"/>
                          <a:sym typeface="+mn-lt"/>
                        </a:rPr>
                        <a:t>待确认集团领导时间执行活动</a:t>
                      </a:r>
                      <a:endParaRPr lang="en-US" altLang="zh-CN" sz="1200" kern="1200" dirty="0" smtClean="0">
                        <a:solidFill>
                          <a:schemeClr val="bg1">
                            <a:lumMod val="75000"/>
                          </a:schemeClr>
                        </a:solidFill>
                        <a:effectLst/>
                        <a:latin typeface="+mn-lt"/>
                        <a:ea typeface="+mn-ea"/>
                        <a:cs typeface="+mn-ea"/>
                        <a:sym typeface="+mn-lt"/>
                      </a:endParaRPr>
                    </a:p>
                    <a:p>
                      <a:pPr marL="0" marR="0" indent="0" algn="l" defTabSz="914400" rtl="0" eaLnBrk="1" fontAlgn="ctr" latinLnBrk="0" hangingPunct="1">
                        <a:lnSpc>
                          <a:spcPct val="150000"/>
                        </a:lnSpc>
                        <a:spcBef>
                          <a:spcPts val="0"/>
                        </a:spcBef>
                        <a:spcAft>
                          <a:spcPts val="0"/>
                        </a:spcAft>
                        <a:buClrTx/>
                        <a:buSzTx/>
                        <a:buFontTx/>
                        <a:buNone/>
                        <a:tabLst/>
                        <a:defRPr/>
                      </a:pPr>
                      <a:r>
                        <a:rPr lang="en-US" altLang="zh-CN" sz="1200" kern="1200" dirty="0" smtClean="0">
                          <a:solidFill>
                            <a:schemeClr val="bg1">
                              <a:lumMod val="75000"/>
                            </a:schemeClr>
                          </a:solidFill>
                          <a:effectLst/>
                          <a:latin typeface="+mn-lt"/>
                          <a:ea typeface="+mn-ea"/>
                          <a:cs typeface="+mn-ea"/>
                          <a:sym typeface="+mn-lt"/>
                        </a:rPr>
                        <a:t>0826 </a:t>
                      </a:r>
                      <a:r>
                        <a:rPr lang="zh-CN" altLang="en-US" sz="1200" kern="1200" dirty="0" smtClean="0">
                          <a:solidFill>
                            <a:schemeClr val="bg1">
                              <a:lumMod val="75000"/>
                            </a:schemeClr>
                          </a:solidFill>
                          <a:effectLst/>
                          <a:latin typeface="+mn-lt"/>
                          <a:ea typeface="+mn-ea"/>
                          <a:cs typeface="+mn-ea"/>
                          <a:sym typeface="+mn-lt"/>
                        </a:rPr>
                        <a:t>本周三汇报创新工作室工作计划</a:t>
                      </a:r>
                      <a:endParaRPr lang="en-US" altLang="zh-CN" sz="1200" kern="1200" dirty="0" smtClean="0">
                        <a:solidFill>
                          <a:schemeClr val="bg1">
                            <a:lumMod val="7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50000"/>
                        </a:lnSpc>
                        <a:spcBef>
                          <a:spcPts val="0"/>
                        </a:spcBef>
                        <a:spcAft>
                          <a:spcPts val="0"/>
                        </a:spcAft>
                        <a:buClrTx/>
                        <a:buSzTx/>
                        <a:buFontTx/>
                        <a:buNone/>
                        <a:tabLst/>
                        <a:defRPr/>
                      </a:pPr>
                      <a:r>
                        <a:rPr lang="zh-CN" altLang="en-US" sz="1200" b="0" i="0" u="none" strike="noStrike" dirty="0" smtClean="0">
                          <a:solidFill>
                            <a:srgbClr val="000000"/>
                          </a:solidFill>
                          <a:effectLst/>
                          <a:latin typeface="+mn-lt"/>
                          <a:ea typeface="+mn-ea"/>
                          <a:cs typeface="+mn-ea"/>
                          <a:sym typeface="+mn-lt"/>
                        </a:rPr>
                        <a:t>刁榕辉</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金丽霞</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0731851"/>
                  </a:ext>
                </a:extLst>
              </a:tr>
            </a:tbl>
          </a:graphicData>
        </a:graphic>
      </p:graphicFrame>
    </p:spTree>
    <p:extLst>
      <p:ext uri="{BB962C8B-B14F-4D97-AF65-F5344CB8AC3E}">
        <p14:creationId xmlns:p14="http://schemas.microsoft.com/office/powerpoint/2010/main" val="10430932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377079" y="456403"/>
            <a:ext cx="6002767" cy="461643"/>
          </a:xfrm>
          <a:prstGeom prst="rect">
            <a:avLst/>
          </a:prstGeom>
          <a:noFill/>
          <a:ln w="9525">
            <a:noFill/>
          </a:ln>
        </p:spPr>
        <p:txBody>
          <a:bodyPr wrap="square" lIns="91419" tIns="45709" rIns="91419" bIns="45709">
            <a:spAutoFit/>
          </a:bodyPr>
          <a:lstStyle/>
          <a:p>
            <a:pPr eaLnBrk="1" hangingPunct="1"/>
            <a:r>
              <a:rPr lang="zh-CN" altLang="en-US" sz="2400" b="1" dirty="0" smtClean="0">
                <a:cs typeface="+mn-ea"/>
                <a:sym typeface="+mn-lt"/>
              </a:rPr>
              <a:t>联合营销团队作战模块课题清单</a:t>
            </a:r>
            <a:endParaRPr lang="zh-CN" altLang="en-US" sz="2400" b="1" dirty="0">
              <a:cs typeface="+mn-ea"/>
              <a:sym typeface="+mn-lt"/>
            </a:endParaRPr>
          </a:p>
        </p:txBody>
      </p:sp>
      <p:sp>
        <p:nvSpPr>
          <p:cNvPr id="8" name="矩形: 圆角 39">
            <a:extLst>
              <a:ext uri="{FF2B5EF4-FFF2-40B4-BE49-F238E27FC236}">
                <a16:creationId xmlns:a16="http://schemas.microsoft.com/office/drawing/2014/main" id="{FF15ED94-5A65-458C-905E-EF23F3E784C9}"/>
              </a:ext>
            </a:extLst>
          </p:cNvPr>
          <p:cNvSpPr/>
          <p:nvPr/>
        </p:nvSpPr>
        <p:spPr>
          <a:xfrm>
            <a:off x="5231904" y="495427"/>
            <a:ext cx="1982977" cy="38359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1" lang="zh-CN" altLang="en-US" sz="1400" b="1" dirty="0">
                <a:solidFill>
                  <a:schemeClr val="bg1"/>
                </a:solidFill>
                <a:cs typeface="+mn-ea"/>
                <a:sym typeface="+mn-lt"/>
              </a:rPr>
              <a:t>业务模式变革探索</a:t>
            </a:r>
          </a:p>
        </p:txBody>
      </p:sp>
      <p:graphicFrame>
        <p:nvGraphicFramePr>
          <p:cNvPr id="5" name="表格 4"/>
          <p:cNvGraphicFramePr>
            <a:graphicFrameLocks noGrp="1"/>
          </p:cNvGraphicFramePr>
          <p:nvPr>
            <p:extLst>
              <p:ext uri="{D42A27DB-BD31-4B8C-83A1-F6EECF244321}">
                <p14:modId xmlns:p14="http://schemas.microsoft.com/office/powerpoint/2010/main" val="1526643284"/>
              </p:ext>
            </p:extLst>
          </p:nvPr>
        </p:nvGraphicFramePr>
        <p:xfrm>
          <a:off x="396734" y="1160654"/>
          <a:ext cx="11339741" cy="1614226"/>
        </p:xfrm>
        <a:graphic>
          <a:graphicData uri="http://schemas.openxmlformats.org/drawingml/2006/table">
            <a:tbl>
              <a:tblPr/>
              <a:tblGrid>
                <a:gridCol w="648000">
                  <a:extLst>
                    <a:ext uri="{9D8B030D-6E8A-4147-A177-3AD203B41FA5}">
                      <a16:colId xmlns:a16="http://schemas.microsoft.com/office/drawing/2014/main" val="3366887012"/>
                    </a:ext>
                  </a:extLst>
                </a:gridCol>
                <a:gridCol w="1980000">
                  <a:extLst>
                    <a:ext uri="{9D8B030D-6E8A-4147-A177-3AD203B41FA5}">
                      <a16:colId xmlns:a16="http://schemas.microsoft.com/office/drawing/2014/main" val="484113456"/>
                    </a:ext>
                  </a:extLst>
                </a:gridCol>
                <a:gridCol w="3802708">
                  <a:extLst>
                    <a:ext uri="{9D8B030D-6E8A-4147-A177-3AD203B41FA5}">
                      <a16:colId xmlns:a16="http://schemas.microsoft.com/office/drawing/2014/main" val="218647580"/>
                    </a:ext>
                  </a:extLst>
                </a:gridCol>
                <a:gridCol w="3222673">
                  <a:extLst>
                    <a:ext uri="{9D8B030D-6E8A-4147-A177-3AD203B41FA5}">
                      <a16:colId xmlns:a16="http://schemas.microsoft.com/office/drawing/2014/main" val="3743736683"/>
                    </a:ext>
                  </a:extLst>
                </a:gridCol>
                <a:gridCol w="869110">
                  <a:extLst>
                    <a:ext uri="{9D8B030D-6E8A-4147-A177-3AD203B41FA5}">
                      <a16:colId xmlns:a16="http://schemas.microsoft.com/office/drawing/2014/main" val="1640352159"/>
                    </a:ext>
                  </a:extLst>
                </a:gridCol>
                <a:gridCol w="817250">
                  <a:extLst>
                    <a:ext uri="{9D8B030D-6E8A-4147-A177-3AD203B41FA5}">
                      <a16:colId xmlns:a16="http://schemas.microsoft.com/office/drawing/2014/main" val="3839354263"/>
                    </a:ext>
                  </a:extLst>
                </a:gridCol>
              </a:tblGrid>
              <a:tr h="462226">
                <a:tc>
                  <a:txBody>
                    <a:bodyPr/>
                    <a:lstStyle/>
                    <a:p>
                      <a:pPr algn="ctr" fontAlgn="ctr"/>
                      <a:r>
                        <a:rPr lang="zh-CN" altLang="en-US" sz="1200" b="1" i="0" u="none" strike="noStrike" dirty="0" smtClean="0">
                          <a:solidFill>
                            <a:srgbClr val="000000"/>
                          </a:solidFill>
                          <a:effectLst/>
                          <a:latin typeface="+mn-lt"/>
                          <a:ea typeface="+mn-ea"/>
                          <a:cs typeface="+mn-ea"/>
                          <a:sym typeface="+mn-lt"/>
                        </a:rPr>
                        <a:t>序号</a:t>
                      </a:r>
                      <a:endParaRPr lang="zh-CN" altLang="en-US" sz="1200" b="1"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课题内容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解决建议</a:t>
                      </a:r>
                      <a:r>
                        <a:rPr lang="en-US" altLang="zh-CN" sz="1200" b="1" i="0" u="none" strike="noStrike" dirty="0">
                          <a:solidFill>
                            <a:srgbClr val="000000"/>
                          </a:solidFill>
                          <a:effectLst/>
                          <a:latin typeface="+mn-lt"/>
                          <a:ea typeface="+mn-ea"/>
                          <a:cs typeface="+mn-ea"/>
                          <a:sym typeface="+mn-lt"/>
                        </a:rPr>
                        <a:t>/</a:t>
                      </a:r>
                      <a:r>
                        <a:rPr lang="zh-CN" altLang="en-US" sz="1200" b="1" i="0" u="none" strike="noStrike" dirty="0">
                          <a:solidFill>
                            <a:srgbClr val="000000"/>
                          </a:solidFill>
                          <a:effectLst/>
                          <a:latin typeface="+mn-lt"/>
                          <a:ea typeface="+mn-ea"/>
                          <a:cs typeface="+mn-ea"/>
                          <a:sym typeface="+mn-lt"/>
                        </a:rPr>
                        <a:t>日程安排</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课题跟进</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广乘负责人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ctr"/>
                      <a:r>
                        <a:rPr lang="zh-CN" altLang="en-US" sz="1200" b="1" i="0" u="none" strike="noStrike" dirty="0">
                          <a:solidFill>
                            <a:srgbClr val="000000"/>
                          </a:solidFill>
                          <a:effectLst/>
                          <a:latin typeface="+mn-lt"/>
                          <a:ea typeface="+mn-ea"/>
                          <a:cs typeface="+mn-ea"/>
                          <a:sym typeface="+mn-lt"/>
                        </a:rPr>
                        <a:t>大圣负责人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8765537"/>
                  </a:ext>
                </a:extLst>
              </a:tr>
              <a:tr h="1152000">
                <a:tc>
                  <a:txBody>
                    <a:bodyPr/>
                    <a:lstStyle/>
                    <a:p>
                      <a:pPr algn="ctr">
                        <a:lnSpc>
                          <a:spcPct val="150000"/>
                        </a:lnSpc>
                      </a:pPr>
                      <a:r>
                        <a:rPr lang="en-US" altLang="zh-CN" sz="1200" dirty="0" smtClean="0">
                          <a:latin typeface="+mn-lt"/>
                          <a:ea typeface="+mn-ea"/>
                          <a:cs typeface="+mn-ea"/>
                          <a:sym typeface="+mn-lt"/>
                        </a:rPr>
                        <a:t>1</a:t>
                      </a:r>
                      <a:endParaRPr lang="zh-CN" altLang="en-US" sz="120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latinLnBrk="0">
                        <a:lnSpc>
                          <a:spcPct val="150000"/>
                        </a:lnSpc>
                      </a:pPr>
                      <a:r>
                        <a:rPr lang="zh-CN" altLang="en-US" sz="1200" dirty="0" smtClean="0">
                          <a:solidFill>
                            <a:srgbClr val="000000"/>
                          </a:solidFill>
                          <a:effectLst/>
                          <a:latin typeface="+mn-lt"/>
                          <a:ea typeface="+mn-ea"/>
                          <a:cs typeface="+mn-ea"/>
                          <a:sym typeface="+mn-lt"/>
                        </a:rPr>
                        <a:t>数字化创新中心挂牌</a:t>
                      </a:r>
                      <a:endParaRPr lang="zh-CN" altLang="en-US" sz="1200" dirty="0">
                        <a:solidFill>
                          <a:srgbClr val="000000"/>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lnSpc>
                          <a:spcPct val="150000"/>
                        </a:lnSpc>
                      </a:pPr>
                      <a:r>
                        <a:rPr lang="en-US" altLang="zh-CN" sz="1200" dirty="0" smtClean="0">
                          <a:solidFill>
                            <a:schemeClr val="tx1"/>
                          </a:solidFill>
                          <a:effectLst/>
                          <a:latin typeface="+mn-lt"/>
                          <a:ea typeface="+mn-ea"/>
                          <a:cs typeface="+mn-ea"/>
                          <a:sym typeface="+mn-lt"/>
                        </a:rPr>
                        <a:t>0812 </a:t>
                      </a:r>
                      <a:r>
                        <a:rPr lang="zh-CN" altLang="en-US" sz="1200" dirty="0" smtClean="0">
                          <a:solidFill>
                            <a:schemeClr val="tx1"/>
                          </a:solidFill>
                          <a:effectLst/>
                          <a:latin typeface="+mn-lt"/>
                          <a:ea typeface="+mn-ea"/>
                          <a:cs typeface="+mn-ea"/>
                          <a:sym typeface="+mn-lt"/>
                        </a:rPr>
                        <a:t>创新工作室工作计划</a:t>
                      </a:r>
                      <a:endParaRPr lang="zh-CN" altLang="en-US" sz="1200" dirty="0">
                        <a:solidFill>
                          <a:schemeClr val="tx1"/>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50000"/>
                        </a:lnSpc>
                        <a:spcBef>
                          <a:spcPts val="0"/>
                        </a:spcBef>
                        <a:spcAft>
                          <a:spcPts val="0"/>
                        </a:spcAft>
                        <a:buClrTx/>
                        <a:buSzTx/>
                        <a:buFontTx/>
                        <a:buNone/>
                        <a:tabLst/>
                        <a:defRPr/>
                      </a:pPr>
                      <a:endParaRPr lang="en-US" altLang="zh-CN" sz="1200" kern="1200" dirty="0" smtClean="0">
                        <a:solidFill>
                          <a:schemeClr val="bg1">
                            <a:lumMod val="75000"/>
                          </a:schemeClr>
                        </a:solidFill>
                        <a:effectLst/>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50000"/>
                        </a:lnSpc>
                        <a:spcBef>
                          <a:spcPts val="0"/>
                        </a:spcBef>
                        <a:spcAft>
                          <a:spcPts val="0"/>
                        </a:spcAft>
                        <a:buClrTx/>
                        <a:buSzTx/>
                        <a:buFontTx/>
                        <a:buNone/>
                        <a:tabLst/>
                        <a:defRPr/>
                      </a:pPr>
                      <a:r>
                        <a:rPr lang="zh-CN" altLang="en-US" sz="1200" b="0" i="0" u="none" strike="noStrike" dirty="0" smtClean="0">
                          <a:solidFill>
                            <a:srgbClr val="000000"/>
                          </a:solidFill>
                          <a:effectLst/>
                          <a:latin typeface="+mn-lt"/>
                          <a:ea typeface="+mn-ea"/>
                          <a:cs typeface="+mn-ea"/>
                          <a:sym typeface="+mn-lt"/>
                        </a:rPr>
                        <a:t>刁榕辉</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lnSpc>
                          <a:spcPct val="150000"/>
                        </a:lnSpc>
                      </a:pPr>
                      <a:r>
                        <a:rPr lang="zh-CN" altLang="en-US" sz="1200" b="0" i="0" u="none" strike="noStrike" dirty="0" smtClean="0">
                          <a:solidFill>
                            <a:srgbClr val="000000"/>
                          </a:solidFill>
                          <a:effectLst/>
                          <a:latin typeface="+mn-lt"/>
                          <a:ea typeface="+mn-ea"/>
                          <a:cs typeface="+mn-ea"/>
                          <a:sym typeface="+mn-lt"/>
                        </a:rPr>
                        <a:t>金丽霞</a:t>
                      </a:r>
                      <a:endParaRPr lang="zh-CN" altLang="en-US" sz="1200" b="0" i="0" u="none" strike="noStrike" dirty="0">
                        <a:solidFill>
                          <a:srgbClr val="000000"/>
                        </a:solidFill>
                        <a:effectLst/>
                        <a:latin typeface="+mn-lt"/>
                        <a:ea typeface="+mn-ea"/>
                        <a:cs typeface="+mn-ea"/>
                        <a:sym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0731851"/>
                  </a:ext>
                </a:extLst>
              </a:tr>
            </a:tbl>
          </a:graphicData>
        </a:graphic>
      </p:graphicFrame>
    </p:spTree>
    <p:extLst>
      <p:ext uri="{BB962C8B-B14F-4D97-AF65-F5344CB8AC3E}">
        <p14:creationId xmlns:p14="http://schemas.microsoft.com/office/powerpoint/2010/main" val="2099872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a:extLst>
              <a:ext uri="{FF2B5EF4-FFF2-40B4-BE49-F238E27FC236}">
                <a16:creationId xmlns:a16="http://schemas.microsoft.com/office/drawing/2014/main" id="{244F23E2-5D46-554D-8A31-E18D5A4F6376}"/>
              </a:ext>
            </a:extLst>
          </p:cNvPr>
          <p:cNvSpPr/>
          <p:nvPr/>
        </p:nvSpPr>
        <p:spPr>
          <a:xfrm>
            <a:off x="479376" y="116632"/>
            <a:ext cx="6002767" cy="461643"/>
          </a:xfrm>
          <a:prstGeom prst="rect">
            <a:avLst/>
          </a:prstGeom>
          <a:noFill/>
          <a:ln w="9525">
            <a:noFill/>
          </a:ln>
        </p:spPr>
        <p:txBody>
          <a:bodyPr wrap="square" lIns="91419" tIns="45709" rIns="91419" bIns="45709">
            <a:spAutoFit/>
          </a:bodyPr>
          <a:lstStyle/>
          <a:p>
            <a:r>
              <a:rPr lang="zh-CN" altLang="en-US" sz="2400" b="1" dirty="0" smtClean="0">
                <a:solidFill>
                  <a:srgbClr val="C00000"/>
                </a:solidFill>
                <a:cs typeface="+mn-ea"/>
                <a:sym typeface="+mn-lt"/>
              </a:rPr>
              <a:t>重点</a:t>
            </a:r>
            <a:r>
              <a:rPr lang="zh-CN" altLang="en-US" sz="2400" b="1" dirty="0">
                <a:solidFill>
                  <a:srgbClr val="C00000"/>
                </a:solidFill>
                <a:cs typeface="+mn-ea"/>
                <a:sym typeface="+mn-lt"/>
              </a:rPr>
              <a:t>议题</a:t>
            </a:r>
          </a:p>
        </p:txBody>
      </p:sp>
      <p:sp>
        <p:nvSpPr>
          <p:cNvPr id="5" name="文本框 4"/>
          <p:cNvSpPr txBox="1"/>
          <p:nvPr/>
        </p:nvSpPr>
        <p:spPr>
          <a:xfrm>
            <a:off x="1199456" y="1124744"/>
            <a:ext cx="5150769" cy="1569660"/>
          </a:xfrm>
          <a:prstGeom prst="rect">
            <a:avLst/>
          </a:prstGeom>
          <a:noFill/>
        </p:spPr>
        <p:txBody>
          <a:bodyPr wrap="none" rtlCol="0">
            <a:spAutoFit/>
          </a:bodyPr>
          <a:lstStyle/>
          <a:p>
            <a:pPr marL="342900" indent="-342900">
              <a:lnSpc>
                <a:spcPct val="150000"/>
              </a:lnSpc>
              <a:buFontTx/>
              <a:buAutoNum type="arabicPeriod"/>
            </a:pPr>
            <a:r>
              <a:rPr lang="zh-CN" altLang="en-US" sz="1600" dirty="0" smtClean="0">
                <a:latin typeface="思源黑体" panose="020B0500000000000000" pitchFamily="34" charset="-122"/>
                <a:ea typeface="思源黑体" panose="020B0500000000000000" pitchFamily="34" charset="-122"/>
              </a:rPr>
              <a:t>数字</a:t>
            </a:r>
            <a:r>
              <a:rPr lang="zh-CN" altLang="en-US" sz="1600" dirty="0">
                <a:latin typeface="思源黑体" panose="020B0500000000000000" pitchFamily="34" charset="-122"/>
                <a:ea typeface="思源黑体" panose="020B0500000000000000" pitchFamily="34" charset="-122"/>
              </a:rPr>
              <a:t>决策中心（</a:t>
            </a:r>
            <a:r>
              <a:rPr lang="en-US" altLang="zh-CN" sz="1600" dirty="0">
                <a:latin typeface="思源黑体" panose="020B0500000000000000" pitchFamily="34" charset="-122"/>
                <a:ea typeface="思源黑体" panose="020B0500000000000000" pitchFamily="34" charset="-122"/>
              </a:rPr>
              <a:t>DMC</a:t>
            </a:r>
            <a:r>
              <a:rPr lang="zh-CN" altLang="en-US" sz="1600" dirty="0">
                <a:latin typeface="思源黑体" panose="020B0500000000000000" pitchFamily="34" charset="-122"/>
                <a:ea typeface="思源黑体" panose="020B0500000000000000" pitchFamily="34" charset="-122"/>
              </a:rPr>
              <a:t>）企划方案汇报 林玟睎 </a:t>
            </a:r>
            <a:r>
              <a:rPr lang="en-US" altLang="zh-CN" sz="1600" dirty="0" smtClean="0">
                <a:latin typeface="思源黑体" panose="020B0500000000000000" pitchFamily="34" charset="-122"/>
                <a:ea typeface="思源黑体" panose="020B0500000000000000" pitchFamily="34" charset="-122"/>
              </a:rPr>
              <a:t>15min</a:t>
            </a:r>
          </a:p>
          <a:p>
            <a:pPr marL="342900" indent="-342900">
              <a:lnSpc>
                <a:spcPct val="150000"/>
              </a:lnSpc>
              <a:buFontTx/>
              <a:buAutoNum type="arabicPeriod"/>
            </a:pPr>
            <a:r>
              <a:rPr lang="zh-CN" altLang="en-US" sz="1600" dirty="0" smtClean="0">
                <a:latin typeface="思源黑体" panose="020B0500000000000000" pitchFamily="34" charset="-122"/>
                <a:ea typeface="思源黑体" panose="020B0500000000000000" pitchFamily="34" charset="-122"/>
              </a:rPr>
              <a:t>主</a:t>
            </a:r>
            <a:r>
              <a:rPr lang="zh-CN" altLang="en-US" sz="1600" dirty="0">
                <a:latin typeface="思源黑体" panose="020B0500000000000000" pitchFamily="34" charset="-122"/>
                <a:ea typeface="思源黑体" panose="020B0500000000000000" pitchFamily="34" charset="-122"/>
              </a:rPr>
              <a:t>数据认责清单汇报 叶和平 </a:t>
            </a:r>
            <a:r>
              <a:rPr lang="en-US" altLang="zh-CN" sz="1600" dirty="0" smtClean="0">
                <a:latin typeface="思源黑体" panose="020B0500000000000000" pitchFamily="34" charset="-122"/>
                <a:ea typeface="思源黑体" panose="020B0500000000000000" pitchFamily="34" charset="-122"/>
              </a:rPr>
              <a:t>5min</a:t>
            </a:r>
          </a:p>
          <a:p>
            <a:pPr marL="342900" indent="-342900">
              <a:lnSpc>
                <a:spcPct val="150000"/>
              </a:lnSpc>
              <a:buFontTx/>
              <a:buAutoNum type="arabicPeriod"/>
            </a:pPr>
            <a:r>
              <a:rPr lang="en-US" altLang="zh-CN" sz="1600" dirty="0" smtClean="0">
                <a:latin typeface="思源黑体" panose="020B0500000000000000" pitchFamily="34" charset="-122"/>
                <a:ea typeface="思源黑体" panose="020B0500000000000000" pitchFamily="34" charset="-122"/>
              </a:rPr>
              <a:t>G22 </a:t>
            </a:r>
            <a:r>
              <a:rPr lang="en-US" altLang="zh-CN" sz="1600" dirty="0">
                <a:latin typeface="思源黑体" panose="020B0500000000000000" pitchFamily="34" charset="-122"/>
                <a:ea typeface="思源黑体" panose="020B0500000000000000" pitchFamily="34" charset="-122"/>
              </a:rPr>
              <a:t>XR</a:t>
            </a:r>
            <a:r>
              <a:rPr lang="zh-CN" altLang="en-US" sz="1600" dirty="0">
                <a:latin typeface="思源黑体" panose="020B0500000000000000" pitchFamily="34" charset="-122"/>
                <a:ea typeface="思源黑体" panose="020B0500000000000000" pitchFamily="34" charset="-122"/>
              </a:rPr>
              <a:t>平台实施内容调整建议 周琴 </a:t>
            </a:r>
            <a:r>
              <a:rPr lang="en-US" altLang="zh-CN" sz="1600" dirty="0" smtClean="0">
                <a:latin typeface="思源黑体" panose="020B0500000000000000" pitchFamily="34" charset="-122"/>
                <a:ea typeface="思源黑体" panose="020B0500000000000000" pitchFamily="34" charset="-122"/>
              </a:rPr>
              <a:t>15min</a:t>
            </a:r>
          </a:p>
          <a:p>
            <a:pPr marL="342900" indent="-342900">
              <a:lnSpc>
                <a:spcPct val="150000"/>
              </a:lnSpc>
              <a:buFontTx/>
              <a:buAutoNum type="arabicPeriod"/>
            </a:pPr>
            <a:r>
              <a:rPr lang="en-US" altLang="zh-CN" sz="1600" dirty="0" smtClean="0">
                <a:latin typeface="思源黑体" panose="020B0500000000000000" pitchFamily="34" charset="-122"/>
                <a:ea typeface="思源黑体" panose="020B0500000000000000" pitchFamily="34" charset="-122"/>
              </a:rPr>
              <a:t>A2</a:t>
            </a:r>
            <a:r>
              <a:rPr lang="zh-CN" altLang="en-US" sz="1600" dirty="0">
                <a:latin typeface="思源黑体" panose="020B0500000000000000" pitchFamily="34" charset="-122"/>
                <a:ea typeface="思源黑体" panose="020B0500000000000000" pitchFamily="34" charset="-122"/>
              </a:rPr>
              <a:t>项目蓝图方案汇报 梁炯 </a:t>
            </a:r>
            <a:r>
              <a:rPr lang="en-US" altLang="zh-CN" sz="1600" dirty="0">
                <a:latin typeface="思源黑体" panose="020B0500000000000000" pitchFamily="34" charset="-122"/>
                <a:ea typeface="思源黑体" panose="020B0500000000000000" pitchFamily="34" charset="-122"/>
              </a:rPr>
              <a:t>30min</a:t>
            </a:r>
            <a:endParaRPr lang="en-US" altLang="zh-CN" sz="1600" dirty="0" smtClean="0">
              <a:latin typeface="思源黑体" panose="020B0500000000000000" pitchFamily="34" charset="-122"/>
              <a:ea typeface="思源黑体" panose="020B0500000000000000" pitchFamily="34" charset="-122"/>
            </a:endParaRPr>
          </a:p>
        </p:txBody>
      </p:sp>
    </p:spTree>
    <p:extLst>
      <p:ext uri="{BB962C8B-B14F-4D97-AF65-F5344CB8AC3E}">
        <p14:creationId xmlns:p14="http://schemas.microsoft.com/office/powerpoint/2010/main" val="1188759199"/>
      </p:ext>
    </p:extLst>
  </p:cSld>
  <p:clrMapOvr>
    <a:masterClrMapping/>
  </p:clrMapOvr>
  <p:transition spd="med"/>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ICON" val="#178019;"/>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827e4de1-ec48-4bd2-81fd-17d779e9e9ba}"/>
  <p:tag name="TABLE_ENDDRAG_ORIGIN_RECT" val="892*461"/>
  <p:tag name="TABLE_ENDDRAG_RECT" val="24*71*892*460"/>
</p:tagLst>
</file>

<file path=ppt/theme/theme1.xml><?xml version="1.0" encoding="utf-8"?>
<a:theme xmlns:a="http://schemas.openxmlformats.org/drawingml/2006/main" name="10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3fjvwl4">
      <a:majorFont>
        <a:latin typeface="Times New Roman"/>
        <a:ea typeface="思源黑体"/>
        <a:cs typeface=""/>
      </a:majorFont>
      <a:minorFont>
        <a:latin typeface="Times New Roman"/>
        <a:ea typeface="思源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3fjvwl4">
      <a:majorFont>
        <a:latin typeface="Times New Roman"/>
        <a:ea typeface="思源黑体"/>
        <a:cs typeface=""/>
      </a:majorFont>
      <a:minorFont>
        <a:latin typeface="Times New Roman"/>
        <a:ea typeface="思源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2876</TotalTime>
  <Words>2278</Words>
  <Application>Microsoft Office PowerPoint</Application>
  <PresentationFormat>宽屏</PresentationFormat>
  <Paragraphs>426</Paragraphs>
  <Slides>14</Slides>
  <Notes>1</Notes>
  <HiddenSlides>6</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14</vt:i4>
      </vt:variant>
    </vt:vector>
  </HeadingPairs>
  <TitlesOfParts>
    <vt:vector size="22" baseType="lpstr">
      <vt:lpstr>思源黑体</vt:lpstr>
      <vt:lpstr>宋体</vt:lpstr>
      <vt:lpstr>微软雅黑</vt:lpstr>
      <vt:lpstr>Arial</vt:lpstr>
      <vt:lpstr>Calibri</vt:lpstr>
      <vt:lpstr>Times New Roman</vt:lpstr>
      <vt:lpstr>10_Office 主题</vt:lpstr>
      <vt:lpstr>11_Office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李杭辉</dc:creator>
  <cp:lastModifiedBy>和晓兰</cp:lastModifiedBy>
  <cp:revision>333</cp:revision>
  <dcterms:created xsi:type="dcterms:W3CDTF">2017-09-20T06:56:30Z</dcterms:created>
  <dcterms:modified xsi:type="dcterms:W3CDTF">2022-11-18T02:12:15Z</dcterms:modified>
</cp:coreProperties>
</file>