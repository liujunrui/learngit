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5" r:id="rId2"/>
    <p:sldMasterId id="2147483658" r:id="rId3"/>
    <p:sldMasterId id="2147483661" r:id="rId4"/>
    <p:sldMasterId id="2147483664" r:id="rId5"/>
  </p:sldMasterIdLst>
  <p:notesMasterIdLst>
    <p:notesMasterId r:id="rId32"/>
  </p:notesMasterIdLst>
  <p:sldIdLst>
    <p:sldId id="301" r:id="rId6"/>
    <p:sldId id="374" r:id="rId7"/>
    <p:sldId id="304" r:id="rId8"/>
    <p:sldId id="395" r:id="rId9"/>
    <p:sldId id="400" r:id="rId10"/>
    <p:sldId id="401" r:id="rId11"/>
    <p:sldId id="405" r:id="rId12"/>
    <p:sldId id="407" r:id="rId13"/>
    <p:sldId id="310" r:id="rId14"/>
    <p:sldId id="311" r:id="rId15"/>
    <p:sldId id="418" r:id="rId16"/>
    <p:sldId id="414" r:id="rId17"/>
    <p:sldId id="417" r:id="rId18"/>
    <p:sldId id="419" r:id="rId19"/>
    <p:sldId id="416" r:id="rId20"/>
    <p:sldId id="424" r:id="rId21"/>
    <p:sldId id="316" r:id="rId22"/>
    <p:sldId id="317" r:id="rId23"/>
    <p:sldId id="319" r:id="rId24"/>
    <p:sldId id="318" r:id="rId25"/>
    <p:sldId id="423" r:id="rId26"/>
    <p:sldId id="324" r:id="rId27"/>
    <p:sldId id="325" r:id="rId28"/>
    <p:sldId id="393" r:id="rId29"/>
    <p:sldId id="328" r:id="rId30"/>
    <p:sldId id="347" r:id="rId31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9">
          <p15:clr>
            <a:srgbClr val="A4A3A4"/>
          </p15:clr>
        </p15:guide>
        <p15:guide id="2" pos="39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366"/>
    <a:srgbClr val="A5DAFF"/>
    <a:srgbClr val="00B7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32" y="164"/>
      </p:cViewPr>
      <p:guideLst>
        <p:guide orient="horz" pos="2129"/>
        <p:guide pos="39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067185-6204-4C07-98B0-634F238BB6D6}" type="datetimeFigureOut">
              <a:rPr lang="zh-CN" altLang="en-US" smtClean="0"/>
              <a:t>2025-2-27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31F712-4547-4DE3-A993-20640CD830E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2020</a:t>
            </a:r>
            <a:r>
              <a:rPr lang="zh-CN" altLang="en-US" dirty="0"/>
              <a:t>年 搭建了基础数据体系 </a:t>
            </a:r>
            <a:r>
              <a:rPr lang="en-US" altLang="zh-CN" dirty="0"/>
              <a:t>2021</a:t>
            </a:r>
            <a:r>
              <a:rPr lang="zh-CN" altLang="en-US" dirty="0"/>
              <a:t>年</a:t>
            </a:r>
            <a:r>
              <a:rPr lang="en-US" altLang="zh-CN" baseline="0" dirty="0"/>
              <a:t> </a:t>
            </a:r>
            <a:r>
              <a:rPr lang="zh-CN" altLang="en-US" baseline="0" dirty="0"/>
              <a:t>扩充了监测站点 </a:t>
            </a:r>
            <a:r>
              <a:rPr lang="zh-CN" altLang="en-US" dirty="0"/>
              <a:t>完善了舆情监测分析场景；</a:t>
            </a:r>
            <a:r>
              <a:rPr lang="en-US" altLang="zh-CN" dirty="0"/>
              <a:t>2022</a:t>
            </a:r>
            <a:r>
              <a:rPr lang="zh-CN" altLang="en-US" dirty="0"/>
              <a:t>年在对站点进行增补的的同时重点扩展了数据应用场景，服务于更多业务部门；</a:t>
            </a:r>
            <a:r>
              <a:rPr lang="en-US" altLang="zh-CN" dirty="0"/>
              <a:t>2023</a:t>
            </a:r>
            <a:r>
              <a:rPr lang="zh-CN" altLang="en-US" dirty="0"/>
              <a:t>年深化应用到更多业务场景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1F712-4547-4DE3-A993-20640CD830E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8979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2020</a:t>
            </a:r>
            <a:r>
              <a:rPr lang="zh-CN" altLang="en-US" dirty="0"/>
              <a:t>年 搭建了基础数据体系 </a:t>
            </a:r>
            <a:r>
              <a:rPr lang="en-US" altLang="zh-CN" dirty="0"/>
              <a:t>2021</a:t>
            </a:r>
            <a:r>
              <a:rPr lang="zh-CN" altLang="en-US" dirty="0"/>
              <a:t>年</a:t>
            </a:r>
            <a:r>
              <a:rPr lang="en-US" altLang="zh-CN" baseline="0" dirty="0"/>
              <a:t> </a:t>
            </a:r>
            <a:r>
              <a:rPr lang="zh-CN" altLang="en-US" baseline="0" dirty="0"/>
              <a:t>扩充了监测站点 </a:t>
            </a:r>
            <a:r>
              <a:rPr lang="zh-CN" altLang="en-US" dirty="0"/>
              <a:t>完善了舆情监测分析场景；</a:t>
            </a:r>
            <a:r>
              <a:rPr lang="en-US" altLang="zh-CN" dirty="0"/>
              <a:t>2022</a:t>
            </a:r>
            <a:r>
              <a:rPr lang="zh-CN" altLang="en-US" dirty="0"/>
              <a:t>年在对站点进行增补的的同时重点扩展了数据应用场景，服务于更多业务部门；</a:t>
            </a:r>
            <a:r>
              <a:rPr lang="en-US" altLang="zh-CN" dirty="0"/>
              <a:t>2023</a:t>
            </a:r>
            <a:r>
              <a:rPr lang="zh-CN" altLang="en-US" dirty="0"/>
              <a:t>年深化应用到更多业务场景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1F712-4547-4DE3-A993-20640CD830E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61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2020</a:t>
            </a:r>
            <a:r>
              <a:rPr lang="zh-CN" altLang="en-US" dirty="0"/>
              <a:t>年 搭建了基础数据体系 </a:t>
            </a:r>
            <a:r>
              <a:rPr lang="en-US" altLang="zh-CN" dirty="0"/>
              <a:t>2021</a:t>
            </a:r>
            <a:r>
              <a:rPr lang="zh-CN" altLang="en-US" dirty="0"/>
              <a:t>年</a:t>
            </a:r>
            <a:r>
              <a:rPr lang="en-US" altLang="zh-CN" baseline="0" dirty="0"/>
              <a:t> </a:t>
            </a:r>
            <a:r>
              <a:rPr lang="zh-CN" altLang="en-US" baseline="0" dirty="0"/>
              <a:t>扩充了监测站点 </a:t>
            </a:r>
            <a:r>
              <a:rPr lang="zh-CN" altLang="en-US" dirty="0"/>
              <a:t>完善了舆情监测分析场景；</a:t>
            </a:r>
            <a:r>
              <a:rPr lang="en-US" altLang="zh-CN" dirty="0"/>
              <a:t>2022</a:t>
            </a:r>
            <a:r>
              <a:rPr lang="zh-CN" altLang="en-US" dirty="0"/>
              <a:t>年在对站点进行增补的的同时重点扩展了数据应用场景，服务于更多业务部门；</a:t>
            </a:r>
            <a:r>
              <a:rPr lang="en-US" altLang="zh-CN" dirty="0"/>
              <a:t>2023</a:t>
            </a:r>
            <a:r>
              <a:rPr lang="zh-CN" altLang="en-US" dirty="0"/>
              <a:t>年深化应用到更多业务场景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331F712-4547-4DE3-A993-20640CD830E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5285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用户的核心需求 是希望通过舆情系统系统维护品牌声誉、提高营销效益、提升产品竞争力以及实现数据开放共享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331F712-4547-4DE3-A993-20640CD830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52267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舆情系统基于用户四大方面的需求，构建了整体蓝图，主要分为平台建设和数据建设，平台建设主要围绕舆情监控预防、品牌传播效果评估、产品网络口碑反馈三大方面，整体划分为三个阶段、第一阶段主要是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</a:rPr>
              <a:t>夯实数字基建 、第二阶段是深化业务应用、第三阶段进入稳定运维。在数据方面需持续的对监测站点进行更新优化、提升算法准确度，同时需维持数据的持续供应保障。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331F712-4547-4DE3-A993-20640CD830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2248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舆情系统基于用户四大方面的需求，构建了整体蓝图，主要分为平台建设和数据建设，平台建设主要围绕舆情监控预防、品牌传播效果评估、产品网络口碑反馈三大方面，整体划分为三个阶段、第一阶段主要是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</a:rPr>
              <a:t>夯实数字基建 、第二阶段是深化业务应用、第三阶段进入稳定运维。在数据方面需持续的对监测站点进行更新优化、提升算法准确度，同时需维持数据的持续供应保障。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331F712-4547-4DE3-A993-20640CD830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5661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舆情系统基于用户四大方面的需求，构建了整体蓝图，主要分为平台建设和数据建设，平台建设主要围绕舆情监控预防、品牌传播效果评估、产品网络口碑反馈三大方面，整体划分为三个阶段、第一阶段主要是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</a:rPr>
              <a:t>夯实数字基建 、第二阶段是深化业务应用、第三阶段进入稳定运维。在数据方面需持续的对监测站点进行更新优化、提升算法准确度，同时需维持数据的持续供应保障。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331F712-4547-4DE3-A993-20640CD830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0761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舆情系统基于用户四大方面的需求，构建了整体蓝图，主要分为平台建设和数据建设，平台建设主要围绕舆情监控预防、品牌传播效果评估、产品网络口碑反馈三大方面，整体划分为三个阶段、第一阶段主要是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</a:rPr>
              <a:t>夯实数字基建 、第二阶段是深化业务应用、第三阶段进入稳定运维。在数据方面需持续的对监测站点进行更新优化、提升算法准确度，同时需维持数据的持续供应保障。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331F712-4547-4DE3-A993-20640CD830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3026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舆情系统基于用户四大方面的需求，构建了整体蓝图，主要分为平台建设和数据建设，平台建设主要围绕舆情监控预防、品牌传播效果评估、产品网络口碑反馈三大方面，整体划分为三个阶段、第一阶段主要是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</a:rPr>
              <a:t>夯实数字基建 、第二阶段是深化业务应用、第三阶段进入稳定运维。在数据方面需持续的对监测站点进行更新优化、提升算法准确度，同时需维持数据的持续供应保障。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331F712-4547-4DE3-A993-20640CD830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1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舆情系统基于用户四大方面的需求，构建了整体蓝图，主要分为平台建设和数据建设，平台建设主要围绕舆情监控预防、品牌传播效果评估、产品网络口碑反馈三大方面，整体划分为三个阶段、第一阶段主要是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微软雅黑" panose="020B0503020204020204" pitchFamily="34" charset="-122"/>
              </a:rPr>
              <a:t>夯实数字基建 、第二阶段是深化业务应用、第三阶段进入稳定运维。在数据方面需持续的对监测站点进行更新优化、提升算法准确度，同时需维持数据的持续供应保障。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331F712-4547-4DE3-A993-20640CD830EE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t>16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53718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1F712-4547-4DE3-A993-20640CD830EE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1F712-4547-4DE3-A993-20640CD830EE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1F712-4547-4DE3-A993-20640CD830EE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5070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1F712-4547-4DE3-A993-20640CD830EE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31F712-4547-4DE3-A993-20640CD830EE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38149" y="1122363"/>
            <a:ext cx="11299433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38149" y="4692271"/>
            <a:ext cx="11299433" cy="790261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180952"/>
            <a:ext cx="2540000" cy="38841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38149" y="863806"/>
            <a:ext cx="11299433" cy="4462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438149" y="1310083"/>
            <a:ext cx="11299433" cy="4866880"/>
          </a:xfrm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151" y="797097"/>
            <a:ext cx="11299432" cy="35394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38149" y="1151042"/>
            <a:ext cx="11299432" cy="502592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FD3734-173A-914B-9656-BAC9F60F6D4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4" name="内容占位符 6"/>
          <p:cNvSpPr>
            <a:spLocks noGrp="1"/>
          </p:cNvSpPr>
          <p:nvPr>
            <p:ph sz="quarter" idx="11" hasCustomPrompt="1"/>
          </p:nvPr>
        </p:nvSpPr>
        <p:spPr>
          <a:xfrm>
            <a:off x="424089" y="113623"/>
            <a:ext cx="6907439" cy="637494"/>
          </a:xfrm>
          <a:noFill/>
        </p:spPr>
        <p:txBody>
          <a:bodyPr vert="horz" lIns="0" tIns="0" rIns="0" bIns="0" rtlCol="0" anchor="ctr">
            <a:normAutofit/>
          </a:bodyPr>
          <a:lstStyle>
            <a:lvl1pPr>
              <a:lnSpc>
                <a:spcPct val="100000"/>
              </a:lnSpc>
              <a:defRPr lang="zh-CN" altLang="en-US" sz="2400" dirty="0" smtClean="0">
                <a:cs typeface="+mn-ea"/>
              </a:defRPr>
            </a:lvl1pPr>
          </a:lstStyle>
          <a:p>
            <a:pPr lvl="0">
              <a:lnSpc>
                <a:spcPct val="90000"/>
              </a:lnSpc>
              <a:spcBef>
                <a:spcPct val="0"/>
              </a:spcBef>
            </a:pPr>
            <a:r>
              <a:rPr lang="zh-CN" altLang="en-US" dirty="0"/>
              <a:t>编辑母版文本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38149" y="1122363"/>
            <a:ext cx="11299433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38149" y="4692271"/>
            <a:ext cx="11299433" cy="790261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38149" y="1122363"/>
            <a:ext cx="11299433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38149" y="4692271"/>
            <a:ext cx="11299433" cy="790261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438149" y="863806"/>
            <a:ext cx="11299433" cy="4462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/>
          </p:nvPr>
        </p:nvSpPr>
        <p:spPr>
          <a:xfrm>
            <a:off x="438149" y="1310083"/>
            <a:ext cx="11299433" cy="4866880"/>
          </a:xfrm>
        </p:spPr>
        <p:txBody>
          <a:bodyPr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151" y="797097"/>
            <a:ext cx="11299432" cy="35394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38149" y="1151042"/>
            <a:ext cx="11299432" cy="502592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151" y="797097"/>
            <a:ext cx="11299432" cy="35394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38149" y="1151042"/>
            <a:ext cx="11299432" cy="502592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272269"/>
            <a:ext cx="2628519" cy="273600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 userDrawn="1"/>
        </p:nvSpPr>
        <p:spPr>
          <a:xfrm>
            <a:off x="12466147" y="1211576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框 3"/>
          <p:cNvSpPr txBox="1"/>
          <p:nvPr userDrawn="1"/>
        </p:nvSpPr>
        <p:spPr>
          <a:xfrm>
            <a:off x="12466147" y="1003826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accent4"/>
                </a:solidFill>
              </a:rPr>
              <a:t>广汽红</a:t>
            </a:r>
          </a:p>
        </p:txBody>
      </p:sp>
      <p:sp>
        <p:nvSpPr>
          <p:cNvPr id="12" name="矩形 11"/>
          <p:cNvSpPr>
            <a:spLocks noChangeAspect="1"/>
          </p:cNvSpPr>
          <p:nvPr userDrawn="1"/>
        </p:nvSpPr>
        <p:spPr>
          <a:xfrm>
            <a:off x="12466147" y="2964455"/>
            <a:ext cx="576000" cy="3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2466147" y="2756705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accent4"/>
                </a:solidFill>
              </a:rPr>
              <a:t>渐变辅助色</a:t>
            </a:r>
          </a:p>
        </p:txBody>
      </p:sp>
      <p:sp>
        <p:nvSpPr>
          <p:cNvPr id="14" name="矩形 13"/>
          <p:cNvSpPr>
            <a:spLocks noChangeAspect="1"/>
          </p:cNvSpPr>
          <p:nvPr userDrawn="1"/>
        </p:nvSpPr>
        <p:spPr>
          <a:xfrm>
            <a:off x="12466147" y="3302782"/>
            <a:ext cx="576000" cy="32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>
            <a:spLocks noChangeAspect="1"/>
          </p:cNvSpPr>
          <p:nvPr userDrawn="1"/>
        </p:nvSpPr>
        <p:spPr>
          <a:xfrm>
            <a:off x="12466147" y="3641109"/>
            <a:ext cx="576000" cy="32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/>
          <p:cNvSpPr>
            <a:spLocks noChangeAspect="1"/>
          </p:cNvSpPr>
          <p:nvPr userDrawn="1"/>
        </p:nvSpPr>
        <p:spPr>
          <a:xfrm>
            <a:off x="12466147" y="3979436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>
            <a:spLocks noChangeAspect="1"/>
          </p:cNvSpPr>
          <p:nvPr userDrawn="1"/>
        </p:nvSpPr>
        <p:spPr>
          <a:xfrm>
            <a:off x="12466147" y="4317763"/>
            <a:ext cx="576000" cy="32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/>
          <p:cNvSpPr>
            <a:spLocks noChangeAspect="1"/>
          </p:cNvSpPr>
          <p:nvPr userDrawn="1"/>
        </p:nvSpPr>
        <p:spPr>
          <a:xfrm>
            <a:off x="12466147" y="4656092"/>
            <a:ext cx="576000" cy="32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>
            <a:spLocks noChangeAspect="1"/>
          </p:cNvSpPr>
          <p:nvPr userDrawn="1"/>
        </p:nvSpPr>
        <p:spPr>
          <a:xfrm>
            <a:off x="12466147" y="5191848"/>
            <a:ext cx="576000" cy="324000"/>
          </a:xfrm>
          <a:prstGeom prst="rect">
            <a:avLst/>
          </a:prstGeom>
          <a:solidFill>
            <a:srgbClr val="00B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/>
          <p:cNvSpPr txBox="1"/>
          <p:nvPr userDrawn="1"/>
        </p:nvSpPr>
        <p:spPr>
          <a:xfrm>
            <a:off x="12466147" y="4984098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rgbClr val="00B7BD"/>
                </a:solidFill>
              </a:rPr>
              <a:t>辅助蓝色</a:t>
            </a:r>
          </a:p>
        </p:txBody>
      </p:sp>
      <p:sp>
        <p:nvSpPr>
          <p:cNvPr id="21" name="矩形 20"/>
          <p:cNvSpPr>
            <a:spLocks noChangeAspect="1"/>
          </p:cNvSpPr>
          <p:nvPr userDrawn="1"/>
        </p:nvSpPr>
        <p:spPr>
          <a:xfrm>
            <a:off x="12466147" y="5530175"/>
            <a:ext cx="576000" cy="324000"/>
          </a:xfrm>
          <a:prstGeom prst="rect">
            <a:avLst/>
          </a:prstGeom>
          <a:solidFill>
            <a:srgbClr val="006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>
            <a:spLocks noChangeAspect="1"/>
          </p:cNvSpPr>
          <p:nvPr userDrawn="1"/>
        </p:nvSpPr>
        <p:spPr>
          <a:xfrm>
            <a:off x="12466147" y="1751772"/>
            <a:ext cx="576000" cy="32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/>
          <p:cNvSpPr txBox="1"/>
          <p:nvPr userDrawn="1"/>
        </p:nvSpPr>
        <p:spPr>
          <a:xfrm>
            <a:off x="12466147" y="1544022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tx1"/>
                </a:solidFill>
              </a:rPr>
              <a:t>辅助色</a:t>
            </a:r>
          </a:p>
        </p:txBody>
      </p:sp>
      <p:sp>
        <p:nvSpPr>
          <p:cNvPr id="24" name="矩形 23"/>
          <p:cNvSpPr>
            <a:spLocks noChangeAspect="1"/>
          </p:cNvSpPr>
          <p:nvPr userDrawn="1"/>
        </p:nvSpPr>
        <p:spPr>
          <a:xfrm>
            <a:off x="12466147" y="2090099"/>
            <a:ext cx="576000" cy="32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/>
          <p:cNvSpPr>
            <a:spLocks noChangeAspect="1"/>
          </p:cNvSpPr>
          <p:nvPr userDrawn="1"/>
        </p:nvSpPr>
        <p:spPr>
          <a:xfrm>
            <a:off x="12466147" y="2428426"/>
            <a:ext cx="576000" cy="32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7" name="图片 26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865" y="6407966"/>
            <a:ext cx="2481131" cy="252000"/>
          </a:xfrm>
          <a:prstGeom prst="rect">
            <a:avLst/>
          </a:prstGeom>
        </p:spPr>
      </p:pic>
      <p:sp>
        <p:nvSpPr>
          <p:cNvPr id="26" name="灯片编号占位符 4"/>
          <p:cNvSpPr txBox="1"/>
          <p:nvPr userDrawn="1"/>
        </p:nvSpPr>
        <p:spPr>
          <a:xfrm>
            <a:off x="11695538" y="6431365"/>
            <a:ext cx="465289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59E091-536F-4D1A-B3B4-943D520EBB81}" type="slidenum">
              <a:rPr lang="zh-CN" altLang="en-US" sz="1200" b="1" smtClean="0"/>
              <a:t>‹#›</a:t>
            </a:fld>
            <a:endParaRPr lang="zh-CN" altLang="en-US" sz="12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272269"/>
            <a:ext cx="2628000" cy="273546"/>
          </a:xfrm>
          <a:prstGeom prst="rect">
            <a:avLst/>
          </a:prstGeom>
        </p:spPr>
      </p:pic>
      <p:sp>
        <p:nvSpPr>
          <p:cNvPr id="46" name="矩形 45"/>
          <p:cNvSpPr>
            <a:spLocks noChangeAspect="1"/>
          </p:cNvSpPr>
          <p:nvPr userDrawn="1"/>
        </p:nvSpPr>
        <p:spPr>
          <a:xfrm>
            <a:off x="12466147" y="1211576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文本框 46"/>
          <p:cNvSpPr txBox="1"/>
          <p:nvPr userDrawn="1"/>
        </p:nvSpPr>
        <p:spPr>
          <a:xfrm>
            <a:off x="12466147" y="1003826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accent4"/>
                </a:solidFill>
              </a:rPr>
              <a:t>广汽红</a:t>
            </a:r>
          </a:p>
        </p:txBody>
      </p:sp>
      <p:sp>
        <p:nvSpPr>
          <p:cNvPr id="48" name="矩形 47"/>
          <p:cNvSpPr>
            <a:spLocks noChangeAspect="1"/>
          </p:cNvSpPr>
          <p:nvPr userDrawn="1"/>
        </p:nvSpPr>
        <p:spPr>
          <a:xfrm>
            <a:off x="12466147" y="2964455"/>
            <a:ext cx="576000" cy="3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文本框 48"/>
          <p:cNvSpPr txBox="1"/>
          <p:nvPr userDrawn="1"/>
        </p:nvSpPr>
        <p:spPr>
          <a:xfrm>
            <a:off x="12466147" y="2756705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accent4"/>
                </a:solidFill>
              </a:rPr>
              <a:t>渐变辅助色</a:t>
            </a:r>
          </a:p>
        </p:txBody>
      </p:sp>
      <p:sp>
        <p:nvSpPr>
          <p:cNvPr id="50" name="矩形 49"/>
          <p:cNvSpPr>
            <a:spLocks noChangeAspect="1"/>
          </p:cNvSpPr>
          <p:nvPr userDrawn="1"/>
        </p:nvSpPr>
        <p:spPr>
          <a:xfrm>
            <a:off x="12466147" y="3302782"/>
            <a:ext cx="576000" cy="32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矩形 50"/>
          <p:cNvSpPr>
            <a:spLocks noChangeAspect="1"/>
          </p:cNvSpPr>
          <p:nvPr userDrawn="1"/>
        </p:nvSpPr>
        <p:spPr>
          <a:xfrm>
            <a:off x="12466147" y="3641109"/>
            <a:ext cx="576000" cy="32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/>
          <p:cNvSpPr>
            <a:spLocks noChangeAspect="1"/>
          </p:cNvSpPr>
          <p:nvPr userDrawn="1"/>
        </p:nvSpPr>
        <p:spPr>
          <a:xfrm>
            <a:off x="12466147" y="3979436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>
            <a:spLocks noChangeAspect="1"/>
          </p:cNvSpPr>
          <p:nvPr userDrawn="1"/>
        </p:nvSpPr>
        <p:spPr>
          <a:xfrm>
            <a:off x="12466147" y="4317763"/>
            <a:ext cx="576000" cy="32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/>
          <p:cNvSpPr>
            <a:spLocks noChangeAspect="1"/>
          </p:cNvSpPr>
          <p:nvPr userDrawn="1"/>
        </p:nvSpPr>
        <p:spPr>
          <a:xfrm>
            <a:off x="12466147" y="4656092"/>
            <a:ext cx="576000" cy="32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矩形 54"/>
          <p:cNvSpPr>
            <a:spLocks noChangeAspect="1"/>
          </p:cNvSpPr>
          <p:nvPr userDrawn="1"/>
        </p:nvSpPr>
        <p:spPr>
          <a:xfrm>
            <a:off x="12466147" y="5191848"/>
            <a:ext cx="576000" cy="324000"/>
          </a:xfrm>
          <a:prstGeom prst="rect">
            <a:avLst/>
          </a:prstGeom>
          <a:solidFill>
            <a:srgbClr val="00B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文本框 55"/>
          <p:cNvSpPr txBox="1"/>
          <p:nvPr userDrawn="1"/>
        </p:nvSpPr>
        <p:spPr>
          <a:xfrm>
            <a:off x="12466147" y="4984098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rgbClr val="00B7BD"/>
                </a:solidFill>
              </a:rPr>
              <a:t>辅助蓝色</a:t>
            </a:r>
          </a:p>
        </p:txBody>
      </p:sp>
      <p:sp>
        <p:nvSpPr>
          <p:cNvPr id="57" name="矩形 56"/>
          <p:cNvSpPr>
            <a:spLocks noChangeAspect="1"/>
          </p:cNvSpPr>
          <p:nvPr userDrawn="1"/>
        </p:nvSpPr>
        <p:spPr>
          <a:xfrm>
            <a:off x="12466147" y="5530175"/>
            <a:ext cx="576000" cy="324000"/>
          </a:xfrm>
          <a:prstGeom prst="rect">
            <a:avLst/>
          </a:prstGeom>
          <a:solidFill>
            <a:srgbClr val="006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矩形 57"/>
          <p:cNvSpPr>
            <a:spLocks noChangeAspect="1"/>
          </p:cNvSpPr>
          <p:nvPr userDrawn="1"/>
        </p:nvSpPr>
        <p:spPr>
          <a:xfrm>
            <a:off x="12466147" y="1751772"/>
            <a:ext cx="576000" cy="32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文本框 58"/>
          <p:cNvSpPr txBox="1"/>
          <p:nvPr userDrawn="1"/>
        </p:nvSpPr>
        <p:spPr>
          <a:xfrm>
            <a:off x="12466147" y="1544022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tx1"/>
                </a:solidFill>
              </a:rPr>
              <a:t>辅助色</a:t>
            </a:r>
          </a:p>
        </p:txBody>
      </p:sp>
      <p:sp>
        <p:nvSpPr>
          <p:cNvPr id="60" name="矩形 59"/>
          <p:cNvSpPr>
            <a:spLocks noChangeAspect="1"/>
          </p:cNvSpPr>
          <p:nvPr userDrawn="1"/>
        </p:nvSpPr>
        <p:spPr>
          <a:xfrm>
            <a:off x="12466147" y="2090099"/>
            <a:ext cx="576000" cy="32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矩形 60"/>
          <p:cNvSpPr>
            <a:spLocks noChangeAspect="1"/>
          </p:cNvSpPr>
          <p:nvPr userDrawn="1"/>
        </p:nvSpPr>
        <p:spPr>
          <a:xfrm>
            <a:off x="12466147" y="2428426"/>
            <a:ext cx="576000" cy="32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040" y="6407984"/>
            <a:ext cx="2516400" cy="25558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4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" y="272269"/>
            <a:ext cx="2628000" cy="273546"/>
          </a:xfrm>
          <a:prstGeom prst="rect">
            <a:avLst/>
          </a:prstGeom>
        </p:spPr>
      </p:pic>
      <p:sp>
        <p:nvSpPr>
          <p:cNvPr id="26" name="矩形 25"/>
          <p:cNvSpPr>
            <a:spLocks noChangeAspect="1"/>
          </p:cNvSpPr>
          <p:nvPr userDrawn="1"/>
        </p:nvSpPr>
        <p:spPr>
          <a:xfrm>
            <a:off x="12466147" y="1211576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/>
          <p:cNvSpPr txBox="1"/>
          <p:nvPr userDrawn="1"/>
        </p:nvSpPr>
        <p:spPr>
          <a:xfrm>
            <a:off x="12466147" y="1003826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accent4"/>
                </a:solidFill>
              </a:rPr>
              <a:t>广汽红</a:t>
            </a:r>
          </a:p>
        </p:txBody>
      </p:sp>
      <p:sp>
        <p:nvSpPr>
          <p:cNvPr id="28" name="矩形 27"/>
          <p:cNvSpPr>
            <a:spLocks noChangeAspect="1"/>
          </p:cNvSpPr>
          <p:nvPr userDrawn="1"/>
        </p:nvSpPr>
        <p:spPr>
          <a:xfrm>
            <a:off x="12466147" y="2964455"/>
            <a:ext cx="576000" cy="3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8"/>
          <p:cNvSpPr txBox="1"/>
          <p:nvPr userDrawn="1"/>
        </p:nvSpPr>
        <p:spPr>
          <a:xfrm>
            <a:off x="12466147" y="2756705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accent4"/>
                </a:solidFill>
              </a:rPr>
              <a:t>渐变辅助色</a:t>
            </a:r>
          </a:p>
        </p:txBody>
      </p:sp>
      <p:sp>
        <p:nvSpPr>
          <p:cNvPr id="30" name="矩形 29"/>
          <p:cNvSpPr>
            <a:spLocks noChangeAspect="1"/>
          </p:cNvSpPr>
          <p:nvPr userDrawn="1"/>
        </p:nvSpPr>
        <p:spPr>
          <a:xfrm>
            <a:off x="12466147" y="3302782"/>
            <a:ext cx="576000" cy="32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/>
          <p:cNvSpPr>
            <a:spLocks noChangeAspect="1"/>
          </p:cNvSpPr>
          <p:nvPr userDrawn="1"/>
        </p:nvSpPr>
        <p:spPr>
          <a:xfrm>
            <a:off x="12466147" y="3641109"/>
            <a:ext cx="576000" cy="32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/>
          <p:cNvSpPr>
            <a:spLocks noChangeAspect="1"/>
          </p:cNvSpPr>
          <p:nvPr userDrawn="1"/>
        </p:nvSpPr>
        <p:spPr>
          <a:xfrm>
            <a:off x="12466147" y="3979436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/>
          <p:cNvSpPr>
            <a:spLocks noChangeAspect="1"/>
          </p:cNvSpPr>
          <p:nvPr userDrawn="1"/>
        </p:nvSpPr>
        <p:spPr>
          <a:xfrm>
            <a:off x="12466147" y="4317763"/>
            <a:ext cx="576000" cy="32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/>
          <p:cNvSpPr>
            <a:spLocks noChangeAspect="1"/>
          </p:cNvSpPr>
          <p:nvPr userDrawn="1"/>
        </p:nvSpPr>
        <p:spPr>
          <a:xfrm>
            <a:off x="12466147" y="4656092"/>
            <a:ext cx="576000" cy="32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矩形 34"/>
          <p:cNvSpPr>
            <a:spLocks noChangeAspect="1"/>
          </p:cNvSpPr>
          <p:nvPr userDrawn="1"/>
        </p:nvSpPr>
        <p:spPr>
          <a:xfrm>
            <a:off x="12466147" y="5191848"/>
            <a:ext cx="576000" cy="324000"/>
          </a:xfrm>
          <a:prstGeom prst="rect">
            <a:avLst/>
          </a:prstGeom>
          <a:solidFill>
            <a:srgbClr val="00B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文本框 35"/>
          <p:cNvSpPr txBox="1"/>
          <p:nvPr userDrawn="1"/>
        </p:nvSpPr>
        <p:spPr>
          <a:xfrm>
            <a:off x="12466147" y="4984098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rgbClr val="00B7BD"/>
                </a:solidFill>
              </a:rPr>
              <a:t>辅助蓝色</a:t>
            </a:r>
          </a:p>
        </p:txBody>
      </p:sp>
      <p:sp>
        <p:nvSpPr>
          <p:cNvPr id="37" name="矩形 36"/>
          <p:cNvSpPr>
            <a:spLocks noChangeAspect="1"/>
          </p:cNvSpPr>
          <p:nvPr userDrawn="1"/>
        </p:nvSpPr>
        <p:spPr>
          <a:xfrm>
            <a:off x="12466147" y="5530175"/>
            <a:ext cx="576000" cy="324000"/>
          </a:xfrm>
          <a:prstGeom prst="rect">
            <a:avLst/>
          </a:prstGeom>
          <a:solidFill>
            <a:srgbClr val="006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矩形 37"/>
          <p:cNvSpPr>
            <a:spLocks noChangeAspect="1"/>
          </p:cNvSpPr>
          <p:nvPr userDrawn="1"/>
        </p:nvSpPr>
        <p:spPr>
          <a:xfrm>
            <a:off x="12466147" y="1751772"/>
            <a:ext cx="576000" cy="32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文本框 38"/>
          <p:cNvSpPr txBox="1"/>
          <p:nvPr userDrawn="1"/>
        </p:nvSpPr>
        <p:spPr>
          <a:xfrm>
            <a:off x="12466147" y="1544022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tx1"/>
                </a:solidFill>
              </a:rPr>
              <a:t>辅助色</a:t>
            </a:r>
          </a:p>
        </p:txBody>
      </p:sp>
      <p:sp>
        <p:nvSpPr>
          <p:cNvPr id="40" name="矩形 39"/>
          <p:cNvSpPr>
            <a:spLocks noChangeAspect="1"/>
          </p:cNvSpPr>
          <p:nvPr userDrawn="1"/>
        </p:nvSpPr>
        <p:spPr>
          <a:xfrm>
            <a:off x="12466147" y="2090099"/>
            <a:ext cx="576000" cy="32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矩形 40"/>
          <p:cNvSpPr>
            <a:spLocks noChangeAspect="1"/>
          </p:cNvSpPr>
          <p:nvPr userDrawn="1"/>
        </p:nvSpPr>
        <p:spPr>
          <a:xfrm>
            <a:off x="12466147" y="2428426"/>
            <a:ext cx="576000" cy="32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596" y="6404384"/>
            <a:ext cx="2516400" cy="25558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38149" y="863805"/>
            <a:ext cx="11299433" cy="58596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38149" y="1449770"/>
            <a:ext cx="11299433" cy="47271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5477" y="272269"/>
            <a:ext cx="2628519" cy="2736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865" y="6407966"/>
            <a:ext cx="2481131" cy="252000"/>
          </a:xfrm>
          <a:prstGeom prst="rect">
            <a:avLst/>
          </a:prstGeom>
        </p:spPr>
      </p:pic>
      <p:sp>
        <p:nvSpPr>
          <p:cNvPr id="45" name="矩形 44"/>
          <p:cNvSpPr>
            <a:spLocks noChangeAspect="1"/>
          </p:cNvSpPr>
          <p:nvPr userDrawn="1"/>
        </p:nvSpPr>
        <p:spPr>
          <a:xfrm>
            <a:off x="12466147" y="1211576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/>
          <p:cNvSpPr txBox="1"/>
          <p:nvPr userDrawn="1"/>
        </p:nvSpPr>
        <p:spPr>
          <a:xfrm>
            <a:off x="12466147" y="1003826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accent4"/>
                </a:solidFill>
              </a:rPr>
              <a:t>广汽红</a:t>
            </a:r>
          </a:p>
        </p:txBody>
      </p:sp>
      <p:sp>
        <p:nvSpPr>
          <p:cNvPr id="47" name="矩形 46"/>
          <p:cNvSpPr>
            <a:spLocks noChangeAspect="1"/>
          </p:cNvSpPr>
          <p:nvPr userDrawn="1"/>
        </p:nvSpPr>
        <p:spPr>
          <a:xfrm>
            <a:off x="12466147" y="2964455"/>
            <a:ext cx="576000" cy="3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文本框 47"/>
          <p:cNvSpPr txBox="1"/>
          <p:nvPr userDrawn="1"/>
        </p:nvSpPr>
        <p:spPr>
          <a:xfrm>
            <a:off x="12466147" y="2756705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accent4"/>
                </a:solidFill>
              </a:rPr>
              <a:t>渐变辅助色</a:t>
            </a:r>
          </a:p>
        </p:txBody>
      </p:sp>
      <p:sp>
        <p:nvSpPr>
          <p:cNvPr id="49" name="矩形 48"/>
          <p:cNvSpPr>
            <a:spLocks noChangeAspect="1"/>
          </p:cNvSpPr>
          <p:nvPr userDrawn="1"/>
        </p:nvSpPr>
        <p:spPr>
          <a:xfrm>
            <a:off x="12466147" y="3302782"/>
            <a:ext cx="576000" cy="32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矩形 49"/>
          <p:cNvSpPr>
            <a:spLocks noChangeAspect="1"/>
          </p:cNvSpPr>
          <p:nvPr userDrawn="1"/>
        </p:nvSpPr>
        <p:spPr>
          <a:xfrm>
            <a:off x="12466147" y="3641109"/>
            <a:ext cx="576000" cy="32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矩形 50"/>
          <p:cNvSpPr>
            <a:spLocks noChangeAspect="1"/>
          </p:cNvSpPr>
          <p:nvPr userDrawn="1"/>
        </p:nvSpPr>
        <p:spPr>
          <a:xfrm>
            <a:off x="12466147" y="3979436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/>
          <p:cNvSpPr>
            <a:spLocks noChangeAspect="1"/>
          </p:cNvSpPr>
          <p:nvPr userDrawn="1"/>
        </p:nvSpPr>
        <p:spPr>
          <a:xfrm>
            <a:off x="12466147" y="4317763"/>
            <a:ext cx="576000" cy="32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>
            <a:spLocks noChangeAspect="1"/>
          </p:cNvSpPr>
          <p:nvPr userDrawn="1"/>
        </p:nvSpPr>
        <p:spPr>
          <a:xfrm>
            <a:off x="12466147" y="4656092"/>
            <a:ext cx="576000" cy="32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/>
          <p:cNvSpPr>
            <a:spLocks noChangeAspect="1"/>
          </p:cNvSpPr>
          <p:nvPr userDrawn="1"/>
        </p:nvSpPr>
        <p:spPr>
          <a:xfrm>
            <a:off x="12466147" y="5191848"/>
            <a:ext cx="576000" cy="324000"/>
          </a:xfrm>
          <a:prstGeom prst="rect">
            <a:avLst/>
          </a:prstGeom>
          <a:solidFill>
            <a:srgbClr val="00B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文本框 54"/>
          <p:cNvSpPr txBox="1"/>
          <p:nvPr userDrawn="1"/>
        </p:nvSpPr>
        <p:spPr>
          <a:xfrm>
            <a:off x="12466147" y="4984098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rgbClr val="00B7BD"/>
                </a:solidFill>
              </a:rPr>
              <a:t>辅助蓝色</a:t>
            </a:r>
          </a:p>
        </p:txBody>
      </p:sp>
      <p:sp>
        <p:nvSpPr>
          <p:cNvPr id="56" name="矩形 55"/>
          <p:cNvSpPr>
            <a:spLocks noChangeAspect="1"/>
          </p:cNvSpPr>
          <p:nvPr userDrawn="1"/>
        </p:nvSpPr>
        <p:spPr>
          <a:xfrm>
            <a:off x="12466147" y="5530175"/>
            <a:ext cx="576000" cy="324000"/>
          </a:xfrm>
          <a:prstGeom prst="rect">
            <a:avLst/>
          </a:prstGeom>
          <a:solidFill>
            <a:srgbClr val="006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/>
          <p:cNvSpPr>
            <a:spLocks noChangeAspect="1"/>
          </p:cNvSpPr>
          <p:nvPr userDrawn="1"/>
        </p:nvSpPr>
        <p:spPr>
          <a:xfrm>
            <a:off x="12466147" y="1751772"/>
            <a:ext cx="576000" cy="32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文本框 57"/>
          <p:cNvSpPr txBox="1"/>
          <p:nvPr userDrawn="1"/>
        </p:nvSpPr>
        <p:spPr>
          <a:xfrm>
            <a:off x="12466147" y="1544022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tx1"/>
                </a:solidFill>
              </a:rPr>
              <a:t>辅助色</a:t>
            </a:r>
          </a:p>
        </p:txBody>
      </p:sp>
      <p:sp>
        <p:nvSpPr>
          <p:cNvPr id="59" name="矩形 58"/>
          <p:cNvSpPr>
            <a:spLocks noChangeAspect="1"/>
          </p:cNvSpPr>
          <p:nvPr userDrawn="1"/>
        </p:nvSpPr>
        <p:spPr>
          <a:xfrm>
            <a:off x="12466147" y="2090099"/>
            <a:ext cx="576000" cy="32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矩形 59"/>
          <p:cNvSpPr>
            <a:spLocks noChangeAspect="1"/>
          </p:cNvSpPr>
          <p:nvPr userDrawn="1"/>
        </p:nvSpPr>
        <p:spPr>
          <a:xfrm>
            <a:off x="12466147" y="2428426"/>
            <a:ext cx="576000" cy="32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灯片编号占位符 4"/>
          <p:cNvSpPr txBox="1"/>
          <p:nvPr userDrawn="1"/>
        </p:nvSpPr>
        <p:spPr>
          <a:xfrm>
            <a:off x="11695538" y="6431365"/>
            <a:ext cx="465289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59E091-536F-4D1A-B3B4-943D520EBB81}" type="slidenum">
              <a:rPr lang="zh-CN" altLang="en-US" sz="1200" b="1" smtClean="0"/>
              <a:t>‹#›</a:t>
            </a:fld>
            <a:endParaRPr lang="zh-CN" altLang="en-US" sz="12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38149" y="797097"/>
            <a:ext cx="11299433" cy="35394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38149" y="1151042"/>
            <a:ext cx="11299433" cy="502592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5477" y="272269"/>
            <a:ext cx="2628519" cy="27360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2865" y="6407966"/>
            <a:ext cx="2481131" cy="252000"/>
          </a:xfrm>
          <a:prstGeom prst="rect">
            <a:avLst/>
          </a:prstGeom>
        </p:spPr>
      </p:pic>
      <p:sp>
        <p:nvSpPr>
          <p:cNvPr id="45" name="矩形 44"/>
          <p:cNvSpPr>
            <a:spLocks noChangeAspect="1"/>
          </p:cNvSpPr>
          <p:nvPr userDrawn="1"/>
        </p:nvSpPr>
        <p:spPr>
          <a:xfrm>
            <a:off x="12466147" y="1211576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文本框 45"/>
          <p:cNvSpPr txBox="1"/>
          <p:nvPr userDrawn="1"/>
        </p:nvSpPr>
        <p:spPr>
          <a:xfrm>
            <a:off x="12466147" y="1003826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accent4"/>
                </a:solidFill>
              </a:rPr>
              <a:t>广汽红</a:t>
            </a:r>
          </a:p>
        </p:txBody>
      </p:sp>
      <p:sp>
        <p:nvSpPr>
          <p:cNvPr id="47" name="矩形 46"/>
          <p:cNvSpPr>
            <a:spLocks noChangeAspect="1"/>
          </p:cNvSpPr>
          <p:nvPr userDrawn="1"/>
        </p:nvSpPr>
        <p:spPr>
          <a:xfrm>
            <a:off x="12466147" y="2964455"/>
            <a:ext cx="576000" cy="3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文本框 47"/>
          <p:cNvSpPr txBox="1"/>
          <p:nvPr userDrawn="1"/>
        </p:nvSpPr>
        <p:spPr>
          <a:xfrm>
            <a:off x="12466147" y="2756705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accent4"/>
                </a:solidFill>
              </a:rPr>
              <a:t>渐变辅助色</a:t>
            </a:r>
          </a:p>
        </p:txBody>
      </p:sp>
      <p:sp>
        <p:nvSpPr>
          <p:cNvPr id="49" name="矩形 48"/>
          <p:cNvSpPr>
            <a:spLocks noChangeAspect="1"/>
          </p:cNvSpPr>
          <p:nvPr userDrawn="1"/>
        </p:nvSpPr>
        <p:spPr>
          <a:xfrm>
            <a:off x="12466147" y="3302782"/>
            <a:ext cx="576000" cy="32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矩形 49"/>
          <p:cNvSpPr>
            <a:spLocks noChangeAspect="1"/>
          </p:cNvSpPr>
          <p:nvPr userDrawn="1"/>
        </p:nvSpPr>
        <p:spPr>
          <a:xfrm>
            <a:off x="12466147" y="3641109"/>
            <a:ext cx="576000" cy="32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矩形 50"/>
          <p:cNvSpPr>
            <a:spLocks noChangeAspect="1"/>
          </p:cNvSpPr>
          <p:nvPr userDrawn="1"/>
        </p:nvSpPr>
        <p:spPr>
          <a:xfrm>
            <a:off x="12466147" y="3979436"/>
            <a:ext cx="576000" cy="324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矩形 51"/>
          <p:cNvSpPr>
            <a:spLocks noChangeAspect="1"/>
          </p:cNvSpPr>
          <p:nvPr userDrawn="1"/>
        </p:nvSpPr>
        <p:spPr>
          <a:xfrm>
            <a:off x="12466147" y="4317763"/>
            <a:ext cx="576000" cy="324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矩形 52"/>
          <p:cNvSpPr>
            <a:spLocks noChangeAspect="1"/>
          </p:cNvSpPr>
          <p:nvPr userDrawn="1"/>
        </p:nvSpPr>
        <p:spPr>
          <a:xfrm>
            <a:off x="12466147" y="4656092"/>
            <a:ext cx="576000" cy="324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矩形 53"/>
          <p:cNvSpPr>
            <a:spLocks noChangeAspect="1"/>
          </p:cNvSpPr>
          <p:nvPr userDrawn="1"/>
        </p:nvSpPr>
        <p:spPr>
          <a:xfrm>
            <a:off x="12466147" y="5191848"/>
            <a:ext cx="576000" cy="324000"/>
          </a:xfrm>
          <a:prstGeom prst="rect">
            <a:avLst/>
          </a:prstGeom>
          <a:solidFill>
            <a:srgbClr val="00B7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文本框 54"/>
          <p:cNvSpPr txBox="1"/>
          <p:nvPr userDrawn="1"/>
        </p:nvSpPr>
        <p:spPr>
          <a:xfrm>
            <a:off x="12466147" y="4984098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rgbClr val="00B7BD"/>
                </a:solidFill>
              </a:rPr>
              <a:t>辅助蓝色</a:t>
            </a:r>
          </a:p>
        </p:txBody>
      </p:sp>
      <p:sp>
        <p:nvSpPr>
          <p:cNvPr id="56" name="矩形 55"/>
          <p:cNvSpPr>
            <a:spLocks noChangeAspect="1"/>
          </p:cNvSpPr>
          <p:nvPr userDrawn="1"/>
        </p:nvSpPr>
        <p:spPr>
          <a:xfrm>
            <a:off x="12466147" y="5530175"/>
            <a:ext cx="576000" cy="324000"/>
          </a:xfrm>
          <a:prstGeom prst="rect">
            <a:avLst/>
          </a:prstGeom>
          <a:solidFill>
            <a:srgbClr val="006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矩形 56"/>
          <p:cNvSpPr>
            <a:spLocks noChangeAspect="1"/>
          </p:cNvSpPr>
          <p:nvPr userDrawn="1"/>
        </p:nvSpPr>
        <p:spPr>
          <a:xfrm>
            <a:off x="12466147" y="1751772"/>
            <a:ext cx="576000" cy="324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" name="文本框 57"/>
          <p:cNvSpPr txBox="1"/>
          <p:nvPr userDrawn="1"/>
        </p:nvSpPr>
        <p:spPr>
          <a:xfrm>
            <a:off x="12466147" y="1544022"/>
            <a:ext cx="576000" cy="20005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ctr"/>
            <a:r>
              <a:rPr kumimoji="1" lang="zh-CN" altLang="en-US" sz="700" dirty="0">
                <a:solidFill>
                  <a:schemeClr val="tx1"/>
                </a:solidFill>
              </a:rPr>
              <a:t>辅助色</a:t>
            </a:r>
          </a:p>
        </p:txBody>
      </p:sp>
      <p:sp>
        <p:nvSpPr>
          <p:cNvPr id="59" name="矩形 58"/>
          <p:cNvSpPr>
            <a:spLocks noChangeAspect="1"/>
          </p:cNvSpPr>
          <p:nvPr userDrawn="1"/>
        </p:nvSpPr>
        <p:spPr>
          <a:xfrm>
            <a:off x="12466147" y="2090099"/>
            <a:ext cx="576000" cy="324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0" name="矩形 59"/>
          <p:cNvSpPr>
            <a:spLocks noChangeAspect="1"/>
          </p:cNvSpPr>
          <p:nvPr userDrawn="1"/>
        </p:nvSpPr>
        <p:spPr>
          <a:xfrm>
            <a:off x="12466147" y="2428426"/>
            <a:ext cx="576000" cy="32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灯片编号占位符 4"/>
          <p:cNvSpPr txBox="1"/>
          <p:nvPr userDrawn="1"/>
        </p:nvSpPr>
        <p:spPr>
          <a:xfrm>
            <a:off x="11695538" y="6431365"/>
            <a:ext cx="465289" cy="2286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59E091-536F-4D1A-B3B4-943D520EBB81}" type="slidenum">
              <a:rPr lang="zh-CN" altLang="en-US" sz="1200" b="1" smtClean="0"/>
              <a:t>‹#›</a:t>
            </a:fld>
            <a:endParaRPr lang="zh-CN" altLang="en-US" sz="1200" b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0" indent="0" algn="l" defTabSz="914400" rtl="0" eaLnBrk="1" latinLnBrk="0" hangingPunct="1">
        <a:lnSpc>
          <a:spcPct val="200000"/>
        </a:lnSpc>
        <a:spcBef>
          <a:spcPts val="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3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1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38148" y="980320"/>
            <a:ext cx="11299433" cy="2387600"/>
          </a:xfrm>
        </p:spPr>
        <p:txBody>
          <a:bodyPr anchor="ctr" anchorCtr="0"/>
          <a:lstStyle/>
          <a:p>
            <a:r>
              <a:rPr lang="zh-CN" altLang="en-US" sz="4800" dirty="0"/>
              <a:t>广汽集团</a:t>
            </a:r>
            <a:r>
              <a:rPr lang="en-US" altLang="zh-CN" sz="4800" dirty="0"/>
              <a:t>XXX</a:t>
            </a:r>
            <a:r>
              <a:rPr lang="zh-CN" altLang="en-US" sz="4800" dirty="0"/>
              <a:t>项目立项报告</a:t>
            </a:r>
          </a:p>
        </p:txBody>
      </p:sp>
      <p:sp>
        <p:nvSpPr>
          <p:cNvPr id="6" name="副标题 2"/>
          <p:cNvSpPr txBox="1"/>
          <p:nvPr/>
        </p:nvSpPr>
        <p:spPr>
          <a:xfrm>
            <a:off x="5448577" y="3564422"/>
            <a:ext cx="2601158" cy="7902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zh-CN" altLang="en-US" sz="2400" b="1" dirty="0">
                <a:solidFill>
                  <a:schemeClr val="tx1"/>
                </a:solidFill>
              </a:rPr>
              <a:t>报告人：</a:t>
            </a:r>
          </a:p>
        </p:txBody>
      </p:sp>
      <p:sp>
        <p:nvSpPr>
          <p:cNvPr id="7" name="副标题 2"/>
          <p:cNvSpPr txBox="1"/>
          <p:nvPr/>
        </p:nvSpPr>
        <p:spPr>
          <a:xfrm>
            <a:off x="4795421" y="5552100"/>
            <a:ext cx="2601158" cy="7902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 smtClean="0">
                <a:solidFill>
                  <a:schemeClr val="tx1"/>
                </a:solidFill>
              </a:rPr>
              <a:t>2025</a:t>
            </a:r>
            <a:r>
              <a:rPr lang="zh-CN" altLang="en-US" sz="2000" dirty="0" smtClean="0">
                <a:solidFill>
                  <a:schemeClr val="tx1"/>
                </a:solidFill>
              </a:rPr>
              <a:t>年</a:t>
            </a:r>
            <a:r>
              <a:rPr lang="en-US" altLang="zh-CN" sz="2000" dirty="0" smtClean="0">
                <a:solidFill>
                  <a:schemeClr val="tx1"/>
                </a:solidFill>
              </a:rPr>
              <a:t>XX</a:t>
            </a:r>
            <a:r>
              <a:rPr lang="zh-CN" altLang="en-US" sz="2000" dirty="0" smtClean="0">
                <a:solidFill>
                  <a:schemeClr val="tx1"/>
                </a:solidFill>
              </a:rPr>
              <a:t>月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5" name="副标题 2"/>
          <p:cNvSpPr txBox="1"/>
          <p:nvPr/>
        </p:nvSpPr>
        <p:spPr>
          <a:xfrm>
            <a:off x="5033639" y="4424803"/>
            <a:ext cx="2601158" cy="7902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chemeClr val="tx1"/>
                </a:solidFill>
              </a:rPr>
              <a:t>xxx</a:t>
            </a:r>
            <a:r>
              <a:rPr lang="zh-CN" altLang="en-US" sz="2000" dirty="0">
                <a:solidFill>
                  <a:schemeClr val="tx1"/>
                </a:solidFill>
              </a:rPr>
              <a:t>部门</a:t>
            </a:r>
            <a:r>
              <a:rPr lang="zh-CN" altLang="en-US" sz="2000" dirty="0" smtClean="0">
                <a:solidFill>
                  <a:schemeClr val="tx1"/>
                </a:solidFill>
              </a:rPr>
              <a:t>：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8" name="副标题 2"/>
          <p:cNvSpPr txBox="1"/>
          <p:nvPr/>
        </p:nvSpPr>
        <p:spPr>
          <a:xfrm>
            <a:off x="7981025" y="4424803"/>
            <a:ext cx="2601158" cy="79026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>
                <a:solidFill>
                  <a:schemeClr val="tx1"/>
                </a:solidFill>
              </a:rPr>
              <a:t>大圣科技</a:t>
            </a:r>
            <a:r>
              <a:rPr lang="zh-CN" altLang="en-US" sz="2000" dirty="0" smtClean="0">
                <a:solidFill>
                  <a:schemeClr val="tx1"/>
                </a:solidFill>
              </a:rPr>
              <a:t>：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9" name="副标题 2"/>
          <p:cNvSpPr txBox="1"/>
          <p:nvPr/>
        </p:nvSpPr>
        <p:spPr>
          <a:xfrm>
            <a:off x="1652905" y="4424680"/>
            <a:ext cx="2600960" cy="79121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rgbClr val="F5D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CN" altLang="en-US" sz="2000" dirty="0">
                <a:solidFill>
                  <a:schemeClr val="tx1"/>
                </a:solidFill>
              </a:rPr>
              <a:t>广汽集团</a:t>
            </a:r>
            <a:r>
              <a:rPr lang="zh-CN" altLang="en-US" sz="2000" dirty="0" smtClean="0">
                <a:solidFill>
                  <a:schemeClr val="tx1"/>
                </a:solidFill>
              </a:rPr>
              <a:t>：</a:t>
            </a:r>
            <a:r>
              <a:rPr lang="en-US" altLang="zh-CN" sz="2000" dirty="0" smtClean="0">
                <a:solidFill>
                  <a:schemeClr val="tx1"/>
                </a:solidFill>
              </a:rPr>
              <a:t> </a:t>
            </a:r>
          </a:p>
          <a:p>
            <a:r>
              <a:rPr lang="en-US" altLang="zh-CN" sz="2000" dirty="0" smtClean="0">
                <a:solidFill>
                  <a:schemeClr val="tx1"/>
                </a:solidFill>
              </a:rPr>
              <a:t>XXX</a:t>
            </a:r>
            <a:r>
              <a:rPr lang="zh-CN" altLang="en-US" sz="2000" dirty="0" smtClean="0">
                <a:solidFill>
                  <a:schemeClr val="tx1"/>
                </a:solidFill>
              </a:rPr>
              <a:t>企业：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790659"/>
              </p:ext>
            </p:extLst>
          </p:nvPr>
        </p:nvGraphicFramePr>
        <p:xfrm>
          <a:off x="334615" y="1419610"/>
          <a:ext cx="11526078" cy="4727555"/>
        </p:xfrm>
        <a:graphic>
          <a:graphicData uri="http://schemas.openxmlformats.org/drawingml/2006/table">
            <a:tbl>
              <a:tblPr firstRow="1" bandRow="1"/>
              <a:tblGrid>
                <a:gridCol w="12436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95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72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04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28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007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32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84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609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600" b="1" dirty="0"/>
                        <a:t>会议名称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审议时间</a:t>
                      </a:r>
                      <a:endParaRPr lang="zh-CN" altLang="en-US" sz="1600" b="1" dirty="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提请事项</a:t>
                      </a: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纪要编号</a:t>
                      </a: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审议结论</a:t>
                      </a: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600" b="1" dirty="0"/>
                        <a:t>前置会议意见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en-US" sz="1600" b="1" dirty="0"/>
                        <a:t>前置会议意见</a:t>
                      </a:r>
                      <a:endParaRPr lang="en-US" altLang="zh-CN" sz="1600" b="1" dirty="0"/>
                    </a:p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en-US" sz="1600" b="1" dirty="0"/>
                        <a:t>落实情况</a:t>
                      </a:r>
                      <a:endParaRPr lang="zh-CN" altLang="en-US" sz="1600" b="1" dirty="0">
                        <a:solidFill>
                          <a:schemeClr val="bg1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defRPr/>
                      </a:pPr>
                      <a:r>
                        <a:rPr lang="zh-CN" altLang="en-US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纪要</a:t>
                      </a: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80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lang="zh-CN" altLang="en-US" sz="140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90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altLang="zh-CN" sz="90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altLang="zh-CN" sz="14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572737"/>
                  </a:ext>
                </a:extLst>
              </a:tr>
              <a:tr h="93801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140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endParaRPr lang="zh-CN" altLang="en-US" sz="140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90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altLang="zh-CN" sz="900" i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ea"/>
                        <a:sym typeface="+mn-lt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altLang="zh-CN" sz="14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027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宋体" panose="02010600030101010101" pitchFamily="2" charset="-122"/>
                        <a:cs typeface="+mn-cs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altLang="zh-CN" sz="14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altLang="zh-CN" sz="14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altLang="zh-CN" sz="1400" kern="1200" dirty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cs typeface="+mn-cs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altLang="zh-CN" sz="14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702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400" dirty="0">
                        <a:ea typeface="+mn-ea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宋体" panose="02010600030101010101" pitchFamily="2" charset="-122"/>
                        <a:cs typeface="+mn-cs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altLang="zh-CN" sz="14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zh-CN" altLang="en-US" sz="14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altLang="zh-CN" sz="14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4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altLang="zh-CN" sz="1400" kern="1200" dirty="0">
                        <a:solidFill>
                          <a:schemeClr val="tx1"/>
                        </a:solidFill>
                        <a:latin typeface="+mn-ea"/>
                        <a:ea typeface="宋体" panose="02010600030101010101" pitchFamily="2" charset="-122"/>
                        <a:cs typeface="+mn-cs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endParaRPr lang="en-US" altLang="zh-CN" sz="14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+mn-ea"/>
                      </a:endParaRPr>
                    </a:p>
                  </a:txBody>
                  <a:tcPr marL="121916" marR="121916" marT="57999" marB="57999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334644" y="765166"/>
            <a:ext cx="816864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defRPr/>
            </a:pPr>
            <a:r>
              <a:rPr lang="zh-CN" altLang="en-US" sz="2800" b="1" kern="0" dirty="0">
                <a:solidFill>
                  <a:srgbClr val="000000"/>
                </a:solidFill>
                <a:latin typeface="宋体" panose="02010600030101010101" pitchFamily="2" charset="-122"/>
              </a:rPr>
              <a:t>前置会</a:t>
            </a:r>
            <a:r>
              <a:rPr lang="zh-CN" altLang="en-US" sz="2800" b="1" kern="0" dirty="0" smtClean="0">
                <a:solidFill>
                  <a:srgbClr val="000000"/>
                </a:solidFill>
                <a:latin typeface="宋体" panose="02010600030101010101" pitchFamily="2" charset="-122"/>
              </a:rPr>
              <a:t>议审</a:t>
            </a:r>
            <a:r>
              <a:rPr lang="zh-CN" altLang="en-US" sz="2800" b="1" kern="0" dirty="0">
                <a:solidFill>
                  <a:srgbClr val="000000"/>
                </a:solidFill>
                <a:latin typeface="宋体" panose="02010600030101010101" pitchFamily="2" charset="-122"/>
              </a:rPr>
              <a:t>核情况</a:t>
            </a:r>
            <a:endParaRPr lang="zh-CN" altLang="en-US" sz="2800" b="1" kern="0" dirty="0">
              <a:solidFill>
                <a:srgbClr val="000000"/>
              </a:solidFill>
              <a:latin typeface="宋体" panose="02010600030101010101" pitchFamily="2" charset="-122"/>
              <a:ea typeface="+mn-ea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zh-CN" altLang="en-US" dirty="0"/>
              <a:t>目录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noFill/>
        </p:spPr>
        <p:txBody>
          <a:bodyPr/>
          <a:lstStyle/>
          <a:p>
            <a:r>
              <a:rPr lang="zh-CN" altLang="en-US" dirty="0"/>
              <a:t>一、项目背景</a:t>
            </a:r>
            <a:endParaRPr lang="en-US" altLang="zh-CN" dirty="0"/>
          </a:p>
          <a:p>
            <a:r>
              <a:rPr lang="zh-CN" altLang="en-US" dirty="0"/>
              <a:t>二、主要内容</a:t>
            </a:r>
            <a:endParaRPr lang="en-US" altLang="zh-CN" dirty="0"/>
          </a:p>
          <a:p>
            <a:pPr lvl="4"/>
            <a:r>
              <a:rPr lang="en-US" altLang="zh-CN" sz="1800" b="0" dirty="0"/>
              <a:t>   2.1</a:t>
            </a:r>
            <a:r>
              <a:rPr lang="zh-CN" altLang="en-US" sz="1800" b="0" dirty="0"/>
              <a:t>洞察客户需求</a:t>
            </a:r>
            <a:endParaRPr lang="en-US" altLang="zh-CN" sz="1800" b="0" dirty="0"/>
          </a:p>
          <a:p>
            <a:pPr lvl="4"/>
            <a:r>
              <a:rPr lang="en-US" altLang="zh-CN" sz="1800" b="0" dirty="0"/>
              <a:t>   2.2</a:t>
            </a:r>
            <a:r>
              <a:rPr lang="zh-CN" altLang="en-US" sz="1800" b="0" dirty="0"/>
              <a:t>描绘理想状态和现状</a:t>
            </a:r>
            <a:endParaRPr lang="en-US" altLang="zh-CN" sz="1800" b="0" dirty="0"/>
          </a:p>
          <a:p>
            <a:pPr lvl="4"/>
            <a:r>
              <a:rPr lang="en-US" altLang="zh-CN" sz="1800" b="0" dirty="0"/>
              <a:t>   2.3</a:t>
            </a:r>
            <a:r>
              <a:rPr lang="zh-CN" altLang="en-US" sz="1800" b="0" dirty="0"/>
              <a:t>问题分解和确定目标</a:t>
            </a:r>
            <a:endParaRPr lang="en-US" altLang="zh-CN" sz="1800" b="0" dirty="0"/>
          </a:p>
          <a:p>
            <a:pPr lvl="4"/>
            <a:r>
              <a:rPr lang="en-US" altLang="zh-CN" sz="1800" b="0" dirty="0"/>
              <a:t>   2.4</a:t>
            </a:r>
            <a:r>
              <a:rPr lang="zh-CN" altLang="en-US" sz="1800" b="0" dirty="0"/>
              <a:t>建设规划</a:t>
            </a:r>
            <a:endParaRPr lang="en-US" altLang="zh-CN" sz="1800" b="0" dirty="0"/>
          </a:p>
          <a:p>
            <a:r>
              <a:rPr lang="zh-CN" altLang="en-US" dirty="0"/>
              <a:t>三</a:t>
            </a:r>
            <a:r>
              <a:rPr lang="zh-CN" altLang="en-US" dirty="0" smtClean="0"/>
              <a:t>、论证</a:t>
            </a:r>
            <a:r>
              <a:rPr lang="zh-CN" altLang="en-US" dirty="0"/>
              <a:t>意见</a:t>
            </a:r>
            <a:endParaRPr lang="en-US" altLang="zh-CN" dirty="0"/>
          </a:p>
          <a:p>
            <a:r>
              <a:rPr lang="zh-CN" altLang="en-US" dirty="0" smtClean="0"/>
              <a:t>四、</a:t>
            </a:r>
            <a:r>
              <a:rPr lang="zh-CN" altLang="en-US" dirty="0"/>
              <a:t>提请审议事项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71792" y="2505927"/>
            <a:ext cx="2506341" cy="18461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indent="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/>
            </a:lvl1pPr>
            <a:lvl2pPr marL="0" indent="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/>
            </a:lvl2pPr>
            <a:lvl3pPr marL="0" indent="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/>
            </a:lvl3pPr>
            <a:lvl4pPr marL="0" indent="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/>
            </a:lvl4pPr>
            <a:lvl5pPr marL="0" lvl="4" indent="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4"/>
            <a:r>
              <a:rPr lang="en-US" altLang="zh-CN" sz="1800" b="0" dirty="0"/>
              <a:t>2.5</a:t>
            </a:r>
            <a:r>
              <a:rPr lang="zh-CN" altLang="en-US" sz="1800" b="0" dirty="0"/>
              <a:t>贯彻实施</a:t>
            </a:r>
            <a:endParaRPr lang="en-US" altLang="zh-CN" sz="1800" b="0" dirty="0"/>
          </a:p>
          <a:p>
            <a:pPr lvl="4"/>
            <a:r>
              <a:rPr lang="en-US" altLang="zh-CN" sz="1800" b="0" dirty="0" smtClean="0"/>
              <a:t>2.6</a:t>
            </a:r>
            <a:r>
              <a:rPr lang="zh-CN" altLang="en-US" sz="1800" b="0" dirty="0"/>
              <a:t>风险与</a:t>
            </a:r>
            <a:r>
              <a:rPr lang="zh-CN" altLang="en-US" sz="1800" b="0" dirty="0" smtClean="0"/>
              <a:t>对策</a:t>
            </a:r>
            <a:endParaRPr lang="en-US" altLang="zh-CN" sz="1800" b="0" dirty="0"/>
          </a:p>
        </p:txBody>
      </p:sp>
      <p:sp>
        <p:nvSpPr>
          <p:cNvPr id="6" name="文本框 5"/>
          <p:cNvSpPr txBox="1"/>
          <p:nvPr/>
        </p:nvSpPr>
        <p:spPr>
          <a:xfrm>
            <a:off x="7746793" y="2505927"/>
            <a:ext cx="3082074" cy="18461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indent="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/>
            </a:lvl1pPr>
            <a:lvl2pPr marL="0" indent="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/>
            </a:lvl2pPr>
            <a:lvl3pPr marL="0" indent="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/>
            </a:lvl3pPr>
            <a:lvl4pPr marL="0" indent="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/>
            </a:lvl4pPr>
            <a:lvl5pPr marL="0" lvl="4" indent="0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4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9"/>
          <p:cNvSpPr/>
          <p:nvPr/>
        </p:nvSpPr>
        <p:spPr>
          <a:xfrm>
            <a:off x="8752205" y="2075815"/>
            <a:ext cx="2948305" cy="1682115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marR="0" lvl="0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7" name="Rectangle 56"/>
          <p:cNvSpPr/>
          <p:nvPr/>
        </p:nvSpPr>
        <p:spPr>
          <a:xfrm>
            <a:off x="9284970" y="1108710"/>
            <a:ext cx="2415540" cy="806450"/>
          </a:xfrm>
          <a:prstGeom prst="rect">
            <a:avLst/>
          </a:prstGeom>
          <a:noFill/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marR="0" lvl="0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1" name="Rectangle 61"/>
          <p:cNvSpPr/>
          <p:nvPr/>
        </p:nvSpPr>
        <p:spPr>
          <a:xfrm>
            <a:off x="8771255" y="3909695"/>
            <a:ext cx="2929255" cy="1116965"/>
          </a:xfrm>
          <a:prstGeom prst="rect">
            <a:avLst/>
          </a:prstGeom>
          <a:solidFill>
            <a:srgbClr val="FFFFFF"/>
          </a:solidFill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marR="0" lvl="0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8" name="文本框 83"/>
          <p:cNvSpPr txBox="1"/>
          <p:nvPr/>
        </p:nvSpPr>
        <p:spPr>
          <a:xfrm>
            <a:off x="9410700" y="3803650"/>
            <a:ext cx="1407160" cy="292735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31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预算</a:t>
            </a:r>
            <a:r>
              <a:rPr kumimoji="0" lang="zh-CN" altLang="en-US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构成分析</a:t>
            </a:r>
          </a:p>
        </p:txBody>
      </p:sp>
      <p:sp>
        <p:nvSpPr>
          <p:cNvPr id="22" name="文本框 86"/>
          <p:cNvSpPr txBox="1"/>
          <p:nvPr/>
        </p:nvSpPr>
        <p:spPr>
          <a:xfrm>
            <a:off x="9410711" y="956916"/>
            <a:ext cx="1532255" cy="283210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lvl="0" algn="ctr" defTabSz="21653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25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GDA 2.0 </a:t>
            </a:r>
            <a:r>
              <a:rPr lang="zh-CN" altLang="en-US" sz="125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承接关系</a:t>
            </a:r>
            <a:endParaRPr lang="zh-CN" altLang="en-US" sz="1250" b="1" kern="0" dirty="0">
              <a:solidFill>
                <a:sysClr val="windowText" lastClr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 panose="02000503000000020004"/>
            </a:endParaRPr>
          </a:p>
        </p:txBody>
      </p:sp>
      <p:sp>
        <p:nvSpPr>
          <p:cNvPr id="30" name="Rectangle 100"/>
          <p:cNvSpPr/>
          <p:nvPr/>
        </p:nvSpPr>
        <p:spPr>
          <a:xfrm>
            <a:off x="8770620" y="5206365"/>
            <a:ext cx="2929890" cy="1062990"/>
          </a:xfrm>
          <a:prstGeom prst="rect">
            <a:avLst/>
          </a:prstGeom>
          <a:noFill/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marR="0" lvl="0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31" name="文本框 82"/>
          <p:cNvSpPr txBox="1"/>
          <p:nvPr/>
        </p:nvSpPr>
        <p:spPr>
          <a:xfrm>
            <a:off x="9410700" y="1953260"/>
            <a:ext cx="1532255" cy="292735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项目预期价值</a:t>
            </a:r>
          </a:p>
        </p:txBody>
      </p:sp>
      <p:sp>
        <p:nvSpPr>
          <p:cNvPr id="33" name="文本框 84"/>
          <p:cNvSpPr txBox="1"/>
          <p:nvPr/>
        </p:nvSpPr>
        <p:spPr>
          <a:xfrm>
            <a:off x="9410711" y="5078205"/>
            <a:ext cx="1685925" cy="292735"/>
          </a:xfrm>
          <a:prstGeom prst="rect">
            <a:avLst/>
          </a:prstGeom>
          <a:solidFill>
            <a:sysClr val="window" lastClr="FFFFFF"/>
          </a:solidFill>
        </p:spPr>
        <p:txBody>
          <a:bodyPr wrap="none" rtlCol="0">
            <a:spAutoFit/>
          </a:bodyPr>
          <a:lstStyle/>
          <a:p>
            <a:pPr marL="0" marR="0" lvl="0" indent="0" algn="ctr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关键节点里程碑计划</a:t>
            </a:r>
            <a:endParaRPr kumimoji="0" lang="en-US" altLang="zh-CN" sz="107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Helvetica Neue" panose="02000503000000020004"/>
            </a:endParaRPr>
          </a:p>
        </p:txBody>
      </p:sp>
      <p:sp>
        <p:nvSpPr>
          <p:cNvPr id="39" name="ee4pFootnotes"/>
          <p:cNvSpPr>
            <a:spLocks noChangeArrowheads="1"/>
          </p:cNvSpPr>
          <p:nvPr/>
        </p:nvSpPr>
        <p:spPr bwMode="auto">
          <a:xfrm>
            <a:off x="272909" y="6354997"/>
            <a:ext cx="11621670" cy="271485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</p:spPr>
        <p:txBody>
          <a:bodyPr vert="horz" wrap="square" lIns="0" tIns="0" rIns="0" bIns="0" anchor="b" anchorCtr="0">
            <a:spAutoFit/>
          </a:bodyPr>
          <a:lstStyle/>
          <a:p>
            <a:pPr lvl="0" defTabSz="48006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935" b="1" dirty="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1</a:t>
            </a:r>
            <a:r>
              <a:rPr lang="en-US" altLang="zh-CN" sz="980" b="1" dirty="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.</a:t>
            </a:r>
            <a:r>
              <a:rPr lang="zh-CN" altLang="en-US" sz="980" b="1" dirty="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业务价值从五项子</a:t>
            </a:r>
            <a:r>
              <a:rPr kumimoji="0" lang="zh-CN" altLang="en-US" sz="98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维度选择：增效</a:t>
            </a:r>
            <a:r>
              <a:rPr kumimoji="0" lang="en-US" altLang="zh-CN" sz="98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(</a:t>
            </a:r>
            <a:r>
              <a:rPr kumimoji="0" lang="zh-CN" altLang="en-US" sz="98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益</a:t>
            </a:r>
            <a:r>
              <a:rPr kumimoji="0" lang="en-US" altLang="zh-CN" sz="98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)</a:t>
            </a:r>
            <a:r>
              <a:rPr kumimoji="0" lang="zh-CN" altLang="en-US" sz="98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、降本、用户体验、效率提升、前瞻性；</a:t>
            </a:r>
            <a:r>
              <a:rPr kumimoji="0" lang="en-US" altLang="zh-CN" sz="98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	</a:t>
            </a:r>
            <a:r>
              <a:rPr kumimoji="0" lang="en-US" altLang="zh-CN" sz="980" b="1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   </a:t>
            </a:r>
            <a:endParaRPr kumimoji="0" lang="en-US" altLang="zh-CN" sz="980" b="1" i="0" u="none" strike="noStrike" kern="1200" cap="none" spc="0" normalizeH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rebuchet MS" panose="020B0603020202020204" pitchFamily="34" charset="0"/>
              <a:ea typeface="黑体" panose="02010609060101010101" charset="-122"/>
              <a:sym typeface="+mn-lt"/>
            </a:endParaRPr>
          </a:p>
          <a:p>
            <a:pPr lvl="0" defTabSz="480060"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zh-CN" sz="98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2</a:t>
            </a:r>
            <a:r>
              <a:rPr kumimoji="0" lang="en-US" altLang="zh-CN" sz="98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.</a:t>
            </a:r>
            <a:r>
              <a:rPr kumimoji="0" lang="zh-CN" altLang="en-US" sz="98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系统上线前的安全基线检测费用，</a:t>
            </a:r>
            <a:r>
              <a:rPr lang="zh-CN" altLang="en-US" sz="980" b="1" dirty="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由供应链安全</a:t>
            </a:r>
            <a:r>
              <a:rPr lang="en-US" altLang="zh-CN" sz="980" b="1" dirty="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(</a:t>
            </a:r>
            <a:r>
              <a:rPr lang="zh-CN" altLang="en-US" sz="980" b="1" dirty="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系统上线安全评估</a:t>
            </a:r>
            <a:r>
              <a:rPr lang="en-US" altLang="zh-CN" sz="980" b="1" dirty="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)</a:t>
            </a:r>
            <a:r>
              <a:rPr lang="zh-CN" altLang="en-US" sz="980" b="1" dirty="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项目承担（需提前明确系统的安全等级保护级别）</a:t>
            </a:r>
            <a:r>
              <a:rPr lang="zh-CN" altLang="en-US" sz="980" b="1" dirty="0" smtClean="0">
                <a:solidFill>
                  <a:srgbClr val="000000"/>
                </a:solidFill>
                <a:latin typeface="Trebuchet MS" panose="020B0603020202020204" pitchFamily="34" charset="0"/>
                <a:ea typeface="黑体" panose="02010609060101010101" charset="-122"/>
                <a:sym typeface="+mn-lt"/>
              </a:rPr>
              <a:t>；</a:t>
            </a:r>
            <a:endParaRPr lang="en-US" altLang="zh-CN" sz="980" b="1" dirty="0">
              <a:solidFill>
                <a:srgbClr val="000000"/>
              </a:solidFill>
              <a:latin typeface="Trebuchet MS" panose="020B0603020202020204" pitchFamily="34" charset="0"/>
              <a:ea typeface="黑体" panose="02010609060101010101" charset="-122"/>
              <a:sym typeface="+mn-lt"/>
            </a:endParaRPr>
          </a:p>
        </p:txBody>
      </p:sp>
      <p:sp>
        <p:nvSpPr>
          <p:cNvPr id="6" name="文本框 88"/>
          <p:cNvSpPr txBox="1"/>
          <p:nvPr>
            <p:custDataLst>
              <p:tags r:id="rId1"/>
            </p:custDataLst>
          </p:nvPr>
        </p:nvSpPr>
        <p:spPr>
          <a:xfrm>
            <a:off x="9284335" y="1237615"/>
            <a:ext cx="2269490" cy="23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170180" lvl="1" indent="-113665" defTabSz="216535" fontAlgn="auto">
              <a:spcBef>
                <a:spcPts val="0"/>
              </a:spcBef>
              <a:spcAft>
                <a:spcPts val="0"/>
              </a:spcAft>
              <a:buClr>
                <a:srgbClr val="BE1C3D"/>
              </a:buClr>
              <a:buSzPct val="100000"/>
              <a:buFont typeface="Trebuchet MS" panose="020B0603020202020204" pitchFamily="34" charset="0"/>
              <a:buChar char="•"/>
              <a:defRPr/>
            </a:pPr>
            <a:r>
              <a:rPr lang="zh-CN" altLang="en-US" sz="955" dirty="0">
                <a:latin typeface="Trebuchet MS" panose="020B0603020202020204" pitchFamily="34" charset="0"/>
                <a:ea typeface="微软雅黑" panose="020B0503020204020204" pitchFamily="34" charset="-122"/>
              </a:rPr>
              <a:t>无</a:t>
            </a:r>
          </a:p>
        </p:txBody>
      </p:sp>
      <p:sp>
        <p:nvSpPr>
          <p:cNvPr id="84" name="Rectangle 67"/>
          <p:cNvSpPr/>
          <p:nvPr>
            <p:custDataLst>
              <p:tags r:id="rId2"/>
            </p:custDataLst>
          </p:nvPr>
        </p:nvSpPr>
        <p:spPr>
          <a:xfrm>
            <a:off x="8813165" y="2212340"/>
            <a:ext cx="2740025" cy="33083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4D6D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 anchorCtr="0">
            <a:spAutoFit/>
          </a:bodyPr>
          <a:lstStyle/>
          <a:p>
            <a:pPr marL="28575" lvl="1" defTabSz="216535" fontAlgn="auto">
              <a:spcBef>
                <a:spcPts val="0"/>
              </a:spcBef>
              <a:spcAft>
                <a:spcPts val="160"/>
              </a:spcAft>
              <a:buClr>
                <a:srgbClr val="000000">
                  <a:lumMod val="100000"/>
                </a:srgbClr>
              </a:buClr>
              <a:buSzPct val="100000"/>
              <a:defRPr/>
            </a:pPr>
            <a:r>
              <a:rPr kumimoji="0" lang="en-US" altLang="zh-CN" sz="100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1.</a:t>
            </a:r>
            <a:r>
              <a:rPr kumimoji="0" lang="zh-CN" altLang="en-US" sz="100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定性：</a:t>
            </a:r>
            <a:endParaRPr kumimoji="0" lang="en-US" altLang="zh-CN" sz="1005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  <a:p>
            <a:pPr marL="28575" lvl="1" defTabSz="216535" fontAlgn="auto">
              <a:spcBef>
                <a:spcPts val="0"/>
              </a:spcBef>
              <a:spcAft>
                <a:spcPts val="160"/>
              </a:spcAft>
              <a:buClr>
                <a:srgbClr val="000000">
                  <a:lumMod val="100000"/>
                </a:srgbClr>
              </a:buClr>
              <a:buSzPct val="100000"/>
              <a:defRPr/>
            </a:pPr>
            <a:r>
              <a:rPr lang="en-US" altLang="zh-CN" sz="1005" kern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....</a:t>
            </a:r>
            <a:endParaRPr kumimoji="0" lang="en-US" altLang="zh-CN" sz="1005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85" name="Rectangle 67"/>
          <p:cNvSpPr/>
          <p:nvPr>
            <p:custDataLst>
              <p:tags r:id="rId3"/>
            </p:custDataLst>
          </p:nvPr>
        </p:nvSpPr>
        <p:spPr>
          <a:xfrm>
            <a:off x="8813165" y="3222625"/>
            <a:ext cx="2753360" cy="30416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4D6D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 anchorCtr="0">
            <a:spAutoFit/>
          </a:bodyPr>
          <a:lstStyle/>
          <a:p>
            <a:pPr marL="28575" marR="0" lvl="1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0"/>
              </a:spcAft>
              <a:buClr>
                <a:srgbClr val="000000">
                  <a:lumMod val="100000"/>
                </a:srgbClr>
              </a:buClr>
              <a:buSzPct val="100000"/>
              <a:buFontTx/>
              <a:buNone/>
              <a:defRPr/>
            </a:pPr>
            <a:r>
              <a:rPr kumimoji="0" lang="en-US" altLang="zh-CN" sz="835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 2</a:t>
            </a:r>
            <a:r>
              <a:rPr kumimoji="0" lang="en-US" altLang="zh-CN" sz="100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.</a:t>
            </a:r>
            <a:r>
              <a:rPr kumimoji="0" lang="zh-CN" altLang="en-US" sz="1005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定量：</a:t>
            </a:r>
          </a:p>
          <a:p>
            <a:pPr marL="179705" lvl="1" indent="-95250" defTabSz="216535" fontAlgn="auto">
              <a:spcBef>
                <a:spcPts val="0"/>
              </a:spcBef>
              <a:spcAft>
                <a:spcPts val="160"/>
              </a:spcAft>
              <a:buClr>
                <a:srgbClr val="BE1C3D"/>
              </a:buClr>
              <a:buSzPct val="100000"/>
              <a:buFont typeface="Trebuchet MS" panose="020B0603020202020204" pitchFamily="34" charset="0"/>
              <a:buChar char="•"/>
              <a:defRPr/>
            </a:pPr>
            <a:r>
              <a:rPr kumimoji="0" lang="en-US" altLang="en-GB" sz="835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微软雅黑" panose="020B0503020204020204" pitchFamily="34" charset="-122"/>
              </a:rPr>
              <a:t>...</a:t>
            </a:r>
          </a:p>
        </p:txBody>
      </p:sp>
      <p:graphicFrame>
        <p:nvGraphicFramePr>
          <p:cNvPr id="90" name="表格 5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8886190" y="4096385"/>
          <a:ext cx="2680335" cy="862965"/>
        </p:xfrm>
        <a:graphic>
          <a:graphicData uri="http://schemas.openxmlformats.org/drawingml/2006/table">
            <a:tbl>
              <a:tblPr firstRow="1" bandRow="1"/>
              <a:tblGrid>
                <a:gridCol w="148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40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15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内容</a:t>
                      </a:r>
                    </a:p>
                  </a:txBody>
                  <a:tcPr marL="19061" marR="19061" marT="9530" marB="9530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15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预算</a:t>
                      </a:r>
                    </a:p>
                  </a:txBody>
                  <a:tcPr marL="19061" marR="19061" marT="9530" marB="9530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47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715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功能费用</a:t>
                      </a:r>
                    </a:p>
                  </a:txBody>
                  <a:tcPr marL="19061" marR="19061" marT="9530" marB="9530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715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xxx</a:t>
                      </a:r>
                      <a:r>
                        <a:rPr lang="zh-CN" altLang="en-US" sz="715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元</a:t>
                      </a:r>
                    </a:p>
                  </a:txBody>
                  <a:tcPr marL="19061" marR="19061" marT="9530" marB="9530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8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</a:pPr>
                      <a:r>
                        <a:rPr lang="zh-CN" altLang="en-US" sz="715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硬件采购</a:t>
                      </a:r>
                    </a:p>
                  </a:txBody>
                  <a:tcPr marL="19061" marR="19061" marT="9530" marB="9530" anchor="ctr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15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.225</a:t>
                      </a:r>
                      <a:r>
                        <a:rPr lang="zh-CN" altLang="en-US" sz="715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万元</a:t>
                      </a:r>
                    </a:p>
                  </a:txBody>
                  <a:tcPr marL="19061" marR="19061" marT="9530" marB="95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715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合计</a:t>
                      </a:r>
                    </a:p>
                  </a:txBody>
                  <a:tcPr marL="19061" marR="19061" marT="9530" marB="9530" anchor="ctr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715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xxx</a:t>
                      </a:r>
                      <a:r>
                        <a:rPr lang="zh-CN" altLang="en-US" sz="715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万元</a:t>
                      </a:r>
                    </a:p>
                  </a:txBody>
                  <a:tcPr marL="19061" marR="19061" marT="9530" marB="953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000000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2" name="美的数字化路径"/>
          <p:cNvSpPr txBox="1"/>
          <p:nvPr>
            <p:custDataLst>
              <p:tags r:id="rId5"/>
            </p:custDataLst>
          </p:nvPr>
        </p:nvSpPr>
        <p:spPr>
          <a:xfrm>
            <a:off x="381635" y="594995"/>
            <a:ext cx="9199880" cy="446405"/>
          </a:xfrm>
          <a:prstGeom prst="rect">
            <a:avLst/>
          </a:prstGeom>
          <a:ln w="12700">
            <a:miter lim="400000"/>
          </a:ln>
        </p:spPr>
        <p:txBody>
          <a:bodyPr lIns="50830" tIns="50830" rIns="50830" bIns="50830">
            <a:normAutofit/>
          </a:bodyPr>
          <a:lstStyle>
            <a:lvl1pPr marL="0" marR="0" indent="0" algn="ctr" defTabSz="166624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800" b="1" i="0" u="none" strike="noStrike" cap="none" spc="0" baseline="0">
                <a:ln>
                  <a:noFill/>
                </a:ln>
                <a:solidFill>
                  <a:srgbClr val="535353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  <a:lvl2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2pPr>
            <a:lvl3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3pPr>
            <a:lvl4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4pPr>
            <a:lvl5pPr marL="0" marR="0" indent="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5pPr>
            <a:lvl6pPr marL="0" marR="0" indent="3556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6pPr>
            <a:lvl7pPr marL="0" marR="0" indent="7112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7pPr>
            <a:lvl8pPr marL="0" marR="0" indent="10668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8pPr>
            <a:lvl9pPr marL="0" marR="0" indent="1422400" algn="ctr" defTabSz="8255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5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9pPr>
          </a:lstStyle>
          <a:p>
            <a:pPr lvl="0" algn="l" defTabSz="875030" fontAlgn="auto">
              <a:defRPr/>
            </a:pPr>
            <a:r>
              <a:rPr kumimoji="0" lang="zh-CN" altLang="en-US" sz="190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领域</a:t>
            </a:r>
            <a:r>
              <a:rPr kumimoji="0" lang="zh-CN" altLang="en-US" sz="1905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en-US" altLang="zh-CN" sz="1905" b="0" kern="0" dirty="0" smtClean="0">
                <a:solidFill>
                  <a:srgbClr val="D90612"/>
                </a:solidFill>
              </a:rPr>
              <a:t>XXX</a:t>
            </a:r>
            <a:r>
              <a:rPr lang="zh-CN" altLang="en-US" sz="1905" b="0" kern="0" dirty="0" smtClean="0">
                <a:solidFill>
                  <a:srgbClr val="D90612"/>
                </a:solidFill>
              </a:rPr>
              <a:t>业务领域</a:t>
            </a:r>
            <a:r>
              <a:rPr kumimoji="0" lang="en-US" altLang="zh-CN" sz="1905" b="0" i="0" u="none" strike="noStrike" kern="0" cap="none" spc="0" normalizeH="0" baseline="0" noProof="0" dirty="0">
                <a:ln>
                  <a:noFill/>
                </a:ln>
                <a:solidFill>
                  <a:srgbClr val="D9061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	</a:t>
            </a:r>
            <a:r>
              <a:rPr kumimoji="0" lang="zh-CN" altLang="en-US" sz="1905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项目名称</a:t>
            </a:r>
            <a:r>
              <a:rPr kumimoji="0" lang="zh-CN" altLang="en-US" sz="1905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kumimoji="0" lang="en-US" altLang="zh-CN" sz="1905" b="0" i="0" u="none" strike="noStrike" kern="0" cap="none" spc="0" normalizeH="0" baseline="0" dirty="0" smtClean="0">
                <a:ln>
                  <a:noFill/>
                </a:ln>
                <a:solidFill>
                  <a:srgbClr val="D9061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XXXX</a:t>
            </a:r>
            <a:r>
              <a:rPr kumimoji="0" lang="zh-CN" altLang="en-US" sz="1905" b="0" i="0" u="none" strike="noStrike" kern="0" cap="none" spc="0" normalizeH="0" baseline="0" dirty="0" smtClean="0">
                <a:ln>
                  <a:noFill/>
                </a:ln>
                <a:solidFill>
                  <a:srgbClr val="D9061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管理系统</a:t>
            </a:r>
            <a:r>
              <a:rPr lang="zh-CN" altLang="en-US" sz="1905" b="0" kern="0" dirty="0">
                <a:solidFill>
                  <a:srgbClr val="D90612"/>
                </a:solidFill>
              </a:rPr>
              <a:t>项目</a:t>
            </a:r>
          </a:p>
        </p:txBody>
      </p:sp>
      <p:graphicFrame>
        <p:nvGraphicFramePr>
          <p:cNvPr id="56" name="表格 5"/>
          <p:cNvGraphicFramePr>
            <a:graphicFrameLocks noGrp="1"/>
          </p:cNvGraphicFramePr>
          <p:nvPr/>
        </p:nvGraphicFramePr>
        <p:xfrm>
          <a:off x="8886825" y="5380355"/>
          <a:ext cx="2679065" cy="817245"/>
        </p:xfrm>
        <a:graphic>
          <a:graphicData uri="http://schemas.openxmlformats.org/drawingml/2006/table">
            <a:tbl>
              <a:tblPr firstRow="1" bandRow="1"/>
              <a:tblGrid>
                <a:gridCol w="132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3510"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里程碑</a:t>
                      </a:r>
                    </a:p>
                  </a:txBody>
                  <a:tcPr marL="21390" marR="21390" marT="10696" marB="10696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algn="ctr"/>
                      <a:r>
                        <a:rPr lang="zh-CN" altLang="en-US" sz="8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日期</a:t>
                      </a:r>
                    </a:p>
                  </a:txBody>
                  <a:tcPr marL="21390" marR="21390" marT="10696" marB="10696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910"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80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立项</a:t>
                      </a:r>
                    </a:p>
                  </a:txBody>
                  <a:tcPr marL="21390" marR="21390" marT="10696" marB="10696" anchor="ctr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endParaRPr lang="zh-CN" altLang="en-US" sz="800" i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1390" marR="21390" marT="10696" marB="10696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8910"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80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项目启动</a:t>
                      </a:r>
                    </a:p>
                  </a:txBody>
                  <a:tcPr marL="21390" marR="21390" marT="10696" marB="10696" anchor="ctr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endParaRPr lang="zh-CN" altLang="en-US" sz="800" i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1390" marR="21390" marT="10696" marB="10696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7640"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80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上线</a:t>
                      </a:r>
                    </a:p>
                  </a:txBody>
                  <a:tcPr marL="21390" marR="21390" marT="10696" marB="10696" anchor="ctr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endParaRPr lang="zh-CN" altLang="en-US" sz="800" i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1390" marR="21390" marT="10696" marB="10696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68275"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r>
                        <a:rPr lang="zh-CN" altLang="en-US" sz="800" i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验收</a:t>
                      </a:r>
                    </a:p>
                  </a:txBody>
                  <a:tcPr marL="21390" marR="21390" marT="10696" marB="10696" anchor="ctr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1pPr>
                      <a:lvl2pPr marL="914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2pPr>
                      <a:lvl3pPr marL="1828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3pPr>
                      <a:lvl4pPr marL="2743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4pPr>
                      <a:lvl5pPr marL="36576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5pPr>
                      <a:lvl6pPr marL="45720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6pPr>
                      <a:lvl7pPr marL="54864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7pPr>
                      <a:lvl8pPr marL="64008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8pPr>
                      <a:lvl9pPr marL="7315200" algn="l" defTabSz="1828800" rtl="0" eaLnBrk="1" latinLnBrk="0" hangingPunct="1">
                        <a:defRPr sz="3600" kern="1200">
                          <a:solidFill>
                            <a:schemeClr val="tx1"/>
                          </a:solidFill>
                          <a:latin typeface="Trebuchet MS" panose="020B0603020202020204"/>
                        </a:defRPr>
                      </a:lvl9pPr>
                    </a:lstStyle>
                    <a:p>
                      <a:pPr marL="0" algn="ctr" defTabSz="914400" rtl="0" eaLnBrk="1" latinLnBrk="0" hangingPunct="1"/>
                      <a:endParaRPr lang="zh-CN" altLang="en-US" sz="800" i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21390" marR="21390" marT="10696" marB="10696" anchor="ctr">
                    <a:lnL w="12700" cmpd="sng">
                      <a:solidFill>
                        <a:srgbClr val="000000"/>
                      </a:solidFill>
                    </a:lnL>
                    <a:lnR w="12700" cmpd="sng">
                      <a:solidFill>
                        <a:srgbClr val="000000"/>
                      </a:solidFill>
                    </a:lnR>
                    <a:lnT w="12700" cmpd="sng">
                      <a:solidFill>
                        <a:srgbClr val="000000"/>
                      </a:solidFill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11"/>
          <p:cNvSpPr/>
          <p:nvPr/>
        </p:nvSpPr>
        <p:spPr>
          <a:xfrm>
            <a:off x="417830" y="3261995"/>
            <a:ext cx="3672205" cy="1064895"/>
          </a:xfrm>
          <a:prstGeom prst="rect">
            <a:avLst/>
          </a:prstGeom>
          <a:noFill/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marR="0" lvl="0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9" name="TextBox 20"/>
          <p:cNvSpPr txBox="1"/>
          <p:nvPr/>
        </p:nvSpPr>
        <p:spPr>
          <a:xfrm>
            <a:off x="2994660" y="4458970"/>
            <a:ext cx="0" cy="0"/>
          </a:xfrm>
          <a:prstGeom prst="rect">
            <a:avLst/>
          </a:prstGeom>
          <a:noFill/>
          <a:ln cap="rnd">
            <a:noFill/>
            <a:prstDash val="sysDot"/>
          </a:ln>
        </p:spPr>
        <p:txBody>
          <a:bodyPr wrap="none" lIns="0" tIns="0" rIns="0" bIns="0" rtlCol="0" anchor="ctr" anchorCtr="0">
            <a:noAutofit/>
          </a:bodyPr>
          <a:lstStyle/>
          <a:p>
            <a:pPr marL="0" marR="0" lvl="0" indent="0" algn="l" defTabSz="21653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25" b="0" i="0" u="none" strike="noStrike" kern="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4" name="Rectangle 5"/>
          <p:cNvSpPr/>
          <p:nvPr/>
        </p:nvSpPr>
        <p:spPr>
          <a:xfrm>
            <a:off x="5320665" y="1108710"/>
            <a:ext cx="2045970" cy="803275"/>
          </a:xfrm>
          <a:prstGeom prst="rect">
            <a:avLst/>
          </a:prstGeom>
          <a:noFill/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marR="0" lvl="0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5" name="文本框 79"/>
          <p:cNvSpPr txBox="1"/>
          <p:nvPr/>
        </p:nvSpPr>
        <p:spPr>
          <a:xfrm>
            <a:off x="5674360" y="956916"/>
            <a:ext cx="1449070" cy="292735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来源企业</a:t>
            </a:r>
            <a:r>
              <a:rPr kumimoji="0" lang="en-US" altLang="zh-CN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/</a:t>
            </a:r>
            <a:r>
              <a:rPr kumimoji="0" lang="zh-CN" altLang="en-US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部门</a:t>
            </a:r>
          </a:p>
        </p:txBody>
      </p:sp>
      <p:sp>
        <p:nvSpPr>
          <p:cNvPr id="19" name="Rectangle 100"/>
          <p:cNvSpPr/>
          <p:nvPr/>
        </p:nvSpPr>
        <p:spPr>
          <a:xfrm>
            <a:off x="4201795" y="4521835"/>
            <a:ext cx="4473575" cy="1746250"/>
          </a:xfrm>
          <a:prstGeom prst="rect">
            <a:avLst/>
          </a:prstGeom>
          <a:noFill/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marR="0" lvl="0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0" name="文本框 84"/>
          <p:cNvSpPr txBox="1"/>
          <p:nvPr/>
        </p:nvSpPr>
        <p:spPr>
          <a:xfrm>
            <a:off x="5551170" y="4326255"/>
            <a:ext cx="2136775" cy="292735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实现内容</a:t>
            </a:r>
            <a:r>
              <a:rPr kumimoji="0" lang="en-US" altLang="zh-CN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/</a:t>
            </a:r>
            <a:r>
              <a:rPr kumimoji="0" lang="zh-CN" altLang="en-US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预期主要功能</a:t>
            </a:r>
          </a:p>
        </p:txBody>
      </p:sp>
      <p:sp>
        <p:nvSpPr>
          <p:cNvPr id="21" name="文本框 85"/>
          <p:cNvSpPr txBox="1"/>
          <p:nvPr/>
        </p:nvSpPr>
        <p:spPr>
          <a:xfrm>
            <a:off x="1729740" y="3108325"/>
            <a:ext cx="986790" cy="292735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业务现状</a:t>
            </a:r>
          </a:p>
        </p:txBody>
      </p:sp>
      <p:sp>
        <p:nvSpPr>
          <p:cNvPr id="40" name="Rectangle 5"/>
          <p:cNvSpPr/>
          <p:nvPr/>
        </p:nvSpPr>
        <p:spPr>
          <a:xfrm>
            <a:off x="7430135" y="1108710"/>
            <a:ext cx="1778000" cy="803275"/>
          </a:xfrm>
          <a:prstGeom prst="rect">
            <a:avLst/>
          </a:prstGeom>
          <a:noFill/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marR="0" lvl="0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41" name="文本框 80"/>
          <p:cNvSpPr txBox="1"/>
          <p:nvPr/>
        </p:nvSpPr>
        <p:spPr>
          <a:xfrm>
            <a:off x="7759065" y="956916"/>
            <a:ext cx="1179830" cy="292735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310" b="1" kern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可行</a:t>
            </a:r>
            <a:r>
              <a:rPr lang="zh-CN" altLang="en-US" sz="1310" b="1" kern="0" noProof="0" dirty="0">
                <a:solidFill>
                  <a:sysClr val="windowText" lastClr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性</a:t>
            </a:r>
            <a:r>
              <a:rPr kumimoji="0" lang="zh-CN" altLang="en-US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评估</a:t>
            </a:r>
          </a:p>
        </p:txBody>
      </p:sp>
      <p:sp>
        <p:nvSpPr>
          <p:cNvPr id="42" name="Rectangle 114"/>
          <p:cNvSpPr/>
          <p:nvPr/>
        </p:nvSpPr>
        <p:spPr>
          <a:xfrm>
            <a:off x="7593965" y="1236980"/>
            <a:ext cx="1614170" cy="64262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4D6D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 anchorCtr="0">
            <a:spAutoFit/>
          </a:bodyPr>
          <a:lstStyle/>
          <a:p>
            <a:pPr marL="120015" marR="0" lvl="1" indent="-72390" algn="l" defTabSz="480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1C3D">
                  <a:lumMod val="100000"/>
                </a:srgbClr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zh-CN" altLang="en-US" sz="107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必要性：</a:t>
            </a:r>
            <a:r>
              <a:rPr kumimoji="0" lang="en-US" altLang="zh-CN" sz="107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x</a:t>
            </a:r>
            <a:endParaRPr kumimoji="0" lang="en-GB" altLang="zh-CN" sz="107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 panose="02000503000000020004"/>
            </a:endParaRPr>
          </a:p>
          <a:p>
            <a:pPr marL="120015" lvl="1" indent="-72390" defTabSz="480060" fontAlgn="auto">
              <a:spcBef>
                <a:spcPts val="0"/>
              </a:spcBef>
              <a:spcAft>
                <a:spcPts val="0"/>
              </a:spcAft>
              <a:buClr>
                <a:srgbClr val="BE1C3D">
                  <a:lumMod val="100000"/>
                </a:srgbClr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zh-CN" altLang="en-US" sz="1070" kern="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可行性：</a:t>
            </a:r>
            <a:r>
              <a:rPr lang="en-US" altLang="zh-CN" sz="1070" kern="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x</a:t>
            </a:r>
          </a:p>
          <a:p>
            <a:pPr marL="120015" marR="0" lvl="1" indent="-72390" algn="l" defTabSz="48006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1C3D">
                  <a:lumMod val="100000"/>
                </a:srgbClr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zh-CN" altLang="en-US" sz="1070" kern="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价值度</a:t>
            </a:r>
            <a:r>
              <a:rPr kumimoji="0" lang="zh-CN" altLang="en-US" sz="107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：</a:t>
            </a:r>
            <a:r>
              <a:rPr kumimoji="0" lang="en-US" altLang="zh-CN" sz="107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x</a:t>
            </a:r>
            <a:endParaRPr kumimoji="0" lang="en-GB" altLang="zh-CN" sz="107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 panose="02000503000000020004"/>
            </a:endParaRPr>
          </a:p>
          <a:p>
            <a:pPr marL="47625" lvl="1" defTabSz="480060" fontAlgn="auto">
              <a:spcBef>
                <a:spcPts val="0"/>
              </a:spcBef>
              <a:spcAft>
                <a:spcPts val="0"/>
              </a:spcAft>
              <a:buClr>
                <a:srgbClr val="BE1C3D">
                  <a:lumMod val="100000"/>
                </a:srgbClr>
              </a:buClr>
              <a:buSzPct val="100000"/>
              <a:defRPr/>
            </a:pPr>
            <a:r>
              <a:rPr lang="en-US" altLang="zh-CN" sz="980" kern="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*</a:t>
            </a:r>
            <a:r>
              <a:rPr lang="zh-CN" altLang="en-US" sz="980" kern="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分数（</a:t>
            </a:r>
            <a:r>
              <a:rPr lang="en-US" altLang="zh-CN" sz="980" kern="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1-5 | 5</a:t>
            </a:r>
            <a:r>
              <a:rPr lang="zh-CN" altLang="en-US" sz="980" kern="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分满分）</a:t>
            </a:r>
            <a:endParaRPr kumimoji="0" lang="en-GB" altLang="zh-CN" sz="98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 panose="02000503000000020004"/>
            </a:endParaRPr>
          </a:p>
        </p:txBody>
      </p:sp>
      <p:sp>
        <p:nvSpPr>
          <p:cNvPr id="45" name="Rectangle 11"/>
          <p:cNvSpPr/>
          <p:nvPr/>
        </p:nvSpPr>
        <p:spPr>
          <a:xfrm>
            <a:off x="417830" y="4521200"/>
            <a:ext cx="3679190" cy="1706880"/>
          </a:xfrm>
          <a:prstGeom prst="rect">
            <a:avLst/>
          </a:prstGeom>
          <a:noFill/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lvl="1" defTabSz="216535" fontAlgn="auto">
              <a:spcBef>
                <a:spcPts val="600"/>
              </a:spcBef>
              <a:spcAft>
                <a:spcPts val="0"/>
              </a:spcAft>
              <a:buClr>
                <a:srgbClr val="BE1C3D"/>
              </a:buClr>
              <a:buSzPct val="100000"/>
              <a:defRPr/>
            </a:pPr>
            <a:endParaRPr lang="zh-CN" altLang="en-US" sz="95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6" name="文本框 85"/>
          <p:cNvSpPr txBox="1"/>
          <p:nvPr/>
        </p:nvSpPr>
        <p:spPr>
          <a:xfrm>
            <a:off x="1729740" y="4416425"/>
            <a:ext cx="986790" cy="292735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系统现状</a:t>
            </a:r>
          </a:p>
        </p:txBody>
      </p:sp>
      <p:sp>
        <p:nvSpPr>
          <p:cNvPr id="49" name="Rectangle 56"/>
          <p:cNvSpPr/>
          <p:nvPr/>
        </p:nvSpPr>
        <p:spPr>
          <a:xfrm>
            <a:off x="398780" y="2075180"/>
            <a:ext cx="8277225" cy="1007110"/>
          </a:xfrm>
          <a:prstGeom prst="rect">
            <a:avLst/>
          </a:prstGeom>
          <a:noFill/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marR="0" lvl="0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50" name="文本框 86"/>
          <p:cNvSpPr txBox="1"/>
          <p:nvPr/>
        </p:nvSpPr>
        <p:spPr>
          <a:xfrm>
            <a:off x="4089400" y="1942465"/>
            <a:ext cx="2049780" cy="292735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用户洞察</a:t>
            </a:r>
            <a:r>
              <a:rPr kumimoji="0" lang="en-US" altLang="zh-CN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/</a:t>
            </a:r>
            <a:r>
              <a:rPr kumimoji="0" lang="zh-CN" altLang="en-US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Helvetica Neue" panose="02000503000000020004"/>
              </a:rPr>
              <a:t>业务痛点</a:t>
            </a:r>
          </a:p>
        </p:txBody>
      </p:sp>
      <p:sp>
        <p:nvSpPr>
          <p:cNvPr id="61" name="Rectangle 1"/>
          <p:cNvSpPr/>
          <p:nvPr/>
        </p:nvSpPr>
        <p:spPr>
          <a:xfrm>
            <a:off x="398780" y="1108710"/>
            <a:ext cx="1461770" cy="803275"/>
          </a:xfrm>
          <a:prstGeom prst="rect">
            <a:avLst/>
          </a:prstGeom>
          <a:noFill/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marR="0" lvl="0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62" name="TextBox 3"/>
          <p:cNvSpPr txBox="1"/>
          <p:nvPr/>
        </p:nvSpPr>
        <p:spPr>
          <a:xfrm>
            <a:off x="497205" y="1180465"/>
            <a:ext cx="1605915" cy="70866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txBody>
          <a:bodyPr rot="0" spcFirstLastPara="0" vertOverflow="overflow" horzOverflow="overflow" vert="horz" wrap="square" lIns="19745" tIns="9873" rIns="19745" bIns="9873" numCol="1" spcCol="0" rtlCol="0" fromWordArt="0" anchor="ctr" anchorCtr="0" forceAA="0" compatLnSpc="1">
            <a:noAutofit/>
          </a:bodyPr>
          <a:lstStyle/>
          <a:p>
            <a:pPr marL="113665" lvl="0" indent="-113665" defTabSz="18034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1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新建项目：√</a:t>
            </a:r>
          </a:p>
          <a:p>
            <a:pPr marL="113665" lvl="0" indent="-113665" defTabSz="18034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1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改造项目：</a:t>
            </a:r>
          </a:p>
          <a:p>
            <a:pPr marL="113665" lvl="0" indent="-113665" algn="l" defTabSz="18034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创新项目：</a:t>
            </a:r>
          </a:p>
        </p:txBody>
      </p:sp>
      <p:sp>
        <p:nvSpPr>
          <p:cNvPr id="63" name="文本框 87"/>
          <p:cNvSpPr txBox="1"/>
          <p:nvPr/>
        </p:nvSpPr>
        <p:spPr>
          <a:xfrm>
            <a:off x="614045" y="956916"/>
            <a:ext cx="948055" cy="283210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lvl="0" algn="ctr" defTabSz="21653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5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项目性质</a:t>
            </a:r>
            <a:endParaRPr kumimoji="0" lang="zh-CN" altLang="en-US" sz="125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 panose="02000503000000020004"/>
            </a:endParaRPr>
          </a:p>
        </p:txBody>
      </p:sp>
      <p:sp>
        <p:nvSpPr>
          <p:cNvPr id="64" name="Rectangle 1"/>
          <p:cNvSpPr/>
          <p:nvPr/>
        </p:nvSpPr>
        <p:spPr>
          <a:xfrm>
            <a:off x="3427095" y="1108710"/>
            <a:ext cx="1842135" cy="803275"/>
          </a:xfrm>
          <a:prstGeom prst="rect">
            <a:avLst/>
          </a:prstGeom>
          <a:noFill/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marR="0" lvl="0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66" name="TextBox 3"/>
          <p:cNvSpPr txBox="1"/>
          <p:nvPr/>
        </p:nvSpPr>
        <p:spPr>
          <a:xfrm>
            <a:off x="3464560" y="1176655"/>
            <a:ext cx="1634490" cy="70866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txBody>
          <a:bodyPr rot="0" spcFirstLastPara="0" vertOverflow="overflow" horzOverflow="overflow" vert="horz" wrap="square" lIns="19745" tIns="9873" rIns="19745" bIns="9873" numCol="1" spcCol="0" rtlCol="0" fromWordArt="0" anchor="ctr" anchorCtr="0" forceAA="0" compatLnSpc="1">
            <a:noAutofit/>
          </a:bodyPr>
          <a:lstStyle/>
          <a:p>
            <a:pPr marL="113665" lvl="0" indent="-113665" defTabSz="18034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107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</a:t>
            </a:r>
            <a:r>
              <a:rPr lang="en-US" altLang="zh-CN" sz="107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07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否</a:t>
            </a:r>
            <a:endParaRPr lang="en-US" altLang="zh-CN" sz="107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113665" lvl="0" indent="-113665" defTabSz="18034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107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</a:t>
            </a:r>
          </a:p>
          <a:p>
            <a:pPr marL="113665" lvl="0" indent="-113665" defTabSz="18034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endParaRPr lang="zh-CN" altLang="en-US" sz="980" i="1" kern="0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7" name="文本框 88"/>
          <p:cNvSpPr txBox="1"/>
          <p:nvPr>
            <p:custDataLst>
              <p:tags r:id="rId6"/>
            </p:custDataLst>
          </p:nvPr>
        </p:nvSpPr>
        <p:spPr>
          <a:xfrm>
            <a:off x="527050" y="2167255"/>
            <a:ext cx="8037830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fontAlgn="ctr"/>
            <a:r>
              <a:rPr lang="en-US" altLang="zh-CN" sz="96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</a:t>
            </a:r>
          </a:p>
        </p:txBody>
      </p:sp>
      <p:sp>
        <p:nvSpPr>
          <p:cNvPr id="86" name="文本框 88"/>
          <p:cNvSpPr txBox="1"/>
          <p:nvPr>
            <p:custDataLst>
              <p:tags r:id="rId7"/>
            </p:custDataLst>
          </p:nvPr>
        </p:nvSpPr>
        <p:spPr>
          <a:xfrm>
            <a:off x="398145" y="3353435"/>
            <a:ext cx="3570605" cy="973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algn="l" fontAlgn="ctr"/>
            <a:r>
              <a:rPr lang="en-US" altLang="zh-CN" sz="950" dirty="0"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...</a:t>
            </a:r>
          </a:p>
        </p:txBody>
      </p:sp>
      <p:sp>
        <p:nvSpPr>
          <p:cNvPr id="87" name="文本框 88"/>
          <p:cNvSpPr txBox="1"/>
          <p:nvPr>
            <p:custDataLst>
              <p:tags r:id="rId8"/>
            </p:custDataLst>
          </p:nvPr>
        </p:nvSpPr>
        <p:spPr>
          <a:xfrm>
            <a:off x="4158615" y="4640580"/>
            <a:ext cx="4565015" cy="1623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noAutofit/>
          </a:bodyPr>
          <a:lstStyle/>
          <a:p>
            <a:pPr marL="0" marR="0" lvl="1" indent="0" algn="l" defTabSz="216535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BE1C3D"/>
              </a:buClr>
              <a:buSzPct val="100000"/>
              <a:buFont typeface="+mj-lt"/>
              <a:buNone/>
              <a:defRPr/>
            </a:pPr>
            <a:r>
              <a:rPr lang="en-US" altLang="zh-CN" sz="1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...</a:t>
            </a:r>
          </a:p>
        </p:txBody>
      </p:sp>
      <p:sp>
        <p:nvSpPr>
          <p:cNvPr id="51" name="TextBox 7"/>
          <p:cNvSpPr txBox="1"/>
          <p:nvPr>
            <p:custDataLst>
              <p:tags r:id="rId9"/>
            </p:custDataLst>
          </p:nvPr>
        </p:nvSpPr>
        <p:spPr>
          <a:xfrm>
            <a:off x="5445125" y="1275715"/>
            <a:ext cx="1837055" cy="556260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4D6D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 anchorCtr="0">
            <a:noAutofit/>
          </a:bodyPr>
          <a:lstStyle>
            <a:defPPr>
              <a:defRPr lang="en-US"/>
            </a:defPPr>
            <a:lvl2pPr marL="228600" lvl="1" indent="-138430">
              <a:buClr>
                <a:schemeClr val="tx2">
                  <a:lumMod val="100000"/>
                </a:schemeClr>
              </a:buClr>
              <a:buSzPct val="100000"/>
              <a:buFont typeface="Arial" panose="020B0604020202020204" pitchFamily="34" charset="0"/>
              <a:buChar char="•"/>
              <a:defRPr sz="1200">
                <a:solidFill>
                  <a:schemeClr val="tx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</a:lstStyle>
          <a:p>
            <a:pPr defTabSz="21653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5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广</a:t>
            </a:r>
            <a:r>
              <a:rPr lang="en-US" altLang="zh-CN" sz="95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xxx</a:t>
            </a:r>
            <a:r>
              <a:rPr lang="zh-CN" altLang="en-US" sz="95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企业：</a:t>
            </a:r>
            <a:r>
              <a:rPr lang="en-US" altLang="zh-CN" sz="95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XXX</a:t>
            </a:r>
            <a:r>
              <a:rPr lang="zh-CN" altLang="en-US" sz="95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部</a:t>
            </a:r>
            <a:endParaRPr lang="en-US" altLang="zh-CN" sz="955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 panose="02000503000000020004"/>
            </a:endParaRPr>
          </a:p>
          <a:p>
            <a:pPr lvl="0" defTabSz="216535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95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联络人：</a:t>
            </a:r>
            <a:r>
              <a:rPr lang="en-US" altLang="zh-CN" sz="955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xxx</a:t>
            </a:r>
          </a:p>
        </p:txBody>
      </p:sp>
      <p:sp>
        <p:nvSpPr>
          <p:cNvPr id="3" name="Rectangle 5"/>
          <p:cNvSpPr/>
          <p:nvPr/>
        </p:nvSpPr>
        <p:spPr>
          <a:xfrm>
            <a:off x="4204335" y="3261995"/>
            <a:ext cx="4472940" cy="1064260"/>
          </a:xfrm>
          <a:prstGeom prst="rect">
            <a:avLst/>
          </a:prstGeom>
          <a:noFill/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marR="0" lvl="0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12" name="文本框 80"/>
          <p:cNvSpPr txBox="1"/>
          <p:nvPr/>
        </p:nvSpPr>
        <p:spPr>
          <a:xfrm>
            <a:off x="5740400" y="3108325"/>
            <a:ext cx="1398905" cy="292735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0" marR="0" lvl="0" indent="0" algn="ctr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1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Helvetica Neue" panose="02000503000000020004"/>
              </a:rPr>
              <a:t>项目目标</a:t>
            </a:r>
          </a:p>
        </p:txBody>
      </p:sp>
      <p:sp>
        <p:nvSpPr>
          <p:cNvPr id="13" name="Rectangle 114"/>
          <p:cNvSpPr/>
          <p:nvPr/>
        </p:nvSpPr>
        <p:spPr>
          <a:xfrm>
            <a:off x="4204335" y="3380105"/>
            <a:ext cx="4471035" cy="715645"/>
          </a:xfrm>
          <a:prstGeom prst="rect">
            <a:avLst/>
          </a:prstGeom>
          <a:noFill/>
          <a:ln w="9525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4D6D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prstDash val="solid"/>
              </a14:hiddenLine>
            </a:ext>
          </a:extLst>
        </p:spPr>
        <p:txBody>
          <a:bodyPr wrap="square" lIns="0" tIns="0" rIns="0" bIns="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50" b="0" i="0" u="none" strike="noStrike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...</a:t>
            </a:r>
          </a:p>
        </p:txBody>
      </p:sp>
      <p:sp>
        <p:nvSpPr>
          <p:cNvPr id="65" name="文本框 87"/>
          <p:cNvSpPr txBox="1"/>
          <p:nvPr/>
        </p:nvSpPr>
        <p:spPr>
          <a:xfrm>
            <a:off x="3820160" y="956945"/>
            <a:ext cx="1252855" cy="283210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lvl="0" algn="ctr" defTabSz="21653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5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是否</a:t>
            </a:r>
            <a:r>
              <a:rPr lang="en-US" altLang="zh-CN" sz="125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X12</a:t>
            </a:r>
            <a:r>
              <a:rPr lang="zh-CN" altLang="en-US" sz="125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</a:t>
            </a:r>
            <a:endParaRPr kumimoji="0" lang="zh-CN" altLang="en-US" sz="125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 panose="02000503000000020004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98780" y="4659630"/>
            <a:ext cx="3670935" cy="1528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9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...</a:t>
            </a:r>
          </a:p>
        </p:txBody>
      </p:sp>
      <p:sp>
        <p:nvSpPr>
          <p:cNvPr id="23" name="Rectangle 1"/>
          <p:cNvSpPr/>
          <p:nvPr/>
        </p:nvSpPr>
        <p:spPr>
          <a:xfrm>
            <a:off x="1934210" y="1113790"/>
            <a:ext cx="1431290" cy="803275"/>
          </a:xfrm>
          <a:prstGeom prst="rect">
            <a:avLst/>
          </a:prstGeom>
          <a:noFill/>
          <a:ln w="15875" cap="flat" cmpd="sng" algn="ctr">
            <a:solidFill>
              <a:srgbClr val="BE1C3D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tIns="19434" bIns="19434" rtlCol="0" anchor="ctr" anchorCtr="0"/>
          <a:lstStyle/>
          <a:p>
            <a:pPr marL="0" marR="0" lvl="0" indent="0" algn="l" defTabSz="2165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微软雅黑" panose="020B0503020204020204" pitchFamily="34" charset="-122"/>
            </a:endParaRPr>
          </a:p>
        </p:txBody>
      </p:sp>
      <p:sp>
        <p:nvSpPr>
          <p:cNvPr id="24" name="TextBox 3"/>
          <p:cNvSpPr txBox="1"/>
          <p:nvPr/>
        </p:nvSpPr>
        <p:spPr>
          <a:xfrm>
            <a:off x="1985645" y="1185545"/>
            <a:ext cx="1257300" cy="708660"/>
          </a:xfrm>
          <a:prstGeom prst="rect">
            <a:avLst/>
          </a:prstGeom>
          <a:noFill/>
          <a:ln w="9525" cap="rnd" cmpd="sng" algn="ctr">
            <a:noFill/>
            <a:prstDash val="solid"/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29BA74"/>
                </a:solidFill>
              </a14:hiddenFill>
            </a:ext>
          </a:extLst>
        </p:spPr>
        <p:txBody>
          <a:bodyPr rot="0" spcFirstLastPara="0" vertOverflow="overflow" horzOverflow="overflow" vert="horz" wrap="square" lIns="19745" tIns="9873" rIns="19745" bIns="9873" numCol="1" spcCol="0" rtlCol="0" fromWordArt="0" anchor="ctr" anchorCtr="0" forceAA="0" compatLnSpc="1">
            <a:noAutofit/>
          </a:bodyPr>
          <a:lstStyle/>
          <a:p>
            <a:pPr marL="113665" lvl="0" indent="-113665" defTabSz="18034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1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系统类：√</a:t>
            </a:r>
          </a:p>
          <a:p>
            <a:pPr marL="113665" lvl="0" indent="-113665" defTabSz="18034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1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资源类：</a:t>
            </a:r>
          </a:p>
          <a:p>
            <a:pPr marL="113665" lvl="0" indent="-113665" algn="l" defTabSz="180340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0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咨询类：</a:t>
            </a:r>
          </a:p>
        </p:txBody>
      </p:sp>
      <p:sp>
        <p:nvSpPr>
          <p:cNvPr id="25" name="文本框 87"/>
          <p:cNvSpPr txBox="1"/>
          <p:nvPr/>
        </p:nvSpPr>
        <p:spPr>
          <a:xfrm>
            <a:off x="2243455" y="963901"/>
            <a:ext cx="948055" cy="283210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lvl="0" algn="ctr" defTabSz="216535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250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项目类别</a:t>
            </a:r>
            <a:endParaRPr kumimoji="0" lang="zh-CN" altLang="en-US" sz="125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Helvetica Neue" panose="02000503000000020004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 txBox="1"/>
          <p:nvPr/>
        </p:nvSpPr>
        <p:spPr>
          <a:xfrm>
            <a:off x="446943" y="205093"/>
            <a:ext cx="11299432" cy="35394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FFFFCC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一、项目背景</a:t>
            </a:r>
          </a:p>
        </p:txBody>
      </p:sp>
      <p:sp>
        <p:nvSpPr>
          <p:cNvPr id="5" name="矩形 4"/>
          <p:cNvSpPr/>
          <p:nvPr/>
        </p:nvSpPr>
        <p:spPr>
          <a:xfrm>
            <a:off x="1115646" y="704431"/>
            <a:ext cx="1527982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44500">
              <a:lnSpc>
                <a:spcPct val="90000"/>
              </a:lnSpc>
              <a:spcAft>
                <a:spcPct val="35000"/>
              </a:spcAft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定位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220019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 txBox="1"/>
          <p:nvPr/>
        </p:nvSpPr>
        <p:spPr>
          <a:xfrm>
            <a:off x="446943" y="205093"/>
            <a:ext cx="11299432" cy="35394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FFFFCC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一、项目背景</a:t>
            </a:r>
          </a:p>
        </p:txBody>
      </p:sp>
      <p:sp>
        <p:nvSpPr>
          <p:cNvPr id="5" name="矩形 4"/>
          <p:cNvSpPr/>
          <p:nvPr/>
        </p:nvSpPr>
        <p:spPr>
          <a:xfrm>
            <a:off x="1115646" y="704431"/>
            <a:ext cx="1527982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44500">
              <a:lnSpc>
                <a:spcPct val="90000"/>
              </a:lnSpc>
              <a:spcAft>
                <a:spcPct val="35000"/>
              </a:spcAft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建设里程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1957947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 txBox="1"/>
          <p:nvPr/>
        </p:nvSpPr>
        <p:spPr>
          <a:xfrm>
            <a:off x="446943" y="205093"/>
            <a:ext cx="11299432" cy="35394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rgbClr val="FFFFCC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一、项目背景</a:t>
            </a:r>
          </a:p>
        </p:txBody>
      </p:sp>
      <p:sp>
        <p:nvSpPr>
          <p:cNvPr id="5" name="矩形 4"/>
          <p:cNvSpPr/>
          <p:nvPr/>
        </p:nvSpPr>
        <p:spPr>
          <a:xfrm>
            <a:off x="1115646" y="704431"/>
            <a:ext cx="1527982" cy="3416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defTabSz="444500">
              <a:lnSpc>
                <a:spcPct val="90000"/>
              </a:lnSpc>
              <a:spcAft>
                <a:spcPct val="35000"/>
              </a:spcAft>
            </a:pPr>
            <a:r>
              <a:rPr lang="en-US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使用情况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49577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 noGrp="1"/>
          </p:cNvSpPr>
          <p:nvPr>
            <p:ph type="title"/>
          </p:nvPr>
        </p:nvSpPr>
        <p:spPr>
          <a:xfrm>
            <a:off x="414216" y="209092"/>
            <a:ext cx="11299432" cy="353945"/>
          </a:xfrm>
          <a:noFill/>
        </p:spPr>
        <p:txBody>
          <a:bodyPr vert="horz" lIns="0" tIns="0" rIns="0" bIns="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FFFF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二、主要内容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336192" y="618716"/>
            <a:ext cx="68005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</a:rPr>
              <a:t>2.1</a:t>
            </a:r>
            <a:r>
              <a:rPr lang="zh-CN" altLang="en-US" sz="2000" dirty="0">
                <a:latin typeface="+mn-ea"/>
              </a:rPr>
              <a:t> 洞察客户需求</a:t>
            </a:r>
          </a:p>
        </p:txBody>
      </p:sp>
    </p:spTree>
    <p:extLst>
      <p:ext uri="{BB962C8B-B14F-4D97-AF65-F5344CB8AC3E}">
        <p14:creationId xmlns:p14="http://schemas.microsoft.com/office/powerpoint/2010/main" val="704027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6192" y="618716"/>
            <a:ext cx="98215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4"/>
            <a:r>
              <a:rPr lang="en-US" altLang="zh-CN" sz="2000" dirty="0">
                <a:latin typeface="+mn-ea"/>
              </a:rPr>
              <a:t>2.2</a:t>
            </a:r>
            <a:r>
              <a:rPr lang="zh-CN" altLang="en-US" sz="2000" dirty="0">
                <a:latin typeface="+mn-ea"/>
              </a:rPr>
              <a:t> 描绘理想状态和现状</a:t>
            </a:r>
            <a:endParaRPr lang="en-US" altLang="zh-CN" sz="2000" dirty="0">
              <a:latin typeface="+mn-ea"/>
            </a:endParaRPr>
          </a:p>
          <a:p>
            <a:endParaRPr lang="zh-CN" altLang="en-US" sz="2000" dirty="0">
              <a:latin typeface="+mn-ea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446943" y="205093"/>
            <a:ext cx="11299432" cy="353945"/>
          </a:xfrm>
          <a:prstGeom prst="rect">
            <a:avLst/>
          </a:prstGeom>
          <a:noFill/>
        </p:spPr>
        <p:txBody>
          <a:bodyPr vert="horz" lIns="0" tIns="0" rIns="0" bIns="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FFFF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二、主要内容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36192" y="618716"/>
            <a:ext cx="98215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  <a:sym typeface="+mn-ea"/>
              </a:rPr>
              <a:t>2.3</a:t>
            </a:r>
            <a:r>
              <a:rPr lang="zh-CN" altLang="en-US" sz="2000" dirty="0">
                <a:latin typeface="+mn-ea"/>
                <a:sym typeface="+mn-ea"/>
              </a:rPr>
              <a:t> 问题分解和确定目标</a:t>
            </a:r>
            <a:endParaRPr lang="zh-CN" altLang="en-US" sz="2000" dirty="0">
              <a:latin typeface="+mn-ea"/>
            </a:endParaRPr>
          </a:p>
        </p:txBody>
      </p:sp>
      <p:sp>
        <p:nvSpPr>
          <p:cNvPr id="5" name="标题 1"/>
          <p:cNvSpPr txBox="1"/>
          <p:nvPr/>
        </p:nvSpPr>
        <p:spPr>
          <a:xfrm>
            <a:off x="446943" y="205093"/>
            <a:ext cx="11299432" cy="353945"/>
          </a:xfrm>
          <a:prstGeom prst="rect">
            <a:avLst/>
          </a:prstGeom>
          <a:noFill/>
        </p:spPr>
        <p:txBody>
          <a:bodyPr vert="horz" lIns="0" tIns="0" rIns="0" bIns="0" rtlCol="0" anchor="b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FFFF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sz="2800" dirty="0">
                <a:solidFill>
                  <a:schemeClr val="tx1"/>
                </a:solidFill>
                <a:sym typeface="+mn-ea"/>
              </a:rPr>
              <a:t>二、主要内容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文本框 155"/>
          <p:cNvSpPr txBox="1"/>
          <p:nvPr/>
        </p:nvSpPr>
        <p:spPr>
          <a:xfrm>
            <a:off x="348895" y="510098"/>
            <a:ext cx="98215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2.4 </a:t>
            </a:r>
            <a:r>
              <a:rPr lang="zh-CN" altLang="en-US" sz="2000" dirty="0"/>
              <a:t>建设规划</a:t>
            </a:r>
          </a:p>
        </p:txBody>
      </p:sp>
      <p:sp>
        <p:nvSpPr>
          <p:cNvPr id="114" name="标题 1"/>
          <p:cNvSpPr>
            <a:spLocks noGrp="1"/>
          </p:cNvSpPr>
          <p:nvPr>
            <p:ph type="title"/>
          </p:nvPr>
        </p:nvSpPr>
        <p:spPr>
          <a:xfrm>
            <a:off x="446284" y="126984"/>
            <a:ext cx="11299432" cy="353945"/>
          </a:xfrm>
          <a:noFill/>
        </p:spPr>
        <p:txBody>
          <a:bodyPr>
            <a:noAutofit/>
          </a:bodyPr>
          <a:lstStyle/>
          <a:p>
            <a:r>
              <a:rPr lang="zh-CN" altLang="en-US" sz="2800" dirty="0"/>
              <a:t>二、主要内容</a:t>
            </a:r>
          </a:p>
        </p:txBody>
      </p:sp>
      <p:sp>
        <p:nvSpPr>
          <p:cNvPr id="5" name="矩形 4"/>
          <p:cNvSpPr/>
          <p:nvPr/>
        </p:nvSpPr>
        <p:spPr>
          <a:xfrm>
            <a:off x="637093" y="964613"/>
            <a:ext cx="99643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）业务场景对应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257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文本框 155"/>
          <p:cNvSpPr txBox="1"/>
          <p:nvPr/>
        </p:nvSpPr>
        <p:spPr>
          <a:xfrm>
            <a:off x="348895" y="510098"/>
            <a:ext cx="98215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2.4 </a:t>
            </a:r>
            <a:r>
              <a:rPr lang="zh-CN" altLang="en-US" sz="2000" dirty="0"/>
              <a:t>建设规划</a:t>
            </a:r>
          </a:p>
        </p:txBody>
      </p:sp>
      <p:sp>
        <p:nvSpPr>
          <p:cNvPr id="114" name="标题 1"/>
          <p:cNvSpPr>
            <a:spLocks noGrp="1"/>
          </p:cNvSpPr>
          <p:nvPr>
            <p:ph type="title"/>
          </p:nvPr>
        </p:nvSpPr>
        <p:spPr>
          <a:xfrm>
            <a:off x="446284" y="126984"/>
            <a:ext cx="11299432" cy="353945"/>
          </a:xfrm>
          <a:noFill/>
        </p:spPr>
        <p:txBody>
          <a:bodyPr>
            <a:noAutofit/>
          </a:bodyPr>
          <a:lstStyle/>
          <a:p>
            <a:r>
              <a:rPr lang="zh-CN" altLang="en-US" sz="2800" dirty="0"/>
              <a:t>二、主要内容</a:t>
            </a:r>
          </a:p>
        </p:txBody>
      </p:sp>
      <p:sp>
        <p:nvSpPr>
          <p:cNvPr id="5" name="矩形 4"/>
          <p:cNvSpPr/>
          <p:nvPr/>
        </p:nvSpPr>
        <p:spPr>
          <a:xfrm>
            <a:off x="637093" y="984430"/>
            <a:ext cx="996436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en-US" sz="1600" b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）应用</a:t>
            </a: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架构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56908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文本框 155"/>
          <p:cNvSpPr txBox="1"/>
          <p:nvPr/>
        </p:nvSpPr>
        <p:spPr>
          <a:xfrm>
            <a:off x="348895" y="510098"/>
            <a:ext cx="98215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2.4 </a:t>
            </a:r>
            <a:r>
              <a:rPr lang="zh-CN" altLang="en-US" sz="2000" dirty="0"/>
              <a:t>建设规划</a:t>
            </a:r>
          </a:p>
        </p:txBody>
      </p:sp>
      <p:sp>
        <p:nvSpPr>
          <p:cNvPr id="114" name="标题 1"/>
          <p:cNvSpPr>
            <a:spLocks noGrp="1"/>
          </p:cNvSpPr>
          <p:nvPr>
            <p:ph type="title"/>
          </p:nvPr>
        </p:nvSpPr>
        <p:spPr>
          <a:xfrm>
            <a:off x="446284" y="126984"/>
            <a:ext cx="11299432" cy="353945"/>
          </a:xfrm>
          <a:noFill/>
        </p:spPr>
        <p:txBody>
          <a:bodyPr>
            <a:noAutofit/>
          </a:bodyPr>
          <a:lstStyle/>
          <a:p>
            <a:r>
              <a:rPr lang="zh-CN" altLang="en-US" sz="2800" dirty="0"/>
              <a:t>二、主要内容</a:t>
            </a:r>
          </a:p>
        </p:txBody>
      </p:sp>
      <p:sp>
        <p:nvSpPr>
          <p:cNvPr id="119" name="矩形 118"/>
          <p:cNvSpPr/>
          <p:nvPr/>
        </p:nvSpPr>
        <p:spPr>
          <a:xfrm>
            <a:off x="950782" y="941226"/>
            <a:ext cx="10742944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kumimoji="0" lang="en-US" altLang="zh-CN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</a:t>
            </a:r>
            <a:r>
              <a:rPr kumimoji="0" lang="zh-CN" alt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）技术架构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4848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文本框 155"/>
          <p:cNvSpPr txBox="1"/>
          <p:nvPr/>
        </p:nvSpPr>
        <p:spPr>
          <a:xfrm>
            <a:off x="348895" y="510098"/>
            <a:ext cx="98215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2.4 </a:t>
            </a:r>
            <a:r>
              <a:rPr lang="zh-CN" altLang="en-US" sz="2000" dirty="0"/>
              <a:t>建设规划</a:t>
            </a:r>
          </a:p>
        </p:txBody>
      </p:sp>
      <p:sp>
        <p:nvSpPr>
          <p:cNvPr id="114" name="标题 1"/>
          <p:cNvSpPr>
            <a:spLocks noGrp="1"/>
          </p:cNvSpPr>
          <p:nvPr>
            <p:ph type="title"/>
          </p:nvPr>
        </p:nvSpPr>
        <p:spPr>
          <a:xfrm>
            <a:off x="446284" y="126984"/>
            <a:ext cx="11299432" cy="353945"/>
          </a:xfrm>
          <a:noFill/>
        </p:spPr>
        <p:txBody>
          <a:bodyPr>
            <a:noAutofit/>
          </a:bodyPr>
          <a:lstStyle/>
          <a:p>
            <a:r>
              <a:rPr lang="zh-CN" altLang="en-US" sz="2800" dirty="0"/>
              <a:t>二、主要内容</a:t>
            </a:r>
          </a:p>
        </p:txBody>
      </p:sp>
      <p:sp>
        <p:nvSpPr>
          <p:cNvPr id="137" name="矩形 136"/>
          <p:cNvSpPr/>
          <p:nvPr/>
        </p:nvSpPr>
        <p:spPr>
          <a:xfrm>
            <a:off x="1080459" y="934781"/>
            <a:ext cx="15424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）数据架构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7472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文本框 155"/>
          <p:cNvSpPr txBox="1"/>
          <p:nvPr/>
        </p:nvSpPr>
        <p:spPr>
          <a:xfrm>
            <a:off x="348895" y="510098"/>
            <a:ext cx="98215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2.4 </a:t>
            </a:r>
            <a:r>
              <a:rPr lang="zh-CN" altLang="en-US" sz="2000" dirty="0"/>
              <a:t>建设规划</a:t>
            </a:r>
          </a:p>
        </p:txBody>
      </p:sp>
      <p:sp>
        <p:nvSpPr>
          <p:cNvPr id="114" name="标题 1"/>
          <p:cNvSpPr>
            <a:spLocks noGrp="1"/>
          </p:cNvSpPr>
          <p:nvPr>
            <p:ph type="title"/>
          </p:nvPr>
        </p:nvSpPr>
        <p:spPr>
          <a:xfrm>
            <a:off x="446284" y="126984"/>
            <a:ext cx="11299432" cy="353945"/>
          </a:xfrm>
          <a:noFill/>
        </p:spPr>
        <p:txBody>
          <a:bodyPr>
            <a:noAutofit/>
          </a:bodyPr>
          <a:lstStyle/>
          <a:p>
            <a:r>
              <a:rPr lang="zh-CN" altLang="en-US" sz="2800" dirty="0"/>
              <a:t>二、主要内容</a:t>
            </a:r>
          </a:p>
        </p:txBody>
      </p:sp>
      <p:sp>
        <p:nvSpPr>
          <p:cNvPr id="137" name="矩形 136"/>
          <p:cNvSpPr/>
          <p:nvPr/>
        </p:nvSpPr>
        <p:spPr>
          <a:xfrm>
            <a:off x="1080459" y="934781"/>
            <a:ext cx="15424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）系统集成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566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文本框 155"/>
          <p:cNvSpPr txBox="1"/>
          <p:nvPr/>
        </p:nvSpPr>
        <p:spPr>
          <a:xfrm>
            <a:off x="348895" y="510098"/>
            <a:ext cx="98215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2.4 </a:t>
            </a:r>
            <a:r>
              <a:rPr lang="zh-CN" altLang="en-US" sz="2000" dirty="0"/>
              <a:t>建设规划</a:t>
            </a:r>
          </a:p>
        </p:txBody>
      </p:sp>
      <p:sp>
        <p:nvSpPr>
          <p:cNvPr id="114" name="标题 1"/>
          <p:cNvSpPr>
            <a:spLocks noGrp="1"/>
          </p:cNvSpPr>
          <p:nvPr>
            <p:ph type="title"/>
          </p:nvPr>
        </p:nvSpPr>
        <p:spPr>
          <a:xfrm>
            <a:off x="446284" y="126984"/>
            <a:ext cx="11299432" cy="353945"/>
          </a:xfrm>
          <a:noFill/>
        </p:spPr>
        <p:txBody>
          <a:bodyPr>
            <a:noAutofit/>
          </a:bodyPr>
          <a:lstStyle/>
          <a:p>
            <a:r>
              <a:rPr lang="zh-CN" altLang="en-US" sz="2800" dirty="0"/>
              <a:t>二、主要内容</a:t>
            </a:r>
          </a:p>
        </p:txBody>
      </p:sp>
      <p:sp>
        <p:nvSpPr>
          <p:cNvPr id="137" name="矩形 136"/>
          <p:cNvSpPr/>
          <p:nvPr/>
        </p:nvSpPr>
        <p:spPr>
          <a:xfrm>
            <a:off x="1080459" y="934781"/>
            <a:ext cx="15424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）网络安全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7430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8423" y="254261"/>
            <a:ext cx="11299432" cy="35394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二、主要内容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72623" y="694318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2.5 </a:t>
            </a:r>
            <a:r>
              <a:rPr lang="zh-CN" altLang="en-US" sz="2000" dirty="0"/>
              <a:t>贯彻</a:t>
            </a:r>
            <a:r>
              <a:rPr lang="zh-CN" altLang="en-US" sz="2000" dirty="0" smtClean="0"/>
              <a:t>实施</a:t>
            </a:r>
            <a:endParaRPr lang="zh-CN" altLang="en-US" sz="2000" dirty="0"/>
          </a:p>
        </p:txBody>
      </p:sp>
      <p:sp>
        <p:nvSpPr>
          <p:cNvPr id="8" name="矩形 7"/>
          <p:cNvSpPr/>
          <p:nvPr/>
        </p:nvSpPr>
        <p:spPr>
          <a:xfrm>
            <a:off x="1211401" y="1094428"/>
            <a:ext cx="15424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）计划日程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8150" y="214432"/>
            <a:ext cx="11299432" cy="35394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二、主要内容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356831" y="622721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</a:rPr>
              <a:t>2.5</a:t>
            </a:r>
            <a:r>
              <a:rPr lang="zh-CN" altLang="en-US" sz="2000" dirty="0">
                <a:latin typeface="+mn-ea"/>
              </a:rPr>
              <a:t> 贯彻</a:t>
            </a:r>
            <a:r>
              <a:rPr lang="zh-CN" altLang="en-US" sz="2000" dirty="0" smtClean="0">
                <a:latin typeface="+mn-ea"/>
              </a:rPr>
              <a:t>实施</a:t>
            </a:r>
            <a:endParaRPr lang="zh-CN" altLang="en-US" sz="2000" dirty="0"/>
          </a:p>
        </p:txBody>
      </p:sp>
      <p:sp>
        <p:nvSpPr>
          <p:cNvPr id="13" name="任意多边形 12"/>
          <p:cNvSpPr/>
          <p:nvPr/>
        </p:nvSpPr>
        <p:spPr>
          <a:xfrm flipV="1">
            <a:off x="5295265" y="4984115"/>
            <a:ext cx="5527675" cy="1373505"/>
          </a:xfrm>
          <a:custGeom>
            <a:avLst/>
            <a:gdLst>
              <a:gd name="connsiteX0" fmla="*/ 0 w 8462"/>
              <a:gd name="connsiteY0" fmla="*/ 0 h 2163"/>
              <a:gd name="connsiteX1" fmla="*/ 1410 w 8462"/>
              <a:gd name="connsiteY1" fmla="*/ 0 h 2163"/>
              <a:gd name="connsiteX2" fmla="*/ 1410 w 8462"/>
              <a:gd name="connsiteY2" fmla="*/ 0 h 2163"/>
              <a:gd name="connsiteX3" fmla="*/ 3526 w 8462"/>
              <a:gd name="connsiteY3" fmla="*/ 0 h 2163"/>
              <a:gd name="connsiteX4" fmla="*/ 8462 w 8462"/>
              <a:gd name="connsiteY4" fmla="*/ 0 h 2163"/>
              <a:gd name="connsiteX5" fmla="*/ 8462 w 8462"/>
              <a:gd name="connsiteY5" fmla="*/ 1020 h 2163"/>
              <a:gd name="connsiteX6" fmla="*/ 8462 w 8462"/>
              <a:gd name="connsiteY6" fmla="*/ 1020 h 2163"/>
              <a:gd name="connsiteX7" fmla="*/ 8462 w 8462"/>
              <a:gd name="connsiteY7" fmla="*/ 1458 h 2163"/>
              <a:gd name="connsiteX8" fmla="*/ 8462 w 8462"/>
              <a:gd name="connsiteY8" fmla="*/ 1749 h 2163"/>
              <a:gd name="connsiteX9" fmla="*/ 2975 w 8462"/>
              <a:gd name="connsiteY9" fmla="*/ 1753 h 2163"/>
              <a:gd name="connsiteX10" fmla="*/ 2550 w 8462"/>
              <a:gd name="connsiteY10" fmla="*/ 2163 h 2163"/>
              <a:gd name="connsiteX11" fmla="*/ 2100 w 8462"/>
              <a:gd name="connsiteY11" fmla="*/ 1747 h 2163"/>
              <a:gd name="connsiteX12" fmla="*/ 0 w 8462"/>
              <a:gd name="connsiteY12" fmla="*/ 1749 h 2163"/>
              <a:gd name="connsiteX13" fmla="*/ 0 w 8462"/>
              <a:gd name="connsiteY13" fmla="*/ 1458 h 2163"/>
              <a:gd name="connsiteX14" fmla="*/ 0 w 8462"/>
              <a:gd name="connsiteY14" fmla="*/ 1020 h 2163"/>
              <a:gd name="connsiteX15" fmla="*/ 0 w 8462"/>
              <a:gd name="connsiteY15" fmla="*/ 1020 h 2163"/>
              <a:gd name="connsiteX16" fmla="*/ 0 w 8462"/>
              <a:gd name="connsiteY16" fmla="*/ 0 h 2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8462" h="2163">
                <a:moveTo>
                  <a:pt x="0" y="0"/>
                </a:moveTo>
                <a:lnTo>
                  <a:pt x="1410" y="0"/>
                </a:lnTo>
                <a:lnTo>
                  <a:pt x="1410" y="0"/>
                </a:lnTo>
                <a:lnTo>
                  <a:pt x="3526" y="0"/>
                </a:lnTo>
                <a:lnTo>
                  <a:pt x="8462" y="0"/>
                </a:lnTo>
                <a:lnTo>
                  <a:pt x="8462" y="1020"/>
                </a:lnTo>
                <a:lnTo>
                  <a:pt x="8462" y="1020"/>
                </a:lnTo>
                <a:lnTo>
                  <a:pt x="8462" y="1458"/>
                </a:lnTo>
                <a:lnTo>
                  <a:pt x="8462" y="1749"/>
                </a:lnTo>
                <a:lnTo>
                  <a:pt x="2975" y="1753"/>
                </a:lnTo>
                <a:lnTo>
                  <a:pt x="2550" y="2163"/>
                </a:lnTo>
                <a:lnTo>
                  <a:pt x="2100" y="1747"/>
                </a:lnTo>
                <a:lnTo>
                  <a:pt x="0" y="1749"/>
                </a:lnTo>
                <a:lnTo>
                  <a:pt x="0" y="1458"/>
                </a:lnTo>
                <a:lnTo>
                  <a:pt x="0" y="1020"/>
                </a:lnTo>
                <a:lnTo>
                  <a:pt x="0" y="10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/>
        </p:nvSpPr>
        <p:spPr>
          <a:xfrm flipV="1">
            <a:off x="751205" y="4968875"/>
            <a:ext cx="4247515" cy="1388745"/>
          </a:xfrm>
          <a:custGeom>
            <a:avLst/>
            <a:gdLst>
              <a:gd name="connsiteX0" fmla="*/ 0 w 6689"/>
              <a:gd name="connsiteY0" fmla="*/ 0 h 2187"/>
              <a:gd name="connsiteX1" fmla="*/ 1115 w 6689"/>
              <a:gd name="connsiteY1" fmla="*/ 0 h 2187"/>
              <a:gd name="connsiteX2" fmla="*/ 1115 w 6689"/>
              <a:gd name="connsiteY2" fmla="*/ 0 h 2187"/>
              <a:gd name="connsiteX3" fmla="*/ 2787 w 6689"/>
              <a:gd name="connsiteY3" fmla="*/ 0 h 2187"/>
              <a:gd name="connsiteX4" fmla="*/ 6689 w 6689"/>
              <a:gd name="connsiteY4" fmla="*/ 0 h 2187"/>
              <a:gd name="connsiteX5" fmla="*/ 6689 w 6689"/>
              <a:gd name="connsiteY5" fmla="*/ 1020 h 2187"/>
              <a:gd name="connsiteX6" fmla="*/ 6689 w 6689"/>
              <a:gd name="connsiteY6" fmla="*/ 1020 h 2187"/>
              <a:gd name="connsiteX7" fmla="*/ 6689 w 6689"/>
              <a:gd name="connsiteY7" fmla="*/ 1458 h 2187"/>
              <a:gd name="connsiteX8" fmla="*/ 6689 w 6689"/>
              <a:gd name="connsiteY8" fmla="*/ 1749 h 2187"/>
              <a:gd name="connsiteX9" fmla="*/ 2438 w 6689"/>
              <a:gd name="connsiteY9" fmla="*/ 1746 h 2187"/>
              <a:gd name="connsiteX10" fmla="*/ 1981 w 6689"/>
              <a:gd name="connsiteY10" fmla="*/ 2187 h 2187"/>
              <a:gd name="connsiteX11" fmla="*/ 1513 w 6689"/>
              <a:gd name="connsiteY11" fmla="*/ 1746 h 2187"/>
              <a:gd name="connsiteX12" fmla="*/ 0 w 6689"/>
              <a:gd name="connsiteY12" fmla="*/ 1749 h 2187"/>
              <a:gd name="connsiteX13" fmla="*/ 0 w 6689"/>
              <a:gd name="connsiteY13" fmla="*/ 1458 h 2187"/>
              <a:gd name="connsiteX14" fmla="*/ 0 w 6689"/>
              <a:gd name="connsiteY14" fmla="*/ 1020 h 2187"/>
              <a:gd name="connsiteX15" fmla="*/ 0 w 6689"/>
              <a:gd name="connsiteY15" fmla="*/ 1020 h 2187"/>
              <a:gd name="connsiteX16" fmla="*/ 0 w 6689"/>
              <a:gd name="connsiteY16" fmla="*/ 0 h 2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689" h="2187">
                <a:moveTo>
                  <a:pt x="0" y="0"/>
                </a:moveTo>
                <a:lnTo>
                  <a:pt x="1115" y="0"/>
                </a:lnTo>
                <a:lnTo>
                  <a:pt x="1115" y="0"/>
                </a:lnTo>
                <a:lnTo>
                  <a:pt x="2787" y="0"/>
                </a:lnTo>
                <a:lnTo>
                  <a:pt x="6689" y="0"/>
                </a:lnTo>
                <a:lnTo>
                  <a:pt x="6689" y="1020"/>
                </a:lnTo>
                <a:lnTo>
                  <a:pt x="6689" y="1020"/>
                </a:lnTo>
                <a:lnTo>
                  <a:pt x="6689" y="1458"/>
                </a:lnTo>
                <a:lnTo>
                  <a:pt x="6689" y="1749"/>
                </a:lnTo>
                <a:lnTo>
                  <a:pt x="2438" y="1746"/>
                </a:lnTo>
                <a:lnTo>
                  <a:pt x="1981" y="2187"/>
                </a:lnTo>
                <a:lnTo>
                  <a:pt x="1513" y="1746"/>
                </a:lnTo>
                <a:lnTo>
                  <a:pt x="0" y="1749"/>
                </a:lnTo>
                <a:lnTo>
                  <a:pt x="0" y="1458"/>
                </a:lnTo>
                <a:lnTo>
                  <a:pt x="0" y="1020"/>
                </a:lnTo>
                <a:lnTo>
                  <a:pt x="0" y="1020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lumMod val="95000"/>
            </a:srgbClr>
          </a:solidFill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5" name="组合 14"/>
          <p:cNvGrpSpPr/>
          <p:nvPr/>
        </p:nvGrpSpPr>
        <p:grpSpPr>
          <a:xfrm>
            <a:off x="885190" y="3681095"/>
            <a:ext cx="2816860" cy="1273810"/>
            <a:chOff x="2152" y="7237"/>
            <a:chExt cx="3672" cy="2223"/>
          </a:xfrm>
        </p:grpSpPr>
        <p:sp>
          <p:nvSpPr>
            <p:cNvPr id="70" name="矩形 69"/>
            <p:cNvSpPr/>
            <p:nvPr/>
          </p:nvSpPr>
          <p:spPr>
            <a:xfrm>
              <a:off x="2152" y="7237"/>
              <a:ext cx="3672" cy="437"/>
            </a:xfrm>
            <a:prstGeom prst="rect">
              <a:avLst/>
            </a:prstGeom>
            <a:solidFill>
              <a:srgbClr val="B90514"/>
            </a:solidFill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业务组</a:t>
              </a:r>
            </a:p>
          </p:txBody>
        </p:sp>
        <p:sp>
          <p:nvSpPr>
            <p:cNvPr id="71" name="矩形 70"/>
            <p:cNvSpPr/>
            <p:nvPr/>
          </p:nvSpPr>
          <p:spPr>
            <a:xfrm>
              <a:off x="2152" y="7674"/>
              <a:ext cx="3672" cy="1787"/>
            </a:xfrm>
            <a:prstGeom prst="rect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业务架构</a:t>
              </a: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BA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：×××</a:t>
              </a:r>
              <a:endPara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成员</a:t>
              </a:r>
              <a:r>
                <a:rPr lang="zh-CN" altLang="en-US" sz="14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×××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72" name="肘形连接符 47"/>
          <p:cNvCxnSpPr/>
          <p:nvPr/>
        </p:nvCxnSpPr>
        <p:spPr>
          <a:xfrm rot="10800000" flipV="1">
            <a:off x="2293620" y="3422015"/>
            <a:ext cx="4042410" cy="259080"/>
          </a:xfrm>
          <a:prstGeom prst="bentConnector2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grpSp>
        <p:nvGrpSpPr>
          <p:cNvPr id="78" name="组合 77"/>
          <p:cNvGrpSpPr/>
          <p:nvPr/>
        </p:nvGrpSpPr>
        <p:grpSpPr>
          <a:xfrm>
            <a:off x="4531741" y="940771"/>
            <a:ext cx="2514503" cy="902039"/>
            <a:chOff x="3795871" y="721612"/>
            <a:chExt cx="2825128" cy="757639"/>
          </a:xfrm>
        </p:grpSpPr>
        <p:sp>
          <p:nvSpPr>
            <p:cNvPr id="79" name="矩形 78"/>
            <p:cNvSpPr/>
            <p:nvPr/>
          </p:nvSpPr>
          <p:spPr>
            <a:xfrm>
              <a:off x="3797077" y="721612"/>
              <a:ext cx="2823921" cy="277709"/>
            </a:xfrm>
            <a:prstGeom prst="rect">
              <a:avLst/>
            </a:prstGeom>
            <a:solidFill>
              <a:srgbClr val="B90514"/>
            </a:solidFill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1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项目领导小组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3795871" y="999322"/>
              <a:ext cx="2825128" cy="479929"/>
            </a:xfrm>
            <a:prstGeom prst="rect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组长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业务部长 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IT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部长</a:t>
              </a:r>
              <a:endParaRPr lang="en-US" altLang="zh-CN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endParaRPr>
            </a:p>
            <a:p>
              <a:pPr algn="ctr"/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副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组长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：对应的战队长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971155" y="3681095"/>
            <a:ext cx="3518535" cy="1308834"/>
            <a:chOff x="13418" y="7237"/>
            <a:chExt cx="3109" cy="2123"/>
          </a:xfrm>
        </p:grpSpPr>
        <p:sp>
          <p:nvSpPr>
            <p:cNvPr id="81" name="矩形 80"/>
            <p:cNvSpPr/>
            <p:nvPr/>
          </p:nvSpPr>
          <p:spPr>
            <a:xfrm>
              <a:off x="13418" y="7237"/>
              <a:ext cx="3109" cy="437"/>
            </a:xfrm>
            <a:prstGeom prst="rect">
              <a:avLst/>
            </a:prstGeom>
            <a:solidFill>
              <a:srgbClr val="B90514"/>
            </a:solidFill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实施组</a:t>
              </a:r>
            </a:p>
          </p:txBody>
        </p:sp>
        <p:sp>
          <p:nvSpPr>
            <p:cNvPr id="82" name="矩形 81"/>
            <p:cNvSpPr/>
            <p:nvPr/>
          </p:nvSpPr>
          <p:spPr>
            <a:xfrm>
              <a:off x="13418" y="7703"/>
              <a:ext cx="3109" cy="1657"/>
            </a:xfrm>
            <a:prstGeom prst="rect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实施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负责人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（大圣本项目经理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） 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×××</a:t>
              </a:r>
            </a:p>
            <a:p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应用架构</a:t>
              </a: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AA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（数字化部产品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经理）：×××</a:t>
              </a:r>
            </a:p>
            <a:p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技术架构</a:t>
              </a:r>
              <a:r>
                <a:rPr lang="en-US" altLang="zh-CN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TA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（数字化部架构经理）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：×××</a:t>
              </a:r>
            </a:p>
            <a:p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成员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×××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83" name="连接符: 肘形 30"/>
          <p:cNvCxnSpPr/>
          <p:nvPr/>
        </p:nvCxnSpPr>
        <p:spPr>
          <a:xfrm>
            <a:off x="5857240" y="3422015"/>
            <a:ext cx="4095750" cy="259080"/>
          </a:xfrm>
          <a:prstGeom prst="bentConnector3">
            <a:avLst>
              <a:gd name="adj1" fmla="val 99782"/>
            </a:avLst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7" name="矩形标注 6"/>
          <p:cNvSpPr/>
          <p:nvPr/>
        </p:nvSpPr>
        <p:spPr>
          <a:xfrm>
            <a:off x="7667191" y="1027208"/>
            <a:ext cx="2685471" cy="814987"/>
          </a:xfrm>
          <a:prstGeom prst="wedgeRectCallout">
            <a:avLst>
              <a:gd name="adj1" fmla="val -68876"/>
              <a:gd name="adj2" fmla="val -3768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808080">
                <a:lumMod val="40000"/>
                <a:lumOff val="6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171450" indent="-17145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1000" b="1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项目第一责任人，对项目整体负责</a:t>
            </a:r>
            <a:endParaRPr lang="en-US" altLang="zh-CN" sz="1000" b="1" kern="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171450" indent="-17145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1000" b="1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负责子</a:t>
            </a:r>
            <a:r>
              <a:rPr lang="zh-CN" altLang="en-US" sz="1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项目计划</a:t>
            </a:r>
            <a:r>
              <a:rPr lang="zh-CN" altLang="en-US" sz="1000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</a:t>
            </a:r>
            <a:r>
              <a:rPr lang="zh-CN" altLang="en-US" sz="1000" b="1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审批</a:t>
            </a:r>
            <a:r>
              <a:rPr lang="zh-CN" altLang="en-US" sz="1000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endParaRPr lang="en-US" altLang="zh-CN" sz="1000" kern="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171450" indent="-17145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1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宋体" panose="02010600030101010101" pitchFamily="2" charset="-122"/>
              </a:rPr>
              <a:t>对项目实施</a:t>
            </a:r>
            <a:r>
              <a:rPr lang="zh-CN" altLang="en-US" sz="10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宋体" panose="02010600030101010101" pitchFamily="2" charset="-122"/>
              </a:rPr>
              <a:t>重大问题</a:t>
            </a:r>
            <a:r>
              <a:rPr lang="zh-CN" altLang="en-US" sz="1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宋体" panose="02010600030101010101" pitchFamily="2" charset="-122"/>
              </a:rPr>
              <a:t>、方案进行初步审核</a:t>
            </a:r>
            <a:r>
              <a:rPr lang="zh-CN" altLang="en-US" sz="1000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宋体" panose="02010600030101010101" pitchFamily="2" charset="-122"/>
              </a:rPr>
              <a:t>。</a:t>
            </a:r>
            <a:endParaRPr lang="zh-CN" altLang="en-US" sz="1000" b="1" kern="0" dirty="0"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  <a:p>
            <a:pPr marL="171450" indent="-17145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1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定期听取项目进度汇报，</a:t>
            </a:r>
            <a:r>
              <a:rPr lang="zh-CN" altLang="en-US" sz="1000" b="1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协调</a:t>
            </a:r>
            <a:r>
              <a:rPr lang="zh-CN" altLang="en-US" sz="1000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项目的问题</a:t>
            </a:r>
            <a:r>
              <a:rPr lang="zh-CN" altLang="en-US" sz="1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。</a:t>
            </a:r>
            <a:endParaRPr lang="en-US" altLang="zh-CN" sz="1000" kern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171450" indent="-17145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1000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负责项目经理的任命</a:t>
            </a:r>
            <a:endParaRPr lang="en-US" altLang="zh-CN" sz="1000" kern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000500" y="3698240"/>
            <a:ext cx="3550920" cy="1264920"/>
            <a:chOff x="9149" y="7237"/>
            <a:chExt cx="2835" cy="2062"/>
          </a:xfrm>
        </p:grpSpPr>
        <p:sp>
          <p:nvSpPr>
            <p:cNvPr id="19" name="矩形 18"/>
            <p:cNvSpPr/>
            <p:nvPr/>
          </p:nvSpPr>
          <p:spPr>
            <a:xfrm>
              <a:off x="9150" y="7237"/>
              <a:ext cx="2835" cy="437"/>
            </a:xfrm>
            <a:prstGeom prst="rect">
              <a:avLst/>
            </a:prstGeom>
            <a:solidFill>
              <a:srgbClr val="B90514"/>
            </a:solidFill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数据组</a:t>
              </a:r>
            </a:p>
          </p:txBody>
        </p:sp>
        <p:sp>
          <p:nvSpPr>
            <p:cNvPr id="20" name="矩形 19"/>
            <p:cNvSpPr/>
            <p:nvPr/>
          </p:nvSpPr>
          <p:spPr>
            <a:xfrm>
              <a:off x="9149" y="7674"/>
              <a:ext cx="2835" cy="1625"/>
            </a:xfrm>
            <a:prstGeom prst="rect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数据组负责人</a:t>
              </a:r>
              <a:r>
                <a:rPr lang="en-US" altLang="zh-CN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由数字化部担任）：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×××</a:t>
              </a:r>
              <a:endParaRPr lang="zh-CN" altLang="en-US" sz="14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r>
                <a:rPr lang="zh-CN" altLang="en-US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</a:t>
              </a:r>
              <a:r>
                <a:rPr lang="en-US" altLang="zh-CN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DA</a:t>
              </a:r>
              <a:r>
                <a:rPr lang="zh-CN" altLang="en-US" sz="1400" dirty="0" smtClean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（建议数据管家担任）：</a:t>
              </a:r>
              <a:r>
                <a:rPr lang="zh-CN" altLang="en-US" sz="1400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×××</a:t>
              </a:r>
            </a:p>
            <a:p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成员：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×××</a:t>
              </a: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5361940" y="5361305"/>
            <a:ext cx="3123565" cy="983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spcBef>
                <a:spcPts val="0"/>
              </a:spcBef>
            </a:pPr>
            <a:r>
              <a:rPr lang="zh-CN" altLang="en-US" sz="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r>
              <a:rPr lang="en-US" altLang="zh-CN" sz="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</a:t>
            </a:r>
            <a:r>
              <a:rPr lang="zh-CN" altLang="en-US" sz="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（业务方数据架构负责人，一般为数据管家）：</a:t>
            </a:r>
          </a:p>
          <a:p>
            <a:pPr indent="0" fontAlgn="auto">
              <a:spcBef>
                <a:spcPts val="0"/>
              </a:spcBef>
            </a:pPr>
            <a:r>
              <a:rPr lang="en-US" altLang="zh-CN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、推动业务人员按规范梳理流程活动的</a:t>
            </a:r>
            <a:r>
              <a:rPr lang="en-US" altLang="zh-CN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</a:t>
            </a:r>
            <a:r>
              <a:rPr lang="zh-CN" altLang="en-US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（输入输出）</a:t>
            </a:r>
          </a:p>
          <a:p>
            <a:pPr indent="0" fontAlgn="auto">
              <a:spcBef>
                <a:spcPts val="0"/>
              </a:spcBef>
            </a:pPr>
            <a:r>
              <a:rPr lang="en-US" altLang="zh-CN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、依据业务活动</a:t>
            </a:r>
            <a:r>
              <a:rPr lang="en-US" altLang="zh-CN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</a:t>
            </a:r>
            <a:r>
              <a:rPr lang="zh-CN" altLang="en-US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识别业务对象；</a:t>
            </a:r>
          </a:p>
          <a:p>
            <a:pPr indent="0" fontAlgn="auto">
              <a:spcBef>
                <a:spcPts val="0"/>
              </a:spcBef>
            </a:pPr>
            <a:r>
              <a:rPr lang="en-US" altLang="zh-CN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、协同数据组负责人负责数据架构</a:t>
            </a:r>
            <a:r>
              <a:rPr lang="en-US" altLang="zh-CN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</a:t>
            </a:r>
            <a:r>
              <a:rPr lang="zh-CN" altLang="en-US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按标准交付、确认</a:t>
            </a:r>
            <a:r>
              <a:rPr lang="zh-CN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并验收；</a:t>
            </a:r>
          </a:p>
          <a:p>
            <a:pPr indent="0" fontAlgn="auto">
              <a:spcBef>
                <a:spcPts val="0"/>
              </a:spcBef>
            </a:pPr>
            <a:r>
              <a:rPr lang="en-US" altLang="zh-CN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、推进数据标准设计及数据质量规则实施；</a:t>
            </a:r>
            <a:endParaRPr lang="zh-CN" sz="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spcBef>
                <a:spcPts val="0"/>
              </a:spcBef>
            </a:pPr>
            <a:r>
              <a:rPr lang="en-US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负责数据入湖需求、数据分析需求管理、指标体系管理。</a:t>
            </a:r>
          </a:p>
        </p:txBody>
      </p:sp>
      <p:sp>
        <p:nvSpPr>
          <p:cNvPr id="34" name="文本框 33"/>
          <p:cNvSpPr txBox="1"/>
          <p:nvPr/>
        </p:nvSpPr>
        <p:spPr>
          <a:xfrm>
            <a:off x="751205" y="5347335"/>
            <a:ext cx="4441825" cy="984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spcBef>
                <a:spcPts val="0"/>
              </a:spcBef>
            </a:pPr>
            <a:r>
              <a:rPr lang="zh-CN" altLang="en-US" sz="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r>
              <a:rPr lang="en-US" altLang="zh-CN" sz="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</a:t>
            </a:r>
            <a:r>
              <a:rPr lang="zh-CN" altLang="en-US" sz="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（BA由各中心/部门委派）：</a:t>
            </a:r>
          </a:p>
          <a:p>
            <a:pPr indent="0" fontAlgn="auto">
              <a:spcBef>
                <a:spcPts val="0"/>
              </a:spcBef>
            </a:pPr>
            <a:r>
              <a:rPr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1、负责开展业务需求调研及分析，识别业务需求及痛点；</a:t>
            </a:r>
          </a:p>
          <a:p>
            <a:pPr indent="0" fontAlgn="auto">
              <a:spcBef>
                <a:spcPts val="0"/>
              </a:spcBef>
            </a:pPr>
            <a:r>
              <a:rPr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2、负责将原始需求转译为对IT系统的功能需求；</a:t>
            </a:r>
          </a:p>
          <a:p>
            <a:pPr indent="0" fontAlgn="auto">
              <a:spcBef>
                <a:spcPts val="0"/>
              </a:spcBef>
            </a:pPr>
            <a:r>
              <a:rPr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3、负责对业务需求进行优先级排序，确保业务需求紧扣战略优先事项；</a:t>
            </a:r>
          </a:p>
          <a:p>
            <a:pPr indent="0" fontAlgn="auto">
              <a:spcBef>
                <a:spcPts val="0"/>
              </a:spcBef>
            </a:pPr>
            <a:r>
              <a:rPr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4、负责跨部门重复、近似需求的拉通及整合，减少IT系统的重复建设；</a:t>
            </a:r>
          </a:p>
          <a:p>
            <a:pPr indent="0" fontAlgn="auto">
              <a:spcBef>
                <a:spcPts val="0"/>
              </a:spcBef>
            </a:pPr>
            <a:r>
              <a:rPr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5、对数字化项目所涉及的流程模块，与流程Owner协同推动流程、职责的更新及业务变革；</a:t>
            </a:r>
          </a:p>
          <a:p>
            <a:pPr indent="0" fontAlgn="auto">
              <a:spcBef>
                <a:spcPts val="0"/>
              </a:spcBef>
            </a:pPr>
            <a:r>
              <a:rPr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6、通过流程端到端方案设计及验证，提升系统与业务契合程度，保证IT系统落地实施效果</a:t>
            </a:r>
            <a:r>
              <a:rPr lang="zh-CN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8535035" y="5361305"/>
            <a:ext cx="2360295" cy="9836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spcBef>
                <a:spcPts val="0"/>
              </a:spcBef>
            </a:pPr>
            <a:r>
              <a:rPr sz="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数据组负责人（一般为数据治理科人员）：</a:t>
            </a:r>
            <a:endParaRPr sz="8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spcBef>
                <a:spcPts val="0"/>
              </a:spcBef>
            </a:pPr>
            <a:r>
              <a:rPr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提供数据架构DA能力与标准；</a:t>
            </a:r>
          </a:p>
          <a:p>
            <a:pPr indent="0" fontAlgn="auto">
              <a:spcBef>
                <a:spcPts val="0"/>
              </a:spcBef>
            </a:pPr>
            <a:r>
              <a:rPr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负责项目数据架构DA管控；</a:t>
            </a:r>
          </a:p>
          <a:p>
            <a:pPr indent="0" fontAlgn="auto">
              <a:spcBef>
                <a:spcPts val="0"/>
              </a:spcBef>
            </a:pPr>
            <a:r>
              <a:rPr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对项目DA以及入湖方案进行确认与预审</a:t>
            </a:r>
            <a:r>
              <a:rPr lang="zh-CN" sz="8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6" name="矩形标注 85"/>
          <p:cNvSpPr/>
          <p:nvPr/>
        </p:nvSpPr>
        <p:spPr>
          <a:xfrm>
            <a:off x="2245791" y="1842000"/>
            <a:ext cx="1857279" cy="642802"/>
          </a:xfrm>
          <a:prstGeom prst="wedgeRectCallout">
            <a:avLst>
              <a:gd name="adj1" fmla="val 74222"/>
              <a:gd name="adj2" fmla="val 59772"/>
            </a:avLst>
          </a:prstGeom>
          <a:solidFill>
            <a:srgbClr val="FFFFFF">
              <a:lumMod val="95000"/>
            </a:srgbClr>
          </a:solidFill>
          <a:ln w="9525" cap="flat" cmpd="sng" algn="ctr">
            <a:solidFill>
              <a:srgbClr val="808080">
                <a:lumMod val="40000"/>
                <a:lumOff val="6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171450" indent="-17145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1000" b="1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对项目进度、质量、成本和风险负责</a:t>
            </a:r>
            <a:endParaRPr lang="en-US" altLang="zh-CN" sz="1000" kern="0" noProof="1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marL="171450" indent="-171450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1000" kern="0" noProof="1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负责项目整体管理、实施与交付</a:t>
            </a:r>
            <a:endParaRPr lang="en-US" altLang="zh-CN" sz="1000" kern="0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523105" y="2245995"/>
            <a:ext cx="2522855" cy="902970"/>
            <a:chOff x="11220" y="4027"/>
            <a:chExt cx="3973" cy="1422"/>
          </a:xfrm>
        </p:grpSpPr>
        <p:sp>
          <p:nvSpPr>
            <p:cNvPr id="76" name="矩形 75"/>
            <p:cNvSpPr/>
            <p:nvPr/>
          </p:nvSpPr>
          <p:spPr>
            <a:xfrm>
              <a:off x="11220" y="4027"/>
              <a:ext cx="3973" cy="374"/>
            </a:xfrm>
            <a:prstGeom prst="rect">
              <a:avLst/>
            </a:prstGeom>
            <a:solidFill>
              <a:srgbClr val="B90514"/>
            </a:solidFill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项目管理组</a:t>
              </a:r>
            </a:p>
          </p:txBody>
        </p:sp>
        <p:sp>
          <p:nvSpPr>
            <p:cNvPr id="77" name="矩形 76"/>
            <p:cNvSpPr/>
            <p:nvPr/>
          </p:nvSpPr>
          <p:spPr>
            <a:xfrm>
              <a:off x="11220" y="4402"/>
              <a:ext cx="3972" cy="1047"/>
            </a:xfrm>
            <a:prstGeom prst="rect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algn="ctr"/>
              <a:r>
                <a:rPr lang="zh-CN" altLang="en-US" sz="140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业务经理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×××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IT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经理：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宋体" panose="02010600030101010101" pitchFamily="2" charset="-122"/>
                </a:rPr>
                <a:t>×××</a:t>
              </a:r>
              <a:endParaRPr lang="zh-CN" altLang="en-US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8" name="直接连接符 7"/>
          <p:cNvCxnSpPr/>
          <p:nvPr/>
        </p:nvCxnSpPr>
        <p:spPr>
          <a:xfrm flipH="1">
            <a:off x="5784850" y="1842770"/>
            <a:ext cx="4445" cy="4032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5777230" y="3148965"/>
            <a:ext cx="6985" cy="5492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1211401" y="1094428"/>
            <a:ext cx="15424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）组织体制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446943" y="205093"/>
            <a:ext cx="11299432" cy="35394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FFFF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>
                <a:solidFill>
                  <a:schemeClr val="tx1"/>
                </a:solidFill>
              </a:rPr>
              <a:t>二、主要内容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56831" y="559038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</a:rPr>
              <a:t>2.5</a:t>
            </a:r>
            <a:r>
              <a:rPr lang="zh-CN" altLang="en-US" sz="2000" dirty="0">
                <a:latin typeface="+mn-ea"/>
              </a:rPr>
              <a:t> 贯彻</a:t>
            </a:r>
            <a:r>
              <a:rPr lang="zh-CN" altLang="en-US" sz="2000" dirty="0" smtClean="0">
                <a:latin typeface="+mn-ea"/>
              </a:rPr>
              <a:t>实施</a:t>
            </a:r>
            <a:endParaRPr lang="zh-CN" altLang="en-US" sz="2000" dirty="0"/>
          </a:p>
        </p:txBody>
      </p:sp>
      <p:sp>
        <p:nvSpPr>
          <p:cNvPr id="7" name="矩形 6"/>
          <p:cNvSpPr/>
          <p:nvPr/>
        </p:nvSpPr>
        <p:spPr>
          <a:xfrm>
            <a:off x="1211401" y="974539"/>
            <a:ext cx="15424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）预算构成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/>
          <p:nvPr/>
        </p:nvSpPr>
        <p:spPr>
          <a:xfrm>
            <a:off x="446943" y="205093"/>
            <a:ext cx="11299432" cy="353945"/>
          </a:xfrm>
          <a:prstGeom prst="rect">
            <a:avLst/>
          </a:prstGeom>
        </p:spPr>
        <p:txBody>
          <a:bodyPr vert="horz" lIns="0" tIns="0" rIns="0" bIns="0" rtlCol="0" anchor="ctr"/>
          <a:lstStyle/>
          <a:p>
            <a:pPr lvl="0" algn="l">
              <a:lnSpc>
                <a:spcPct val="90000"/>
              </a:lnSpc>
              <a:buClrTx/>
              <a:buSzTx/>
              <a:buFontTx/>
            </a:pPr>
            <a:r>
              <a:rPr lang="zh-CN" altLang="en-US" sz="2800" b="1" dirty="0">
                <a:latin typeface="+mj-lt"/>
                <a:ea typeface="+mj-ea"/>
                <a:cs typeface="+mj-cs"/>
                <a:sym typeface="+mn-ea"/>
              </a:rPr>
              <a:t>二、主要内容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56831" y="559038"/>
            <a:ext cx="5486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</a:rPr>
              <a:t>2.5</a:t>
            </a:r>
            <a:r>
              <a:rPr lang="zh-CN" altLang="en-US" sz="2000" dirty="0">
                <a:latin typeface="+mn-ea"/>
              </a:rPr>
              <a:t> 贯彻</a:t>
            </a:r>
            <a:r>
              <a:rPr lang="zh-CN" altLang="en-US" sz="2000" dirty="0" smtClean="0">
                <a:latin typeface="+mn-ea"/>
              </a:rPr>
              <a:t>实施</a:t>
            </a:r>
            <a:endParaRPr lang="zh-CN" altLang="en-US" sz="2000" dirty="0"/>
          </a:p>
        </p:txBody>
      </p:sp>
      <p:sp>
        <p:nvSpPr>
          <p:cNvPr id="24" name="矩形 23"/>
          <p:cNvSpPr/>
          <p:nvPr/>
        </p:nvSpPr>
        <p:spPr>
          <a:xfrm>
            <a:off x="1211401" y="974539"/>
            <a:ext cx="24529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）预算构成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申请说明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446943" y="205093"/>
            <a:ext cx="11299432" cy="35394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FFFF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algn="l">
              <a:buClrTx/>
              <a:buSzTx/>
              <a:buFontTx/>
            </a:pPr>
            <a:r>
              <a:rPr lang="zh-CN" altLang="en-US" sz="2800" dirty="0">
                <a:solidFill>
                  <a:schemeClr val="tx1"/>
                </a:solidFill>
                <a:latin typeface="+mj-lt"/>
                <a:ea typeface="+mj-ea"/>
              </a:rPr>
              <a:t>二、主要内容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356831" y="559038"/>
            <a:ext cx="54864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</a:rPr>
              <a:t>2.5</a:t>
            </a:r>
            <a:r>
              <a:rPr lang="zh-CN" altLang="en-US" sz="2000" dirty="0">
                <a:latin typeface="+mn-ea"/>
              </a:rPr>
              <a:t> 贯彻</a:t>
            </a:r>
            <a:r>
              <a:rPr lang="zh-CN" altLang="en-US" sz="2000" dirty="0" smtClean="0">
                <a:latin typeface="+mn-ea"/>
              </a:rPr>
              <a:t>实施</a:t>
            </a:r>
            <a:endParaRPr lang="zh-CN" altLang="en-US" sz="2000" dirty="0"/>
          </a:p>
        </p:txBody>
      </p:sp>
      <p:sp>
        <p:nvSpPr>
          <p:cNvPr id="13" name="矩形 12"/>
          <p:cNvSpPr/>
          <p:nvPr/>
        </p:nvSpPr>
        <p:spPr>
          <a:xfrm>
            <a:off x="1211401" y="974539"/>
            <a:ext cx="15424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）效益评估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9691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6192" y="618716"/>
            <a:ext cx="9821599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latin typeface="+mn-ea"/>
              </a:rPr>
              <a:t>2.6</a:t>
            </a:r>
            <a:r>
              <a:rPr lang="zh-CN" altLang="en-US" sz="2000" dirty="0">
                <a:latin typeface="+mn-ea"/>
              </a:rPr>
              <a:t> </a:t>
            </a:r>
            <a:r>
              <a:rPr lang="zh-CN" altLang="en-US" sz="2000" dirty="0" smtClean="0">
                <a:latin typeface="+mn-ea"/>
              </a:rPr>
              <a:t>评估风险及对应措施（如有）</a:t>
            </a:r>
            <a:endParaRPr lang="zh-CN" altLang="en-US" sz="2000" dirty="0">
              <a:latin typeface="+mn-ea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379977" y="189496"/>
            <a:ext cx="11299432" cy="35394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二、主要内容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10578" y="291860"/>
            <a:ext cx="11299432" cy="353945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三</a:t>
            </a:r>
            <a:r>
              <a:rPr lang="zh-CN" altLang="en-US" dirty="0" smtClean="0"/>
              <a:t>、论证</a:t>
            </a:r>
            <a:r>
              <a:rPr lang="zh-CN" altLang="en-US" dirty="0"/>
              <a:t>意见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 smtClean="0"/>
              <a:t>四、</a:t>
            </a:r>
            <a:r>
              <a:rPr lang="zh-CN" altLang="en-US" dirty="0"/>
              <a:t>提请审议事项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endParaRPr lang="en-US" altLang="zh-CN" sz="1800" b="1" dirty="0" smtClean="0"/>
          </a:p>
          <a:p>
            <a:endParaRPr lang="en-US" altLang="zh-CN" sz="1800" dirty="0">
              <a:latin typeface="+mn-ea"/>
            </a:endParaRPr>
          </a:p>
          <a:p>
            <a:r>
              <a:rPr lang="zh-CN" altLang="en-US" sz="1800" b="1" dirty="0" smtClean="0">
                <a:latin typeface="+mn-ea"/>
              </a:rPr>
              <a:t>同意</a:t>
            </a:r>
            <a:r>
              <a:rPr lang="zh-CN" altLang="en-US" sz="1800" b="1" dirty="0">
                <a:solidFill>
                  <a:srgbClr val="C00000"/>
                </a:solidFill>
                <a:latin typeface="+mn-ea"/>
              </a:rPr>
              <a:t>XXX</a:t>
            </a:r>
            <a:r>
              <a:rPr lang="zh-CN" altLang="en-US" sz="1800" dirty="0">
                <a:solidFill>
                  <a:srgbClr val="C00000"/>
                </a:solidFill>
                <a:latin typeface="+mn-ea"/>
                <a:sym typeface="宋体" panose="02010600030101010101" pitchFamily="2" charset="-122"/>
              </a:rPr>
              <a:t>系统项目</a:t>
            </a:r>
            <a:r>
              <a:rPr lang="zh-CN" altLang="en-US" sz="1800" b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sym typeface="宋体" panose="02010600030101010101" pitchFamily="2" charset="-122"/>
              </a:rPr>
              <a:t>方案</a:t>
            </a:r>
            <a:r>
              <a:rPr lang="zh-CN" altLang="en-US" sz="1800" b="1" dirty="0">
                <a:latin typeface="+mn-ea"/>
              </a:rPr>
              <a:t>；</a:t>
            </a:r>
            <a:endParaRPr lang="en-US" altLang="zh-CN" sz="1800" b="1" dirty="0">
              <a:latin typeface="+mn-ea"/>
            </a:endParaRPr>
          </a:p>
          <a:p>
            <a:r>
              <a:rPr lang="zh-CN" altLang="en-US" sz="1800" b="1" dirty="0">
                <a:latin typeface="+mn-ea"/>
              </a:rPr>
              <a:t>同意平台</a:t>
            </a:r>
            <a:r>
              <a:rPr lang="zh-CN" altLang="en-US" sz="1800" b="1" dirty="0" smtClean="0">
                <a:latin typeface="+mn-ea"/>
              </a:rPr>
              <a:t>建设</a:t>
            </a:r>
            <a:r>
              <a:rPr lang="en-US" altLang="zh-CN" sz="1800" b="1" dirty="0" smtClean="0">
                <a:latin typeface="+mn-ea"/>
              </a:rPr>
              <a:t>x</a:t>
            </a:r>
            <a:r>
              <a:rPr lang="zh-CN" altLang="en-US" sz="1800" b="1" dirty="0" smtClean="0">
                <a:latin typeface="+mn-ea"/>
              </a:rPr>
              <a:t>万</a:t>
            </a:r>
            <a:r>
              <a:rPr lang="zh-CN" altLang="en-US" sz="1800" b="1" dirty="0">
                <a:latin typeface="+mn-ea"/>
              </a:rPr>
              <a:t>元预算，由集团总部承担，采用框架协议方式采购；</a:t>
            </a:r>
            <a:endParaRPr lang="en-US" altLang="zh-CN" sz="1800" b="1" dirty="0">
              <a:latin typeface="+mn-ea"/>
            </a:endParaRPr>
          </a:p>
          <a:p>
            <a:r>
              <a:rPr lang="zh-CN" altLang="en-US" sz="1800" b="1" dirty="0">
                <a:latin typeface="+mn-ea"/>
              </a:rPr>
              <a:t>同意舆情数据</a:t>
            </a:r>
            <a:r>
              <a:rPr lang="zh-CN" altLang="en-US" sz="1800" b="1" dirty="0" smtClean="0">
                <a:latin typeface="+mn-ea"/>
              </a:rPr>
              <a:t>采购</a:t>
            </a:r>
            <a:r>
              <a:rPr lang="en-US" altLang="zh-CN" sz="1800" b="1" dirty="0" smtClean="0">
                <a:latin typeface="+mn-ea"/>
              </a:rPr>
              <a:t>x</a:t>
            </a:r>
            <a:r>
              <a:rPr lang="zh-CN" altLang="en-US" sz="1800" b="1" dirty="0" smtClean="0">
                <a:latin typeface="+mn-ea"/>
              </a:rPr>
              <a:t>万</a:t>
            </a:r>
            <a:r>
              <a:rPr lang="zh-CN" altLang="en-US" sz="1800" b="1" dirty="0">
                <a:latin typeface="+mn-ea"/>
              </a:rPr>
              <a:t>元预算，集团承担</a:t>
            </a:r>
            <a:r>
              <a:rPr lang="en-US" altLang="zh-CN" sz="1800" b="1" dirty="0">
                <a:latin typeface="+mn-ea"/>
              </a:rPr>
              <a:t>30%</a:t>
            </a:r>
            <a:r>
              <a:rPr lang="zh-CN" altLang="en-US" sz="1800" b="1" dirty="0">
                <a:latin typeface="+mn-ea"/>
              </a:rPr>
              <a:t>，</a:t>
            </a:r>
            <a:r>
              <a:rPr lang="zh-CN" altLang="en-US" sz="1800" b="1" dirty="0" smtClean="0">
                <a:latin typeface="+mn-ea"/>
              </a:rPr>
              <a:t>共计</a:t>
            </a:r>
            <a:r>
              <a:rPr lang="en-US" altLang="zh-CN" sz="1800" b="1" dirty="0" smtClean="0">
                <a:latin typeface="+mn-ea"/>
              </a:rPr>
              <a:t>x</a:t>
            </a:r>
            <a:r>
              <a:rPr lang="zh-CN" altLang="en-US" sz="1800" b="1" dirty="0" smtClean="0">
                <a:latin typeface="+mn-ea"/>
              </a:rPr>
              <a:t>万</a:t>
            </a:r>
            <a:r>
              <a:rPr lang="zh-CN" altLang="en-US" sz="1800" b="1" dirty="0">
                <a:latin typeface="+mn-ea"/>
              </a:rPr>
              <a:t>元，采用框架协议方式采购。</a:t>
            </a:r>
            <a:endParaRPr lang="en-US" altLang="zh-CN" sz="1800" b="1" dirty="0">
              <a:latin typeface="+mn-ea"/>
            </a:endParaRPr>
          </a:p>
          <a:p>
            <a:endParaRPr lang="en-US" altLang="zh-CN" sz="2000" b="1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 txBox="1"/>
          <p:nvPr/>
        </p:nvSpPr>
        <p:spPr>
          <a:xfrm>
            <a:off x="446943" y="205093"/>
            <a:ext cx="11299432" cy="35394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rgbClr val="FFFF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tx1"/>
                </a:solidFill>
              </a:rPr>
              <a:t>附件：</a:t>
            </a:r>
            <a:r>
              <a:rPr lang="en-US" altLang="zh-CN" sz="2800" dirty="0">
                <a:solidFill>
                  <a:schemeClr val="tx1"/>
                </a:solidFill>
              </a:rPr>
              <a:t>XXX</a:t>
            </a:r>
            <a:r>
              <a:rPr lang="zh-CN" altLang="en-US" sz="2800" dirty="0">
                <a:solidFill>
                  <a:schemeClr val="tx1"/>
                </a:solidFill>
              </a:rPr>
              <a:t>说明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TABLE_ENDDRAG_ORIGIN_RECT" val="211*67"/>
  <p:tag name="TABLE_ENDDRAG_RECT" val="699*322*211*6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.常规 封面 封底">
  <a:themeElements>
    <a:clrScheme name="广汽集团">
      <a:dk1>
        <a:srgbClr val="000000"/>
      </a:dk1>
      <a:lt1>
        <a:srgbClr val="FFFFFF"/>
      </a:lt1>
      <a:dk2>
        <a:srgbClr val="58595B"/>
      </a:dk2>
      <a:lt2>
        <a:srgbClr val="FFFFFF"/>
      </a:lt2>
      <a:accent1>
        <a:srgbClr val="F49BA4"/>
      </a:accent1>
      <a:accent2>
        <a:srgbClr val="E77E81"/>
      </a:accent2>
      <a:accent3>
        <a:srgbClr val="F03B4B"/>
      </a:accent3>
      <a:accent4>
        <a:srgbClr val="EB0A1E"/>
      </a:accent4>
      <a:accent5>
        <a:srgbClr val="B90514"/>
      </a:accent5>
      <a:accent6>
        <a:srgbClr val="86050E"/>
      </a:accent6>
      <a:hlink>
        <a:srgbClr val="00B7BD"/>
      </a:hlink>
      <a:folHlink>
        <a:srgbClr val="006366"/>
      </a:folHlink>
    </a:clrScheme>
    <a:fontScheme name="常规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.品牌色 封面 封底">
  <a:themeElements>
    <a:clrScheme name="广汽集团">
      <a:dk1>
        <a:srgbClr val="000000"/>
      </a:dk1>
      <a:lt1>
        <a:srgbClr val="FFFFFF"/>
      </a:lt1>
      <a:dk2>
        <a:srgbClr val="58595B"/>
      </a:dk2>
      <a:lt2>
        <a:srgbClr val="FFFFFF"/>
      </a:lt2>
      <a:accent1>
        <a:srgbClr val="F49BA4"/>
      </a:accent1>
      <a:accent2>
        <a:srgbClr val="E77E81"/>
      </a:accent2>
      <a:accent3>
        <a:srgbClr val="F03B4B"/>
      </a:accent3>
      <a:accent4>
        <a:srgbClr val="EB0A1E"/>
      </a:accent4>
      <a:accent5>
        <a:srgbClr val="B90514"/>
      </a:accent5>
      <a:accent6>
        <a:srgbClr val="86050E"/>
      </a:accent6>
      <a:hlink>
        <a:srgbClr val="00B7BD"/>
      </a:hlink>
      <a:folHlink>
        <a:srgbClr val="006366"/>
      </a:folHlink>
    </a:clrScheme>
    <a:fontScheme name="常规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.特殊使用 封面 封底">
  <a:themeElements>
    <a:clrScheme name="广汽集团">
      <a:dk1>
        <a:srgbClr val="000000"/>
      </a:dk1>
      <a:lt1>
        <a:srgbClr val="FFFFFF"/>
      </a:lt1>
      <a:dk2>
        <a:srgbClr val="58595B"/>
      </a:dk2>
      <a:lt2>
        <a:srgbClr val="FFFFFF"/>
      </a:lt2>
      <a:accent1>
        <a:srgbClr val="F49BA4"/>
      </a:accent1>
      <a:accent2>
        <a:srgbClr val="E77E81"/>
      </a:accent2>
      <a:accent3>
        <a:srgbClr val="F03B4B"/>
      </a:accent3>
      <a:accent4>
        <a:srgbClr val="EB0A1E"/>
      </a:accent4>
      <a:accent5>
        <a:srgbClr val="B90514"/>
      </a:accent5>
      <a:accent6>
        <a:srgbClr val="86050E"/>
      </a:accent6>
      <a:hlink>
        <a:srgbClr val="00B7BD"/>
      </a:hlink>
      <a:folHlink>
        <a:srgbClr val="006366"/>
      </a:folHlink>
    </a:clrScheme>
    <a:fontScheme name="常规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目录">
  <a:themeElements>
    <a:clrScheme name="广汽集团">
      <a:dk1>
        <a:srgbClr val="000000"/>
      </a:dk1>
      <a:lt1>
        <a:srgbClr val="FFFFFF"/>
      </a:lt1>
      <a:dk2>
        <a:srgbClr val="58595B"/>
      </a:dk2>
      <a:lt2>
        <a:srgbClr val="FFFFFF"/>
      </a:lt2>
      <a:accent1>
        <a:srgbClr val="F49BA4"/>
      </a:accent1>
      <a:accent2>
        <a:srgbClr val="E77E81"/>
      </a:accent2>
      <a:accent3>
        <a:srgbClr val="F03B4B"/>
      </a:accent3>
      <a:accent4>
        <a:srgbClr val="EB0A1E"/>
      </a:accent4>
      <a:accent5>
        <a:srgbClr val="B90514"/>
      </a:accent5>
      <a:accent6>
        <a:srgbClr val="86050E"/>
      </a:accent6>
      <a:hlink>
        <a:srgbClr val="00B7BD"/>
      </a:hlink>
      <a:folHlink>
        <a:srgbClr val="006366"/>
      </a:folHlink>
    </a:clrScheme>
    <a:fontScheme name="常规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内容页">
  <a:themeElements>
    <a:clrScheme name="广汽集团">
      <a:dk1>
        <a:srgbClr val="000000"/>
      </a:dk1>
      <a:lt1>
        <a:srgbClr val="FFFFFF"/>
      </a:lt1>
      <a:dk2>
        <a:srgbClr val="58595B"/>
      </a:dk2>
      <a:lt2>
        <a:srgbClr val="FFFFFF"/>
      </a:lt2>
      <a:accent1>
        <a:srgbClr val="F49BA4"/>
      </a:accent1>
      <a:accent2>
        <a:srgbClr val="E77E81"/>
      </a:accent2>
      <a:accent3>
        <a:srgbClr val="F03B4B"/>
      </a:accent3>
      <a:accent4>
        <a:srgbClr val="EB0A1E"/>
      </a:accent4>
      <a:accent5>
        <a:srgbClr val="B90514"/>
      </a:accent5>
      <a:accent6>
        <a:srgbClr val="86050E"/>
      </a:accent6>
      <a:hlink>
        <a:srgbClr val="00B7BD"/>
      </a:hlink>
      <a:folHlink>
        <a:srgbClr val="006366"/>
      </a:folHlink>
    </a:clrScheme>
    <a:fontScheme name="常规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广汽集团">
    <a:dk1>
      <a:srgbClr val="000000"/>
    </a:dk1>
    <a:lt1>
      <a:srgbClr val="FFFFFF"/>
    </a:lt1>
    <a:dk2>
      <a:srgbClr val="58595B"/>
    </a:dk2>
    <a:lt2>
      <a:srgbClr val="FFFFFF"/>
    </a:lt2>
    <a:accent1>
      <a:srgbClr val="F49BA4"/>
    </a:accent1>
    <a:accent2>
      <a:srgbClr val="E77E81"/>
    </a:accent2>
    <a:accent3>
      <a:srgbClr val="F03B4B"/>
    </a:accent3>
    <a:accent4>
      <a:srgbClr val="EB0A1E"/>
    </a:accent4>
    <a:accent5>
      <a:srgbClr val="B90514"/>
    </a:accent5>
    <a:accent6>
      <a:srgbClr val="86050E"/>
    </a:accent6>
    <a:hlink>
      <a:srgbClr val="00B7BD"/>
    </a:hlink>
    <a:folHlink>
      <a:srgbClr val="006366"/>
    </a:folHlink>
  </a:clrScheme>
</a:themeOverride>
</file>

<file path=ppt/theme/themeOverride2.xml><?xml version="1.0" encoding="utf-8"?>
<a:themeOverride xmlns:a="http://schemas.openxmlformats.org/drawingml/2006/main">
  <a:clrScheme name="广汽集团">
    <a:dk1>
      <a:srgbClr val="000000"/>
    </a:dk1>
    <a:lt1>
      <a:srgbClr val="FFFFFF"/>
    </a:lt1>
    <a:dk2>
      <a:srgbClr val="58595B"/>
    </a:dk2>
    <a:lt2>
      <a:srgbClr val="FFFFFF"/>
    </a:lt2>
    <a:accent1>
      <a:srgbClr val="F49BA4"/>
    </a:accent1>
    <a:accent2>
      <a:srgbClr val="E77E81"/>
    </a:accent2>
    <a:accent3>
      <a:srgbClr val="F03B4B"/>
    </a:accent3>
    <a:accent4>
      <a:srgbClr val="EB0A1E"/>
    </a:accent4>
    <a:accent5>
      <a:srgbClr val="B90514"/>
    </a:accent5>
    <a:accent6>
      <a:srgbClr val="86050E"/>
    </a:accent6>
    <a:hlink>
      <a:srgbClr val="00B7BD"/>
    </a:hlink>
    <a:folHlink>
      <a:srgbClr val="006366"/>
    </a:folHlink>
  </a:clrScheme>
</a:themeOverride>
</file>

<file path=ppt/theme/themeOverride3.xml><?xml version="1.0" encoding="utf-8"?>
<a:themeOverride xmlns:a="http://schemas.openxmlformats.org/drawingml/2006/main">
  <a:clrScheme name="广汽集团">
    <a:dk1>
      <a:srgbClr val="000000"/>
    </a:dk1>
    <a:lt1>
      <a:srgbClr val="FFFFFF"/>
    </a:lt1>
    <a:dk2>
      <a:srgbClr val="58595B"/>
    </a:dk2>
    <a:lt2>
      <a:srgbClr val="FFFFFF"/>
    </a:lt2>
    <a:accent1>
      <a:srgbClr val="F49BA4"/>
    </a:accent1>
    <a:accent2>
      <a:srgbClr val="E77E81"/>
    </a:accent2>
    <a:accent3>
      <a:srgbClr val="F03B4B"/>
    </a:accent3>
    <a:accent4>
      <a:srgbClr val="EB0A1E"/>
    </a:accent4>
    <a:accent5>
      <a:srgbClr val="B90514"/>
    </a:accent5>
    <a:accent6>
      <a:srgbClr val="86050E"/>
    </a:accent6>
    <a:hlink>
      <a:srgbClr val="00B7BD"/>
    </a:hlink>
    <a:folHlink>
      <a:srgbClr val="006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1677</Words>
  <Application>Microsoft Office PowerPoint</Application>
  <PresentationFormat>宽屏</PresentationFormat>
  <Paragraphs>206</Paragraphs>
  <Slides>26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26</vt:i4>
      </vt:variant>
    </vt:vector>
  </HeadingPairs>
  <TitlesOfParts>
    <vt:vector size="39" baseType="lpstr">
      <vt:lpstr>Helvetica Neue</vt:lpstr>
      <vt:lpstr>等线</vt:lpstr>
      <vt:lpstr>黑体</vt:lpstr>
      <vt:lpstr>宋体</vt:lpstr>
      <vt:lpstr>微软雅黑</vt:lpstr>
      <vt:lpstr>Arial</vt:lpstr>
      <vt:lpstr>Trebuchet MS</vt:lpstr>
      <vt:lpstr>Wingdings</vt:lpstr>
      <vt:lpstr>1.常规 封面 封底</vt:lpstr>
      <vt:lpstr>2.品牌色 封面 封底</vt:lpstr>
      <vt:lpstr>3.特殊使用 封面 封底</vt:lpstr>
      <vt:lpstr>目录</vt:lpstr>
      <vt:lpstr>内容页</vt:lpstr>
      <vt:lpstr>广汽集团XXX项目立项报告</vt:lpstr>
      <vt:lpstr>PowerPoint 演示文稿</vt:lpstr>
      <vt:lpstr>目录</vt:lpstr>
      <vt:lpstr>PowerPoint 演示文稿</vt:lpstr>
      <vt:lpstr>PowerPoint 演示文稿</vt:lpstr>
      <vt:lpstr>PowerPoint 演示文稿</vt:lpstr>
      <vt:lpstr>PowerPoint 演示文稿</vt:lpstr>
      <vt:lpstr>二、主要内容</vt:lpstr>
      <vt:lpstr>PowerPoint 演示文稿</vt:lpstr>
      <vt:lpstr>PowerPoint 演示文稿</vt:lpstr>
      <vt:lpstr>二、主要内容</vt:lpstr>
      <vt:lpstr>二、主要内容</vt:lpstr>
      <vt:lpstr>二、主要内容</vt:lpstr>
      <vt:lpstr>二、主要内容</vt:lpstr>
      <vt:lpstr>二、主要内容</vt:lpstr>
      <vt:lpstr>二、主要内容</vt:lpstr>
      <vt:lpstr>二、主要内容</vt:lpstr>
      <vt:lpstr>二、主要内容</vt:lpstr>
      <vt:lpstr>PowerPoint 演示文稿</vt:lpstr>
      <vt:lpstr>PowerPoint 演示文稿</vt:lpstr>
      <vt:lpstr>PowerPoint 演示文稿</vt:lpstr>
      <vt:lpstr>二、主要内容</vt:lpstr>
      <vt:lpstr>三、论证意见</vt:lpstr>
      <vt:lpstr>四、提请审议事项</vt:lpstr>
      <vt:lpstr>谢谢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何兆亨</dc:creator>
  <cp:lastModifiedBy>李弛</cp:lastModifiedBy>
  <cp:revision>354</cp:revision>
  <cp:lastPrinted>2021-08-04T08:09:00Z</cp:lastPrinted>
  <dcterms:created xsi:type="dcterms:W3CDTF">2019-12-19T14:20:00Z</dcterms:created>
  <dcterms:modified xsi:type="dcterms:W3CDTF">2025-02-27T08:29:07Z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A7D050264A34465CB27B23E74609C775</vt:lpwstr>
  </property>
  <property fmtid="{D5CDD505-2E9C-101B-9397-08002B2CF9AE}" pid="3" name="KSOProductBuildVer">
    <vt:lpwstr>2052-11.8.2.12118</vt:lpwstr>
  </property>
</Properties>
</file>