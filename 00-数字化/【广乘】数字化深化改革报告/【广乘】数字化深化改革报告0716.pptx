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52" r:id="rId1"/>
    <p:sldMasterId id="2147483654" r:id="rId2"/>
  </p:sldMasterIdLst>
  <p:notesMasterIdLst>
    <p:notesMasterId r:id="rId4"/>
  </p:notesMasterIdLst>
  <p:sldIdLst>
    <p:sldId id="261" r:id="rId3"/>
  </p:sldIdLst>
  <p:sldSz cx="12192000" cy="6858000"/>
  <p:notesSz cx="6797675" cy="9926638"/>
  <p:defaultTextStyle>
    <a:defPPr>
      <a:defRPr lang="zh-CN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7BD"/>
    <a:srgbClr val="F49BA4"/>
    <a:srgbClr val="000000"/>
    <a:srgbClr val="58595B"/>
    <a:srgbClr val="EB0A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7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 bwMode="auto">
          <a:xfrm>
            <a:off x="1" y="0"/>
            <a:ext cx="2945659" cy="498056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 bwMode="auto"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>
              <a:defRPr sz="1200"/>
            </a:lvl1pPr>
          </a:lstStyle>
          <a:p>
            <a:pPr>
              <a:defRPr/>
            </a:pPr>
            <a:fld id="{64067185-6204-4C07-98B0-634F238BB6D6}" type="datetimeFigureOut">
              <a:rPr lang="en-US"/>
              <a:t>7/16/2024</a:t>
            </a:fld>
            <a:endParaRPr lang="zh-CN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>
              <a:defRPr/>
            </a:pPr>
            <a:endParaRPr lang="zh-CN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 bwMode="auto">
          <a:xfrm>
            <a:off x="679768" y="4777195"/>
            <a:ext cx="5438140" cy="3908613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>
              <a:defRPr/>
            </a:pPr>
            <a:r>
              <a:rPr lang="zh-CN"/>
              <a:t>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 bwMode="auto">
          <a:xfrm>
            <a:off x="1" y="9428584"/>
            <a:ext cx="2945659" cy="498055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 bwMode="auto"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r">
              <a:defRPr sz="1200"/>
            </a:lvl1pPr>
          </a:lstStyle>
          <a:p>
            <a:pPr>
              <a:defRPr/>
            </a:pPr>
            <a:fld id="{F331F712-4547-4DE3-A993-20640CD830EE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EBD6D0-6ADD-62C1-0CC4-168A4D39EAEB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目录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 bwMode="auto">
          <a:xfrm>
            <a:off x="438149" y="863806"/>
            <a:ext cx="11299433" cy="446276"/>
          </a:xfrm>
        </p:spPr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 bwMode="auto">
          <a:xfrm>
            <a:off x="438149" y="1310083"/>
            <a:ext cx="11299433" cy="4866880"/>
          </a:xfrm>
        </p:spPr>
        <p:txBody>
          <a:bodyPr anchor="t"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4560DDAC-31C5-F043-8769-66BDDD390B4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目录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 bwMode="auto">
          <a:xfrm>
            <a:off x="438149" y="863806"/>
            <a:ext cx="11299433" cy="446276"/>
          </a:xfrm>
        </p:spPr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 bwMode="auto">
          <a:xfrm>
            <a:off x="438149" y="1310083"/>
            <a:ext cx="11299433" cy="4866880"/>
          </a:xfrm>
        </p:spPr>
        <p:txBody>
          <a:bodyPr anchor="t"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60DDAC-31C5-F043-8769-66BDDD390B4A}" type="slidenum"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Arial"/>
              </a:rPr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710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.vml"/><Relationship Id="rId7" Type="http://schemas.openxmlformats.org/officeDocument/2006/relationships/image" Target="../media/image3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2.vml"/><Relationship Id="rId7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0070C0"/>
            </a:gs>
            <a:gs pos="50000">
              <a:srgbClr val="004EA8"/>
            </a:gs>
            <a:gs pos="75000">
              <a:srgbClr val="243BAE"/>
            </a:gs>
            <a:gs pos="100000">
              <a:srgbClr val="29248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8"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26" name=""/>
                      <p:cNvPicPr/>
                      <p:nvPr/>
                    </p:nvPicPr>
                    <p:blipFill>
                      <a:blip r:embed="rId5"/>
                      <a:stretch/>
                    </p:blipFill>
                    <p:spPr bwMode="auto"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/>
          <p:cNvSpPr>
            <a:spLocks noGrp="1"/>
          </p:cNvSpPr>
          <p:nvPr>
            <p:ph type="title"/>
          </p:nvPr>
        </p:nvSpPr>
        <p:spPr bwMode="auto">
          <a:xfrm>
            <a:off x="438149" y="863805"/>
            <a:ext cx="11299433" cy="58596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38149" y="1449770"/>
            <a:ext cx="11299433" cy="4727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45" name="矩形 44"/>
          <p:cNvSpPr>
            <a:spLocks noChangeAspect="1"/>
          </p:cNvSpPr>
          <p:nvPr userDrawn="1"/>
        </p:nvSpPr>
        <p:spPr bwMode="auto">
          <a:xfrm>
            <a:off x="12466146" y="1211576"/>
            <a:ext cx="576000" cy="32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46" name="文本框 45"/>
          <p:cNvSpPr txBox="1"/>
          <p:nvPr userDrawn="1"/>
        </p:nvSpPr>
        <p:spPr bwMode="auto">
          <a:xfrm>
            <a:off x="12466146" y="1003826"/>
            <a:ext cx="576000" cy="20005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>
              <a:defRPr/>
            </a:pPr>
            <a:r>
              <a:rPr lang="zh-CN" sz="700">
                <a:solidFill>
                  <a:schemeClr val="accent4"/>
                </a:solidFill>
              </a:rPr>
              <a:t>广汽红</a:t>
            </a:r>
            <a:endParaRPr/>
          </a:p>
        </p:txBody>
      </p:sp>
      <p:sp>
        <p:nvSpPr>
          <p:cNvPr id="47" name="矩形 46"/>
          <p:cNvSpPr>
            <a:spLocks noChangeAspect="1"/>
          </p:cNvSpPr>
          <p:nvPr userDrawn="1"/>
        </p:nvSpPr>
        <p:spPr bwMode="auto">
          <a:xfrm>
            <a:off x="12466146" y="2964454"/>
            <a:ext cx="576000" cy="3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48" name="文本框 47"/>
          <p:cNvSpPr txBox="1"/>
          <p:nvPr userDrawn="1"/>
        </p:nvSpPr>
        <p:spPr bwMode="auto">
          <a:xfrm>
            <a:off x="12466146" y="2756705"/>
            <a:ext cx="576000" cy="20005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>
              <a:defRPr/>
            </a:pPr>
            <a:r>
              <a:rPr lang="zh-CN" sz="700">
                <a:solidFill>
                  <a:schemeClr val="accent4"/>
                </a:solidFill>
              </a:rPr>
              <a:t>渐变辅助色</a:t>
            </a:r>
            <a:endParaRPr/>
          </a:p>
        </p:txBody>
      </p:sp>
      <p:sp>
        <p:nvSpPr>
          <p:cNvPr id="49" name="矩形 48"/>
          <p:cNvSpPr>
            <a:spLocks noChangeAspect="1"/>
          </p:cNvSpPr>
          <p:nvPr userDrawn="1"/>
        </p:nvSpPr>
        <p:spPr bwMode="auto">
          <a:xfrm>
            <a:off x="12466146" y="3302781"/>
            <a:ext cx="576000" cy="32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50" name="矩形 49"/>
          <p:cNvSpPr>
            <a:spLocks noChangeAspect="1"/>
          </p:cNvSpPr>
          <p:nvPr userDrawn="1"/>
        </p:nvSpPr>
        <p:spPr bwMode="auto">
          <a:xfrm>
            <a:off x="12466146" y="3641108"/>
            <a:ext cx="576000" cy="32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51" name="矩形 50"/>
          <p:cNvSpPr>
            <a:spLocks noChangeAspect="1"/>
          </p:cNvSpPr>
          <p:nvPr userDrawn="1"/>
        </p:nvSpPr>
        <p:spPr bwMode="auto">
          <a:xfrm>
            <a:off x="12466146" y="3979435"/>
            <a:ext cx="576000" cy="32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52" name="矩形 51"/>
          <p:cNvSpPr>
            <a:spLocks noChangeAspect="1"/>
          </p:cNvSpPr>
          <p:nvPr userDrawn="1"/>
        </p:nvSpPr>
        <p:spPr bwMode="auto">
          <a:xfrm>
            <a:off x="12466146" y="4317763"/>
            <a:ext cx="576000" cy="32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53" name="矩形 52"/>
          <p:cNvSpPr>
            <a:spLocks noChangeAspect="1"/>
          </p:cNvSpPr>
          <p:nvPr userDrawn="1"/>
        </p:nvSpPr>
        <p:spPr bwMode="auto">
          <a:xfrm>
            <a:off x="12466146" y="4656092"/>
            <a:ext cx="576000" cy="324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54" name="矩形 53"/>
          <p:cNvSpPr>
            <a:spLocks noChangeAspect="1"/>
          </p:cNvSpPr>
          <p:nvPr userDrawn="1"/>
        </p:nvSpPr>
        <p:spPr bwMode="auto">
          <a:xfrm>
            <a:off x="12466146" y="5191848"/>
            <a:ext cx="576000" cy="324000"/>
          </a:xfrm>
          <a:prstGeom prst="rect">
            <a:avLst/>
          </a:prstGeom>
          <a:solidFill>
            <a:srgbClr val="00B7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55" name="文本框 54"/>
          <p:cNvSpPr txBox="1"/>
          <p:nvPr userDrawn="1"/>
        </p:nvSpPr>
        <p:spPr bwMode="auto">
          <a:xfrm>
            <a:off x="12466146" y="4984098"/>
            <a:ext cx="576000" cy="20005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>
              <a:defRPr/>
            </a:pPr>
            <a:r>
              <a:rPr lang="zh-CN" sz="700">
                <a:solidFill>
                  <a:srgbClr val="00B7BD"/>
                </a:solidFill>
              </a:rPr>
              <a:t>辅助蓝色</a:t>
            </a:r>
            <a:endParaRPr/>
          </a:p>
        </p:txBody>
      </p:sp>
      <p:sp>
        <p:nvSpPr>
          <p:cNvPr id="56" name="矩形 55"/>
          <p:cNvSpPr>
            <a:spLocks noChangeAspect="1"/>
          </p:cNvSpPr>
          <p:nvPr userDrawn="1"/>
        </p:nvSpPr>
        <p:spPr bwMode="auto">
          <a:xfrm>
            <a:off x="12466146" y="5530175"/>
            <a:ext cx="576000" cy="324000"/>
          </a:xfrm>
          <a:prstGeom prst="rect">
            <a:avLst/>
          </a:prstGeom>
          <a:solidFill>
            <a:srgbClr val="006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57" name="矩形 56"/>
          <p:cNvSpPr>
            <a:spLocks noChangeAspect="1"/>
          </p:cNvSpPr>
          <p:nvPr userDrawn="1"/>
        </p:nvSpPr>
        <p:spPr bwMode="auto">
          <a:xfrm>
            <a:off x="12466146" y="1751772"/>
            <a:ext cx="576000" cy="32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58" name="文本框 57"/>
          <p:cNvSpPr txBox="1"/>
          <p:nvPr userDrawn="1"/>
        </p:nvSpPr>
        <p:spPr bwMode="auto">
          <a:xfrm>
            <a:off x="12466146" y="1544022"/>
            <a:ext cx="576000" cy="20005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>
              <a:defRPr/>
            </a:pPr>
            <a:r>
              <a:rPr lang="zh-CN" sz="700">
                <a:solidFill>
                  <a:schemeClr val="tx1"/>
                </a:solidFill>
              </a:rPr>
              <a:t>辅助色</a:t>
            </a:r>
            <a:endParaRPr/>
          </a:p>
        </p:txBody>
      </p:sp>
      <p:sp>
        <p:nvSpPr>
          <p:cNvPr id="59" name="矩形 58"/>
          <p:cNvSpPr>
            <a:spLocks noChangeAspect="1"/>
          </p:cNvSpPr>
          <p:nvPr userDrawn="1"/>
        </p:nvSpPr>
        <p:spPr bwMode="auto">
          <a:xfrm>
            <a:off x="12466146" y="2090099"/>
            <a:ext cx="576000" cy="32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60" name="矩形 59"/>
          <p:cNvSpPr>
            <a:spLocks noChangeAspect="1"/>
          </p:cNvSpPr>
          <p:nvPr userDrawn="1"/>
        </p:nvSpPr>
        <p:spPr bwMode="auto">
          <a:xfrm>
            <a:off x="12466146" y="2428425"/>
            <a:ext cx="576000" cy="32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6"/>
          <a:stretch/>
        </p:blipFill>
        <p:spPr bwMode="auto">
          <a:xfrm>
            <a:off x="9125996" y="272269"/>
            <a:ext cx="2628000" cy="27354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7"/>
          <a:stretch/>
        </p:blipFill>
        <p:spPr bwMode="auto">
          <a:xfrm>
            <a:off x="9237596" y="6404384"/>
            <a:ext cx="2516400" cy="255582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438149" y="6356350"/>
            <a:ext cx="2743200" cy="365125"/>
          </a:xfrm>
          <a:prstGeom prst="rect">
            <a:avLst/>
          </a:prstGeom>
        </p:spPr>
        <p:txBody>
          <a:bodyPr vert="horz" lIns="0" tIns="45720" rIns="9000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4560DDAC-31C5-F043-8769-66BDDD390B4A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hdr="0" ftr="0" dt="0"/>
  <p:txStyles>
    <p:titleStyle>
      <a:lvl1pPr algn="l" defTabSz="914400">
        <a:lnSpc>
          <a:spcPct val="90000"/>
        </a:lnSpc>
        <a:spcBef>
          <a:spcPts val="0"/>
        </a:spcBef>
        <a:buNone/>
        <a:defRPr sz="3200" b="1">
          <a:solidFill>
            <a:srgbClr val="FFFFCC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>
        <a:lnSpc>
          <a:spcPct val="200000"/>
        </a:lnSpc>
        <a:spcBef>
          <a:spcPts val="0"/>
        </a:spcBef>
        <a:buFont typeface="Arial"/>
        <a:buNone/>
        <a:defRPr sz="2000" b="1">
          <a:solidFill>
            <a:srgbClr val="FFFFCC"/>
          </a:solidFill>
          <a:latin typeface="+mn-lt"/>
          <a:ea typeface="+mn-ea"/>
          <a:cs typeface="+mn-cs"/>
        </a:defRPr>
      </a:lvl1pPr>
      <a:lvl2pPr marL="0" indent="0" algn="l" defTabSz="914400">
        <a:lnSpc>
          <a:spcPct val="200000"/>
        </a:lnSpc>
        <a:spcBef>
          <a:spcPts val="0"/>
        </a:spcBef>
        <a:buFont typeface="Arial"/>
        <a:buNone/>
        <a:defRPr sz="2000" b="1">
          <a:solidFill>
            <a:srgbClr val="FFFFCC"/>
          </a:solidFill>
          <a:latin typeface="+mn-lt"/>
          <a:ea typeface="+mn-ea"/>
          <a:cs typeface="+mn-cs"/>
        </a:defRPr>
      </a:lvl2pPr>
      <a:lvl3pPr marL="0" indent="0" algn="l" defTabSz="914400">
        <a:lnSpc>
          <a:spcPct val="200000"/>
        </a:lnSpc>
        <a:spcBef>
          <a:spcPts val="0"/>
        </a:spcBef>
        <a:buFont typeface="Arial"/>
        <a:buNone/>
        <a:defRPr sz="2000" b="1">
          <a:solidFill>
            <a:srgbClr val="FFFFCC"/>
          </a:solidFill>
          <a:latin typeface="+mn-lt"/>
          <a:ea typeface="+mn-ea"/>
          <a:cs typeface="+mn-cs"/>
        </a:defRPr>
      </a:lvl3pPr>
      <a:lvl4pPr marL="0" indent="0" algn="l" defTabSz="914400">
        <a:lnSpc>
          <a:spcPct val="200000"/>
        </a:lnSpc>
        <a:spcBef>
          <a:spcPts val="0"/>
        </a:spcBef>
        <a:buFont typeface="Arial"/>
        <a:buNone/>
        <a:defRPr sz="2000" b="1">
          <a:solidFill>
            <a:srgbClr val="FFFFCC"/>
          </a:solidFill>
          <a:latin typeface="+mn-lt"/>
          <a:ea typeface="+mn-ea"/>
          <a:cs typeface="+mn-cs"/>
        </a:defRPr>
      </a:lvl4pPr>
      <a:lvl5pPr marL="0" indent="0" algn="l" defTabSz="914400">
        <a:lnSpc>
          <a:spcPct val="200000"/>
        </a:lnSpc>
        <a:spcBef>
          <a:spcPts val="0"/>
        </a:spcBef>
        <a:buFont typeface="Arial"/>
        <a:buNone/>
        <a:defRPr sz="2000" b="1">
          <a:solidFill>
            <a:srgbClr val="FFFFCC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0070C0"/>
            </a:gs>
            <a:gs pos="50000">
              <a:srgbClr val="004EA8"/>
            </a:gs>
            <a:gs pos="75000">
              <a:srgbClr val="243BAE"/>
            </a:gs>
            <a:gs pos="100000">
              <a:srgbClr val="29248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/>
          <p:cNvGraphicFramePr>
            <a:graphicFrameLocks noChangeAspect="1"/>
          </p:cNvGraphicFramePr>
          <p:nvPr>
            <p:extLst/>
          </p:nvPr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9"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5"/>
                      <a:stretch/>
                    </p:blipFill>
                    <p:spPr bwMode="auto"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/>
          <p:cNvSpPr>
            <a:spLocks noGrp="1"/>
          </p:cNvSpPr>
          <p:nvPr>
            <p:ph type="title"/>
          </p:nvPr>
        </p:nvSpPr>
        <p:spPr bwMode="auto">
          <a:xfrm>
            <a:off x="438149" y="863805"/>
            <a:ext cx="11299433" cy="58596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38149" y="1449770"/>
            <a:ext cx="11299433" cy="4727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45" name="矩形 44"/>
          <p:cNvSpPr>
            <a:spLocks noChangeAspect="1"/>
          </p:cNvSpPr>
          <p:nvPr userDrawn="1"/>
        </p:nvSpPr>
        <p:spPr bwMode="auto">
          <a:xfrm>
            <a:off x="12466146" y="1211576"/>
            <a:ext cx="576000" cy="32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46" name="文本框 45"/>
          <p:cNvSpPr txBox="1"/>
          <p:nvPr userDrawn="1"/>
        </p:nvSpPr>
        <p:spPr bwMode="auto">
          <a:xfrm>
            <a:off x="12466146" y="1003826"/>
            <a:ext cx="576000" cy="20005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0" cap="none" spc="0" normalizeH="0" baseline="0" noProof="0">
                <a:ln>
                  <a:noFill/>
                </a:ln>
                <a:solidFill>
                  <a:srgbClr val="EB0A1E"/>
                </a:solidFill>
                <a:effectLst/>
                <a:uLnTx/>
                <a:uFillTx/>
                <a:latin typeface="微软雅黑"/>
                <a:ea typeface="微软雅黑"/>
                <a:cs typeface="Arial"/>
              </a:rPr>
              <a:t>广汽红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47" name="矩形 46"/>
          <p:cNvSpPr>
            <a:spLocks noChangeAspect="1"/>
          </p:cNvSpPr>
          <p:nvPr userDrawn="1"/>
        </p:nvSpPr>
        <p:spPr bwMode="auto">
          <a:xfrm>
            <a:off x="12466146" y="2964454"/>
            <a:ext cx="576000" cy="3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48" name="文本框 47"/>
          <p:cNvSpPr txBox="1"/>
          <p:nvPr userDrawn="1"/>
        </p:nvSpPr>
        <p:spPr bwMode="auto">
          <a:xfrm>
            <a:off x="12466146" y="2756705"/>
            <a:ext cx="576000" cy="20005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0" cap="none" spc="0" normalizeH="0" baseline="0" noProof="0">
                <a:ln>
                  <a:noFill/>
                </a:ln>
                <a:solidFill>
                  <a:srgbClr val="EB0A1E"/>
                </a:solidFill>
                <a:effectLst/>
                <a:uLnTx/>
                <a:uFillTx/>
                <a:latin typeface="微软雅黑"/>
                <a:ea typeface="微软雅黑"/>
                <a:cs typeface="Arial"/>
              </a:rPr>
              <a:t>渐变辅助色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49" name="矩形 48"/>
          <p:cNvSpPr>
            <a:spLocks noChangeAspect="1"/>
          </p:cNvSpPr>
          <p:nvPr userDrawn="1"/>
        </p:nvSpPr>
        <p:spPr bwMode="auto">
          <a:xfrm>
            <a:off x="12466146" y="3302781"/>
            <a:ext cx="576000" cy="32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50" name="矩形 49"/>
          <p:cNvSpPr>
            <a:spLocks noChangeAspect="1"/>
          </p:cNvSpPr>
          <p:nvPr userDrawn="1"/>
        </p:nvSpPr>
        <p:spPr bwMode="auto">
          <a:xfrm>
            <a:off x="12466146" y="3641108"/>
            <a:ext cx="576000" cy="32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51" name="矩形 50"/>
          <p:cNvSpPr>
            <a:spLocks noChangeAspect="1"/>
          </p:cNvSpPr>
          <p:nvPr userDrawn="1"/>
        </p:nvSpPr>
        <p:spPr bwMode="auto">
          <a:xfrm>
            <a:off x="12466146" y="3979435"/>
            <a:ext cx="576000" cy="32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52" name="矩形 51"/>
          <p:cNvSpPr>
            <a:spLocks noChangeAspect="1"/>
          </p:cNvSpPr>
          <p:nvPr userDrawn="1"/>
        </p:nvSpPr>
        <p:spPr bwMode="auto">
          <a:xfrm>
            <a:off x="12466146" y="4317763"/>
            <a:ext cx="576000" cy="32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53" name="矩形 52"/>
          <p:cNvSpPr>
            <a:spLocks noChangeAspect="1"/>
          </p:cNvSpPr>
          <p:nvPr userDrawn="1"/>
        </p:nvSpPr>
        <p:spPr bwMode="auto">
          <a:xfrm>
            <a:off x="12466146" y="4656092"/>
            <a:ext cx="576000" cy="324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54" name="矩形 53"/>
          <p:cNvSpPr>
            <a:spLocks noChangeAspect="1"/>
          </p:cNvSpPr>
          <p:nvPr userDrawn="1"/>
        </p:nvSpPr>
        <p:spPr bwMode="auto">
          <a:xfrm>
            <a:off x="12466146" y="5191848"/>
            <a:ext cx="576000" cy="324000"/>
          </a:xfrm>
          <a:prstGeom prst="rect">
            <a:avLst/>
          </a:prstGeom>
          <a:solidFill>
            <a:srgbClr val="00B7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55" name="文本框 54"/>
          <p:cNvSpPr txBox="1"/>
          <p:nvPr userDrawn="1"/>
        </p:nvSpPr>
        <p:spPr bwMode="auto">
          <a:xfrm>
            <a:off x="12466146" y="4984098"/>
            <a:ext cx="576000" cy="20005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0" cap="none" spc="0" normalizeH="0" baseline="0" noProof="0">
                <a:ln>
                  <a:noFill/>
                </a:ln>
                <a:solidFill>
                  <a:srgbClr val="00B7BD"/>
                </a:solidFill>
                <a:effectLst/>
                <a:uLnTx/>
                <a:uFillTx/>
                <a:latin typeface="微软雅黑"/>
                <a:ea typeface="微软雅黑"/>
                <a:cs typeface="Arial"/>
              </a:rPr>
              <a:t>辅助蓝色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56" name="矩形 55"/>
          <p:cNvSpPr>
            <a:spLocks noChangeAspect="1"/>
          </p:cNvSpPr>
          <p:nvPr userDrawn="1"/>
        </p:nvSpPr>
        <p:spPr bwMode="auto">
          <a:xfrm>
            <a:off x="12466146" y="5530175"/>
            <a:ext cx="576000" cy="324000"/>
          </a:xfrm>
          <a:prstGeom prst="rect">
            <a:avLst/>
          </a:prstGeom>
          <a:solidFill>
            <a:srgbClr val="006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57" name="矩形 56"/>
          <p:cNvSpPr>
            <a:spLocks noChangeAspect="1"/>
          </p:cNvSpPr>
          <p:nvPr userDrawn="1"/>
        </p:nvSpPr>
        <p:spPr bwMode="auto">
          <a:xfrm>
            <a:off x="12466146" y="1751772"/>
            <a:ext cx="576000" cy="32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58" name="文本框 57"/>
          <p:cNvSpPr txBox="1"/>
          <p:nvPr userDrawn="1"/>
        </p:nvSpPr>
        <p:spPr bwMode="auto">
          <a:xfrm>
            <a:off x="12466146" y="1544022"/>
            <a:ext cx="576000" cy="20005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Arial"/>
              </a:rPr>
              <a:t>辅助色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59" name="矩形 58"/>
          <p:cNvSpPr>
            <a:spLocks noChangeAspect="1"/>
          </p:cNvSpPr>
          <p:nvPr userDrawn="1"/>
        </p:nvSpPr>
        <p:spPr bwMode="auto">
          <a:xfrm>
            <a:off x="12466146" y="2090099"/>
            <a:ext cx="576000" cy="32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60" name="矩形 59"/>
          <p:cNvSpPr>
            <a:spLocks noChangeAspect="1"/>
          </p:cNvSpPr>
          <p:nvPr userDrawn="1"/>
        </p:nvSpPr>
        <p:spPr bwMode="auto">
          <a:xfrm>
            <a:off x="12466146" y="2428425"/>
            <a:ext cx="576000" cy="32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6"/>
          <a:stretch/>
        </p:blipFill>
        <p:spPr bwMode="auto">
          <a:xfrm>
            <a:off x="9125996" y="272269"/>
            <a:ext cx="2628000" cy="27354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7"/>
          <a:stretch/>
        </p:blipFill>
        <p:spPr bwMode="auto">
          <a:xfrm>
            <a:off x="9237596" y="6404384"/>
            <a:ext cx="2516400" cy="255582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438149" y="6356350"/>
            <a:ext cx="2743200" cy="365125"/>
          </a:xfrm>
          <a:prstGeom prst="rect">
            <a:avLst/>
          </a:prstGeom>
        </p:spPr>
        <p:txBody>
          <a:bodyPr vert="horz" lIns="0" tIns="45720" rIns="9000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60DDAC-31C5-F043-8769-66BDDD390B4A}" type="slidenum"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Arial"/>
              </a:rPr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5300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hdr="0" ftr="0" dt="0"/>
  <p:txStyles>
    <p:titleStyle>
      <a:lvl1pPr algn="l" defTabSz="914400">
        <a:lnSpc>
          <a:spcPct val="90000"/>
        </a:lnSpc>
        <a:spcBef>
          <a:spcPts val="0"/>
        </a:spcBef>
        <a:buNone/>
        <a:defRPr sz="3200" b="1">
          <a:solidFill>
            <a:srgbClr val="FFFFCC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>
        <a:lnSpc>
          <a:spcPct val="200000"/>
        </a:lnSpc>
        <a:spcBef>
          <a:spcPts val="0"/>
        </a:spcBef>
        <a:buFont typeface="Arial"/>
        <a:buNone/>
        <a:defRPr sz="2000" b="1">
          <a:solidFill>
            <a:srgbClr val="FFFFCC"/>
          </a:solidFill>
          <a:latin typeface="+mn-lt"/>
          <a:ea typeface="+mn-ea"/>
          <a:cs typeface="+mn-cs"/>
        </a:defRPr>
      </a:lvl1pPr>
      <a:lvl2pPr marL="0" indent="0" algn="l" defTabSz="914400">
        <a:lnSpc>
          <a:spcPct val="200000"/>
        </a:lnSpc>
        <a:spcBef>
          <a:spcPts val="0"/>
        </a:spcBef>
        <a:buFont typeface="Arial"/>
        <a:buNone/>
        <a:defRPr sz="2000" b="1">
          <a:solidFill>
            <a:srgbClr val="FFFFCC"/>
          </a:solidFill>
          <a:latin typeface="+mn-lt"/>
          <a:ea typeface="+mn-ea"/>
          <a:cs typeface="+mn-cs"/>
        </a:defRPr>
      </a:lvl2pPr>
      <a:lvl3pPr marL="0" indent="0" algn="l" defTabSz="914400">
        <a:lnSpc>
          <a:spcPct val="200000"/>
        </a:lnSpc>
        <a:spcBef>
          <a:spcPts val="0"/>
        </a:spcBef>
        <a:buFont typeface="Arial"/>
        <a:buNone/>
        <a:defRPr sz="2000" b="1">
          <a:solidFill>
            <a:srgbClr val="FFFFCC"/>
          </a:solidFill>
          <a:latin typeface="+mn-lt"/>
          <a:ea typeface="+mn-ea"/>
          <a:cs typeface="+mn-cs"/>
        </a:defRPr>
      </a:lvl3pPr>
      <a:lvl4pPr marL="0" indent="0" algn="l" defTabSz="914400">
        <a:lnSpc>
          <a:spcPct val="200000"/>
        </a:lnSpc>
        <a:spcBef>
          <a:spcPts val="0"/>
        </a:spcBef>
        <a:buFont typeface="Arial"/>
        <a:buNone/>
        <a:defRPr sz="2000" b="1">
          <a:solidFill>
            <a:srgbClr val="FFFFCC"/>
          </a:solidFill>
          <a:latin typeface="+mn-lt"/>
          <a:ea typeface="+mn-ea"/>
          <a:cs typeface="+mn-cs"/>
        </a:defRPr>
      </a:lvl4pPr>
      <a:lvl5pPr marL="0" indent="0" algn="l" defTabSz="914400">
        <a:lnSpc>
          <a:spcPct val="200000"/>
        </a:lnSpc>
        <a:spcBef>
          <a:spcPts val="0"/>
        </a:spcBef>
        <a:buFont typeface="Arial"/>
        <a:buNone/>
        <a:defRPr sz="2000" b="1">
          <a:solidFill>
            <a:srgbClr val="FFFFCC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rgbClr val="0070C0"/>
            </a:gs>
            <a:gs pos="50000">
              <a:srgbClr val="004EA8"/>
            </a:gs>
            <a:gs pos="75000">
              <a:srgbClr val="243BAE"/>
            </a:gs>
            <a:gs pos="100000">
              <a:srgbClr val="29248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 bwMode="auto">
          <a:xfrm>
            <a:off x="438149" y="338729"/>
            <a:ext cx="11299433" cy="44627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sz="2800" dirty="0"/>
              <a:t>四</a:t>
            </a:r>
            <a:r>
              <a:rPr lang="zh-CN" sz="2800" dirty="0"/>
              <a:t>、</a:t>
            </a:r>
            <a:r>
              <a:rPr lang="zh-CN" dirty="0"/>
              <a:t>推动科技创新落地应用</a:t>
            </a:r>
            <a:endParaRPr lang="zh-CN" sz="2800" dirty="0"/>
          </a:p>
        </p:txBody>
      </p:sp>
      <p:sp>
        <p:nvSpPr>
          <p:cNvPr id="4" name="标题 4"/>
          <p:cNvSpPr txBox="1"/>
          <p:nvPr/>
        </p:nvSpPr>
        <p:spPr bwMode="auto">
          <a:xfrm>
            <a:off x="438149" y="825232"/>
            <a:ext cx="11605805" cy="637122"/>
          </a:xfrm>
          <a:prstGeom prst="rect">
            <a:avLst/>
          </a:prstGeom>
        </p:spPr>
        <p:txBody>
          <a:bodyPr vert="horz" lIns="0" tIns="0" rIns="0" bIns="0" rtlCol="0" anchor="ctr">
            <a:normAutofit fontScale="92500"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rgbClr val="FFFFCC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zh-CN" sz="2000">
                <a:solidFill>
                  <a:schemeClr val="bg1"/>
                </a:solidFill>
              </a:rPr>
              <a:t>企业结合现状，梳理在科技创新应用、智能化赋能（如</a:t>
            </a:r>
            <a:r>
              <a:rPr lang="en-US" sz="2000">
                <a:solidFill>
                  <a:schemeClr val="bg1"/>
                </a:solidFill>
              </a:rPr>
              <a:t>AI</a:t>
            </a:r>
            <a:r>
              <a:rPr lang="zh-CN" sz="2000">
                <a:solidFill>
                  <a:schemeClr val="bg1"/>
                </a:solidFill>
              </a:rPr>
              <a:t>大模型的落地）、商业模式变革等方面的</a:t>
            </a:r>
            <a:r>
              <a:rPr lang="zh-CN" sz="2000">
                <a:solidFill>
                  <a:srgbClr val="FFC000"/>
                </a:solidFill>
              </a:rPr>
              <a:t>举措</a:t>
            </a:r>
            <a:r>
              <a:rPr lang="zh-CN" sz="2000">
                <a:solidFill>
                  <a:schemeClr val="bg1"/>
                </a:solidFill>
              </a:rPr>
              <a:t>和</a:t>
            </a:r>
            <a:r>
              <a:rPr lang="zh-CN" sz="2000">
                <a:solidFill>
                  <a:srgbClr val="FFC000"/>
                </a:solidFill>
              </a:rPr>
              <a:t>计划</a:t>
            </a:r>
            <a:r>
              <a:rPr lang="zh-CN" sz="2000">
                <a:solidFill>
                  <a:schemeClr val="bg1"/>
                </a:solidFill>
              </a:rPr>
              <a:t>。</a:t>
            </a:r>
            <a:endParaRPr/>
          </a:p>
        </p:txBody>
      </p:sp>
      <p:sp>
        <p:nvSpPr>
          <p:cNvPr id="39" name="任意多边形 38"/>
          <p:cNvSpPr/>
          <p:nvPr/>
        </p:nvSpPr>
        <p:spPr bwMode="auto">
          <a:xfrm>
            <a:off x="1431912" y="1757045"/>
            <a:ext cx="164646" cy="176089"/>
          </a:xfrm>
          <a:custGeom>
            <a:avLst/>
            <a:gdLst>
              <a:gd name="adj" fmla="val 51896"/>
              <a:gd name="maxAdj" fmla="*/ 50000 w ss"/>
              <a:gd name="a" fmla="pin 0 adj maxAdj"/>
              <a:gd name="x1" fmla="*/ ss a 200000"/>
              <a:gd name="x2" fmla="*/ ss a 100000"/>
              <a:gd name="x3" fmla="+- r 0 x2"/>
              <a:gd name="x4" fmla="+- r 0 x1"/>
              <a:gd name="il" fmla="*/ wd3 a maxAdj"/>
              <a:gd name="it" fmla="*/ hd3 a maxAdj"/>
              <a:gd name="ir" fmla="+- r 0 il"/>
            </a:gdLst>
            <a:ahLst/>
            <a:cxnLst>
              <a:cxn ang="3">
                <a:pos x="hc" y="t"/>
              </a:cxn>
              <a:cxn ang="cd2">
                <a:pos x="x1" y="vc"/>
              </a:cxn>
              <a:cxn ang="cd4">
                <a:pos x="hc" y="b"/>
              </a:cxn>
              <a:cxn ang="0">
                <a:pos x="x4" y="vc"/>
              </a:cxn>
            </a:cxnLst>
            <a:rect l="l" t="t" r="r" b="b"/>
            <a:pathLst>
              <a:path w="251" h="484" extrusionOk="0">
                <a:moveTo>
                  <a:pt x="0" y="0"/>
                </a:moveTo>
                <a:lnTo>
                  <a:pt x="251" y="484"/>
                </a:lnTo>
                <a:lnTo>
                  <a:pt x="0" y="4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1800" b="0" i="0" u="none" strike="noStrike" cap="none" spc="0">
              <a:ln>
                <a:noFill/>
              </a:ln>
              <a:solidFill>
                <a:srgbClr val="FFFFFF"/>
              </a:solidFill>
              <a:latin typeface="Arial"/>
              <a:ea typeface="微软雅黑"/>
              <a:cs typeface="+mn-cs"/>
            </a:endParaRPr>
          </a:p>
        </p:txBody>
      </p:sp>
      <p:sp>
        <p:nvSpPr>
          <p:cNvPr id="40" name="圆角矩形 39"/>
          <p:cNvSpPr/>
          <p:nvPr/>
        </p:nvSpPr>
        <p:spPr bwMode="auto">
          <a:xfrm>
            <a:off x="596470" y="1932311"/>
            <a:ext cx="3381889" cy="3134989"/>
          </a:xfrm>
          <a:prstGeom prst="roundRect">
            <a:avLst>
              <a:gd name="adj" fmla="val 6372"/>
            </a:avLst>
          </a:prstGeom>
          <a:solidFill>
            <a:srgbClr val="F4FEFC"/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715" tIns="53715" rIns="53715" bIns="53715" numCol="1" spcCol="1270" rtlCol="0" anchor="ctr" anchorCtr="0">
            <a:noAutofit/>
          </a:bodyPr>
          <a:lstStyle/>
          <a:p>
            <a:pPr algn="ctr" defTabSz="4889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sz="1000" b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/>
              <a:ea typeface="微软雅黑"/>
              <a:cs typeface="Arial"/>
            </a:endParaRPr>
          </a:p>
        </p:txBody>
      </p:sp>
      <p:sp>
        <p:nvSpPr>
          <p:cNvPr id="41" name="矩形 40"/>
          <p:cNvSpPr/>
          <p:nvPr/>
        </p:nvSpPr>
        <p:spPr bwMode="auto">
          <a:xfrm>
            <a:off x="866448" y="1757045"/>
            <a:ext cx="560662" cy="79495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4"/>
              </a:gs>
            </a:gsLst>
            <a:lin ang="18900000" scaled="1"/>
          </a:gra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indent="457200">
              <a:defRPr/>
            </a:pPr>
            <a:endParaRPr lang="zh-CN" sz="2000" b="1">
              <a:solidFill>
                <a:prstClr val="white"/>
              </a:solidFill>
              <a:latin typeface="微软雅黑"/>
              <a:ea typeface="微软雅黑"/>
              <a:cs typeface="Arial"/>
            </a:endParaRPr>
          </a:p>
        </p:txBody>
      </p:sp>
      <p:sp>
        <p:nvSpPr>
          <p:cNvPr id="47" name="任意多边形 46"/>
          <p:cNvSpPr/>
          <p:nvPr/>
        </p:nvSpPr>
        <p:spPr bwMode="auto">
          <a:xfrm>
            <a:off x="9073570" y="1757045"/>
            <a:ext cx="164646" cy="176089"/>
          </a:xfrm>
          <a:custGeom>
            <a:avLst/>
            <a:gdLst>
              <a:gd name="adj" fmla="val 51896"/>
              <a:gd name="maxAdj" fmla="*/ 50000 w ss"/>
              <a:gd name="a" fmla="pin 0 adj maxAdj"/>
              <a:gd name="x1" fmla="*/ ss a 200000"/>
              <a:gd name="x2" fmla="*/ ss a 100000"/>
              <a:gd name="x3" fmla="+- r 0 x2"/>
              <a:gd name="x4" fmla="+- r 0 x1"/>
              <a:gd name="il" fmla="*/ wd3 a maxAdj"/>
              <a:gd name="it" fmla="*/ hd3 a maxAdj"/>
              <a:gd name="ir" fmla="+- r 0 il"/>
            </a:gdLst>
            <a:ahLst/>
            <a:cxnLst>
              <a:cxn ang="3">
                <a:pos x="hc" y="t"/>
              </a:cxn>
              <a:cxn ang="cd2">
                <a:pos x="x1" y="vc"/>
              </a:cxn>
              <a:cxn ang="cd4">
                <a:pos x="hc" y="b"/>
              </a:cxn>
              <a:cxn ang="0">
                <a:pos x="x4" y="vc"/>
              </a:cxn>
            </a:cxnLst>
            <a:rect l="l" t="t" r="r" b="b"/>
            <a:pathLst>
              <a:path w="251" h="484" extrusionOk="0">
                <a:moveTo>
                  <a:pt x="0" y="0"/>
                </a:moveTo>
                <a:lnTo>
                  <a:pt x="251" y="484"/>
                </a:lnTo>
                <a:lnTo>
                  <a:pt x="0" y="4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1800" b="0" i="0" u="none" strike="noStrike" cap="none" spc="0">
              <a:ln>
                <a:noFill/>
              </a:ln>
              <a:solidFill>
                <a:srgbClr val="FFFFFF"/>
              </a:solidFill>
              <a:latin typeface="Arial"/>
              <a:ea typeface="微软雅黑"/>
              <a:cs typeface="+mn-cs"/>
            </a:endParaRPr>
          </a:p>
        </p:txBody>
      </p:sp>
      <p:sp>
        <p:nvSpPr>
          <p:cNvPr id="48" name="圆角矩形 47"/>
          <p:cNvSpPr/>
          <p:nvPr/>
        </p:nvSpPr>
        <p:spPr bwMode="auto">
          <a:xfrm>
            <a:off x="8238128" y="1932311"/>
            <a:ext cx="3381889" cy="3134989"/>
          </a:xfrm>
          <a:prstGeom prst="roundRect">
            <a:avLst>
              <a:gd name="adj" fmla="val 6372"/>
            </a:avLst>
          </a:prstGeom>
          <a:solidFill>
            <a:srgbClr val="F4FEFC"/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715" tIns="53715" rIns="53715" bIns="53715" numCol="1" spcCol="1270" rtlCol="0" anchor="ctr" anchorCtr="0">
            <a:noAutofit/>
          </a:bodyPr>
          <a:lstStyle/>
          <a:p>
            <a:pPr algn="ctr" defTabSz="4889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sz="1000" b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/>
              <a:ea typeface="微软雅黑"/>
              <a:cs typeface="Arial"/>
            </a:endParaRPr>
          </a:p>
        </p:txBody>
      </p:sp>
      <p:sp>
        <p:nvSpPr>
          <p:cNvPr id="49" name="矩形 48"/>
          <p:cNvSpPr/>
          <p:nvPr/>
        </p:nvSpPr>
        <p:spPr bwMode="auto">
          <a:xfrm>
            <a:off x="8508107" y="1757045"/>
            <a:ext cx="560662" cy="79495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4"/>
              </a:gs>
            </a:gsLst>
            <a:lin ang="18900000" scaled="1"/>
          </a:gra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indent="457200">
              <a:defRPr/>
            </a:pPr>
            <a:endParaRPr lang="zh-CN" sz="2000" b="1">
              <a:solidFill>
                <a:prstClr val="white"/>
              </a:solidFill>
              <a:latin typeface="微软雅黑"/>
              <a:ea typeface="微软雅黑"/>
              <a:cs typeface="Arial"/>
            </a:endParaRPr>
          </a:p>
        </p:txBody>
      </p:sp>
      <p:sp>
        <p:nvSpPr>
          <p:cNvPr id="54" name="文本框 53"/>
          <p:cNvSpPr txBox="1"/>
          <p:nvPr/>
        </p:nvSpPr>
        <p:spPr bwMode="auto">
          <a:xfrm>
            <a:off x="834504" y="1821950"/>
            <a:ext cx="547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>
                <a:solidFill>
                  <a:srgbClr val="000000"/>
                </a:solidFill>
                <a:latin typeface="等线 Light"/>
                <a:ea typeface="等线 Light"/>
              </a:rPr>
              <a:t>1</a:t>
            </a:r>
            <a:endParaRPr/>
          </a:p>
        </p:txBody>
      </p:sp>
      <p:sp>
        <p:nvSpPr>
          <p:cNvPr id="56" name="文本框 55"/>
          <p:cNvSpPr txBox="1"/>
          <p:nvPr/>
        </p:nvSpPr>
        <p:spPr bwMode="auto">
          <a:xfrm>
            <a:off x="8476163" y="1821950"/>
            <a:ext cx="547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>
                <a:solidFill>
                  <a:srgbClr val="000000"/>
                </a:solidFill>
                <a:latin typeface="等线 Light"/>
                <a:ea typeface="等线 Light"/>
              </a:rPr>
              <a:t>3</a:t>
            </a:r>
            <a:endParaRPr/>
          </a:p>
        </p:txBody>
      </p:sp>
      <p:sp>
        <p:nvSpPr>
          <p:cNvPr id="59" name="文本框 58"/>
          <p:cNvSpPr txBox="1"/>
          <p:nvPr/>
        </p:nvSpPr>
        <p:spPr bwMode="auto">
          <a:xfrm>
            <a:off x="1601201" y="2071700"/>
            <a:ext cx="220228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en-US" altLang="zh-CN" sz="2000" b="1" spc="13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APP</a:t>
            </a:r>
            <a:r>
              <a:rPr lang="zh-CN" altLang="en-US" sz="2000" b="1" spc="13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创新营销</a:t>
            </a:r>
            <a:endParaRPr dirty="0"/>
          </a:p>
        </p:txBody>
      </p:sp>
      <p:sp>
        <p:nvSpPr>
          <p:cNvPr id="66" name="矩形 65"/>
          <p:cNvSpPr/>
          <p:nvPr/>
        </p:nvSpPr>
        <p:spPr bwMode="auto">
          <a:xfrm>
            <a:off x="1575635" y="2478521"/>
            <a:ext cx="782324" cy="50912"/>
          </a:xfrm>
          <a:prstGeom prst="rect">
            <a:avLst/>
          </a:prstGeom>
          <a:gradFill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1800" b="0" i="0" u="none" strike="noStrike" cap="none" spc="0">
              <a:ln>
                <a:noFill/>
              </a:ln>
              <a:solidFill>
                <a:srgbClr val="FFFFFF"/>
              </a:solidFill>
              <a:latin typeface="Arial"/>
              <a:ea typeface="微软雅黑"/>
              <a:cs typeface="+mn-cs"/>
            </a:endParaRPr>
          </a:p>
        </p:txBody>
      </p:sp>
      <p:sp>
        <p:nvSpPr>
          <p:cNvPr id="73" name="文本框 72"/>
          <p:cNvSpPr txBox="1"/>
          <p:nvPr/>
        </p:nvSpPr>
        <p:spPr bwMode="auto">
          <a:xfrm>
            <a:off x="9216327" y="2071700"/>
            <a:ext cx="220228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zh-CN" sz="2000" b="1" spc="13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其他创新</a:t>
            </a:r>
            <a:endParaRPr/>
          </a:p>
        </p:txBody>
      </p:sp>
      <p:sp>
        <p:nvSpPr>
          <p:cNvPr id="74" name="矩形 73"/>
          <p:cNvSpPr/>
          <p:nvPr/>
        </p:nvSpPr>
        <p:spPr bwMode="auto">
          <a:xfrm>
            <a:off x="9190761" y="2478521"/>
            <a:ext cx="782324" cy="50912"/>
          </a:xfrm>
          <a:prstGeom prst="rect">
            <a:avLst/>
          </a:prstGeom>
          <a:gradFill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1800" b="0" i="0" u="none" strike="noStrike" cap="none" spc="0">
              <a:ln>
                <a:noFill/>
              </a:ln>
              <a:solidFill>
                <a:srgbClr val="FFFFFF"/>
              </a:solidFill>
              <a:latin typeface="Arial"/>
              <a:ea typeface="微软雅黑"/>
              <a:cs typeface="+mn-cs"/>
            </a:endParaRPr>
          </a:p>
        </p:txBody>
      </p:sp>
      <p:sp>
        <p:nvSpPr>
          <p:cNvPr id="80" name="文本框 79"/>
          <p:cNvSpPr txBox="1"/>
          <p:nvPr/>
        </p:nvSpPr>
        <p:spPr bwMode="auto">
          <a:xfrm>
            <a:off x="8292019" y="2823934"/>
            <a:ext cx="3387289" cy="51242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20000"/>
              </a:lnSpc>
              <a:buFont typeface="Wingdings"/>
              <a:buChar char="u"/>
              <a:defRPr/>
            </a:pPr>
            <a:r>
              <a:rPr lang="zh-CN" sz="1400" spc="13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/>
                <a:ea typeface="微软雅黑"/>
                <a:cs typeface="Arial"/>
              </a:rPr>
              <a:t>存在不足：</a:t>
            </a:r>
            <a:r>
              <a:rPr lang="en-US" sz="1400" spc="130" dirty="0" err="1">
                <a:solidFill>
                  <a:srgbClr val="000000">
                    <a:lumMod val="75000"/>
                    <a:lumOff val="25000"/>
                  </a:srgbClr>
                </a:solidFill>
                <a:latin typeface="微软雅黑"/>
                <a:ea typeface="微软雅黑"/>
                <a:cs typeface="Arial"/>
              </a:rPr>
              <a:t>企业知识管理分散，未能在需要时及时自动辅助</a:t>
            </a:r>
            <a:endParaRPr lang="zh-CN" sz="1400" spc="130" dirty="0">
              <a:solidFill>
                <a:srgbClr val="000000">
                  <a:lumMod val="75000"/>
                  <a:lumOff val="25000"/>
                </a:srgbClr>
              </a:solidFill>
              <a:latin typeface="微软雅黑"/>
              <a:ea typeface="微软雅黑"/>
              <a:cs typeface="Arial"/>
            </a:endParaRPr>
          </a:p>
        </p:txBody>
      </p:sp>
      <p:sp>
        <p:nvSpPr>
          <p:cNvPr id="81" name="文本框 80"/>
          <p:cNvSpPr txBox="1"/>
          <p:nvPr/>
        </p:nvSpPr>
        <p:spPr bwMode="auto">
          <a:xfrm>
            <a:off x="8292019" y="3482555"/>
            <a:ext cx="3398809" cy="7684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20000"/>
              </a:lnSpc>
              <a:buFont typeface="Wingdings"/>
              <a:buChar char="u"/>
              <a:defRPr/>
            </a:pPr>
            <a:r>
              <a:rPr lang="zh-CN" sz="1400" spc="13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/>
                <a:ea typeface="微软雅黑"/>
                <a:cs typeface="Arial"/>
              </a:rPr>
              <a:t>创新举措：</a:t>
            </a:r>
            <a:r>
              <a:rPr lang="en-US" sz="1400" spc="130" dirty="0" err="1">
                <a:solidFill>
                  <a:srgbClr val="000000">
                    <a:lumMod val="75000"/>
                    <a:lumOff val="25000"/>
                  </a:srgbClr>
                </a:solidFill>
                <a:latin typeface="微软雅黑"/>
                <a:ea typeface="微软雅黑"/>
                <a:cs typeface="Arial"/>
              </a:rPr>
              <a:t>利用AI大模型形成企业知识库，支持智能问答、智能报表等，满足业务自助式使用</a:t>
            </a:r>
            <a:endParaRPr lang="zh-CN" sz="1400" spc="130" dirty="0">
              <a:solidFill>
                <a:srgbClr val="000000">
                  <a:lumMod val="75000"/>
                  <a:lumOff val="25000"/>
                </a:srgbClr>
              </a:solidFill>
              <a:latin typeface="微软雅黑"/>
              <a:ea typeface="微软雅黑"/>
              <a:cs typeface="Arial"/>
            </a:endParaRPr>
          </a:p>
        </p:txBody>
      </p:sp>
      <p:sp>
        <p:nvSpPr>
          <p:cNvPr id="30" name="圆角矩形 29"/>
          <p:cNvSpPr/>
          <p:nvPr/>
        </p:nvSpPr>
        <p:spPr bwMode="auto">
          <a:xfrm>
            <a:off x="596471" y="5411089"/>
            <a:ext cx="3381888" cy="806070"/>
          </a:xfrm>
          <a:prstGeom prst="roundRect">
            <a:avLst>
              <a:gd name="adj" fmla="val 16667"/>
            </a:avLst>
          </a:prstGeom>
          <a:solidFill>
            <a:srgbClr val="F4FEFC"/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715" tIns="53715" rIns="53715" bIns="53715" numCol="1" spcCol="1270" rtlCol="0" anchor="ctr" anchorCtr="0">
            <a:noAutofit/>
          </a:bodyPr>
          <a:lstStyle/>
          <a:p>
            <a:pPr algn="ctr" defTabSz="4889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sz="1000" b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/>
              <a:ea typeface="微软雅黑"/>
              <a:cs typeface="Arial"/>
            </a:endParaRPr>
          </a:p>
        </p:txBody>
      </p:sp>
      <p:grpSp>
        <p:nvGrpSpPr>
          <p:cNvPr id="42" name="组合 41"/>
          <p:cNvGrpSpPr/>
          <p:nvPr/>
        </p:nvGrpSpPr>
        <p:grpSpPr bwMode="auto">
          <a:xfrm>
            <a:off x="1882814" y="5102194"/>
            <a:ext cx="657649" cy="223805"/>
            <a:chOff x="8064109" y="2070812"/>
            <a:chExt cx="657649" cy="223805"/>
          </a:xfrm>
        </p:grpSpPr>
        <p:sp>
          <p:nvSpPr>
            <p:cNvPr id="46" name="Chevron 71"/>
            <p:cNvSpPr/>
            <p:nvPr/>
          </p:nvSpPr>
          <p:spPr bwMode="auto">
            <a:xfrm rot="16199998">
              <a:off x="8311971" y="1822951"/>
              <a:ext cx="161925" cy="657649"/>
            </a:xfrm>
            <a:prstGeom prst="chevron">
              <a:avLst>
                <a:gd name="adj" fmla="val 27502"/>
              </a:avLst>
            </a:prstGeom>
            <a:gradFill>
              <a:gsLst>
                <a:gs pos="0">
                  <a:schemeClr val="accent2"/>
                </a:gs>
                <a:gs pos="97000">
                  <a:srgbClr val="FFFFFF">
                    <a:lumMod val="5000"/>
                    <a:lumOff val="95000"/>
                    <a:alpha val="0"/>
                  </a:srgbClr>
                </a:gs>
              </a:gsLst>
              <a:lin ang="0" scaled="0"/>
            </a:gradFill>
            <a:ln w="1905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  <a:defRPr/>
              </a:pPr>
              <a:endParaRPr lang="zh-CN" sz="1400">
                <a:solidFill>
                  <a:srgbClr val="FFFFFF"/>
                </a:solidFill>
                <a:cs typeface="+mn-ea"/>
              </a:endParaRPr>
            </a:p>
          </p:txBody>
        </p:sp>
        <p:sp>
          <p:nvSpPr>
            <p:cNvPr id="50" name="Chevron 72"/>
            <p:cNvSpPr/>
            <p:nvPr/>
          </p:nvSpPr>
          <p:spPr bwMode="auto">
            <a:xfrm rot="16199998">
              <a:off x="8354516" y="2096059"/>
              <a:ext cx="76835" cy="320284"/>
            </a:xfrm>
            <a:prstGeom prst="chevron">
              <a:avLst>
                <a:gd name="adj" fmla="val 29697"/>
              </a:avLst>
            </a:prstGeom>
            <a:gradFill>
              <a:gsLst>
                <a:gs pos="0">
                  <a:schemeClr val="accent2">
                    <a:alpha val="50000"/>
                  </a:schemeClr>
                </a:gs>
                <a:gs pos="97000">
                  <a:srgbClr val="FFFFFF">
                    <a:lumMod val="5000"/>
                    <a:lumOff val="95000"/>
                    <a:alpha val="0"/>
                  </a:srgbClr>
                </a:gs>
              </a:gsLst>
              <a:lin ang="0" scaled="0"/>
            </a:gradFill>
            <a:ln w="1905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  <a:defRPr/>
              </a:pPr>
              <a:endParaRPr lang="zh-CN" sz="1400">
                <a:solidFill>
                  <a:srgbClr val="FFFFFF"/>
                </a:solidFill>
                <a:cs typeface="+mn-ea"/>
              </a:endParaRPr>
            </a:p>
          </p:txBody>
        </p:sp>
      </p:grpSp>
      <p:sp>
        <p:nvSpPr>
          <p:cNvPr id="68" name="圆角矩形 67"/>
          <p:cNvSpPr/>
          <p:nvPr/>
        </p:nvSpPr>
        <p:spPr bwMode="auto">
          <a:xfrm>
            <a:off x="8240158" y="5411089"/>
            <a:ext cx="3381888" cy="806070"/>
          </a:xfrm>
          <a:prstGeom prst="roundRect">
            <a:avLst>
              <a:gd name="adj" fmla="val 16667"/>
            </a:avLst>
          </a:prstGeom>
          <a:solidFill>
            <a:srgbClr val="F4FEFC"/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715" tIns="53715" rIns="53715" bIns="53715" numCol="1" spcCol="1270" rtlCol="0" anchor="ctr" anchorCtr="0">
            <a:noAutofit/>
          </a:bodyPr>
          <a:lstStyle/>
          <a:p>
            <a:pPr algn="ctr" defTabSz="4889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sz="1000" b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/>
              <a:ea typeface="微软雅黑"/>
              <a:cs typeface="Arial"/>
            </a:endParaRPr>
          </a:p>
        </p:txBody>
      </p:sp>
      <p:sp>
        <p:nvSpPr>
          <p:cNvPr id="69" name="文本框 68"/>
          <p:cNvSpPr txBox="1"/>
          <p:nvPr/>
        </p:nvSpPr>
        <p:spPr bwMode="auto">
          <a:xfrm>
            <a:off x="8298843" y="5497407"/>
            <a:ext cx="3338345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/>
              <a:buChar char="ü"/>
              <a:defRPr/>
            </a:pPr>
            <a:r>
              <a:rPr lang="en-US" sz="1400" dirty="0">
                <a:latin typeface="微软雅黑"/>
                <a:ea typeface="微软雅黑"/>
              </a:rPr>
              <a:t>2025年探索AI应用场景</a:t>
            </a:r>
            <a:endParaRPr lang="zh-CN" sz="1400" dirty="0">
              <a:latin typeface="微软雅黑"/>
              <a:ea typeface="微软雅黑"/>
            </a:endParaRPr>
          </a:p>
          <a:p>
            <a:pPr marL="285750" indent="-285750">
              <a:buFont typeface="Wingdings"/>
              <a:buChar char="ü"/>
              <a:defRPr/>
            </a:pPr>
            <a:r>
              <a:rPr lang="en-US" sz="1400" dirty="0">
                <a:latin typeface="微软雅黑"/>
                <a:ea typeface="微软雅黑"/>
              </a:rPr>
              <a:t>2026年引入AI大模型落地</a:t>
            </a:r>
            <a:endParaRPr lang="zh-CN" sz="1400" dirty="0">
              <a:latin typeface="微软雅黑"/>
              <a:ea typeface="微软雅黑"/>
            </a:endParaRPr>
          </a:p>
        </p:txBody>
      </p:sp>
      <p:grpSp>
        <p:nvGrpSpPr>
          <p:cNvPr id="70" name="组合 69"/>
          <p:cNvGrpSpPr/>
          <p:nvPr/>
        </p:nvGrpSpPr>
        <p:grpSpPr bwMode="auto">
          <a:xfrm>
            <a:off x="9526501" y="5102194"/>
            <a:ext cx="657649" cy="223805"/>
            <a:chOff x="8064109" y="2070812"/>
            <a:chExt cx="657649" cy="223805"/>
          </a:xfrm>
        </p:grpSpPr>
        <p:sp>
          <p:nvSpPr>
            <p:cNvPr id="76" name="Chevron 71"/>
            <p:cNvSpPr/>
            <p:nvPr/>
          </p:nvSpPr>
          <p:spPr bwMode="auto">
            <a:xfrm rot="16199998">
              <a:off x="8311971" y="1822951"/>
              <a:ext cx="161925" cy="657649"/>
            </a:xfrm>
            <a:prstGeom prst="chevron">
              <a:avLst>
                <a:gd name="adj" fmla="val 27502"/>
              </a:avLst>
            </a:prstGeom>
            <a:gradFill>
              <a:gsLst>
                <a:gs pos="0">
                  <a:schemeClr val="accent2"/>
                </a:gs>
                <a:gs pos="97000">
                  <a:srgbClr val="FFFFFF">
                    <a:lumMod val="5000"/>
                    <a:lumOff val="95000"/>
                    <a:alpha val="0"/>
                  </a:srgbClr>
                </a:gs>
              </a:gsLst>
              <a:lin ang="0" scaled="0"/>
            </a:gradFill>
            <a:ln w="1905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  <a:defRPr/>
              </a:pPr>
              <a:endParaRPr lang="zh-CN" sz="1400">
                <a:solidFill>
                  <a:srgbClr val="FFFFFF"/>
                </a:solidFill>
                <a:cs typeface="+mn-ea"/>
              </a:endParaRPr>
            </a:p>
          </p:txBody>
        </p:sp>
        <p:sp>
          <p:nvSpPr>
            <p:cNvPr id="77" name="Chevron 72"/>
            <p:cNvSpPr/>
            <p:nvPr/>
          </p:nvSpPr>
          <p:spPr bwMode="auto">
            <a:xfrm rot="16199998">
              <a:off x="8354516" y="2096059"/>
              <a:ext cx="76835" cy="320284"/>
            </a:xfrm>
            <a:prstGeom prst="chevron">
              <a:avLst>
                <a:gd name="adj" fmla="val 29697"/>
              </a:avLst>
            </a:prstGeom>
            <a:gradFill>
              <a:gsLst>
                <a:gs pos="0">
                  <a:schemeClr val="accent2">
                    <a:alpha val="50000"/>
                  </a:schemeClr>
                </a:gs>
                <a:gs pos="97000">
                  <a:srgbClr val="FFFFFF">
                    <a:lumMod val="5000"/>
                    <a:lumOff val="95000"/>
                    <a:alpha val="0"/>
                  </a:srgbClr>
                </a:gs>
              </a:gsLst>
              <a:lin ang="0" scaled="0"/>
            </a:gradFill>
            <a:ln w="1905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  <a:defRPr/>
              </a:pPr>
              <a:endParaRPr lang="zh-CN" sz="1400">
                <a:solidFill>
                  <a:srgbClr val="FFFFFF"/>
                </a:solidFill>
                <a:cs typeface="+mn-ea"/>
              </a:endParaRPr>
            </a:p>
          </p:txBody>
        </p:sp>
      </p:grpSp>
      <p:sp>
        <p:nvSpPr>
          <p:cNvPr id="52" name="任意多边形 42"/>
          <p:cNvSpPr/>
          <p:nvPr/>
        </p:nvSpPr>
        <p:spPr bwMode="auto">
          <a:xfrm>
            <a:off x="5266624" y="1757045"/>
            <a:ext cx="164646" cy="176089"/>
          </a:xfrm>
          <a:custGeom>
            <a:avLst/>
            <a:gdLst>
              <a:gd name="adj" fmla="val 51896"/>
              <a:gd name="maxAdj" fmla="*/ 50000 w ss"/>
              <a:gd name="a" fmla="pin 0 adj maxAdj"/>
              <a:gd name="x1" fmla="*/ ss a 200000"/>
              <a:gd name="x2" fmla="*/ ss a 100000"/>
              <a:gd name="x3" fmla="+- r 0 x2"/>
              <a:gd name="x4" fmla="+- r 0 x1"/>
              <a:gd name="il" fmla="*/ wd3 a maxAdj"/>
              <a:gd name="it" fmla="*/ hd3 a maxAdj"/>
              <a:gd name="ir" fmla="+- r 0 il"/>
            </a:gdLst>
            <a:ahLst/>
            <a:cxnLst>
              <a:cxn ang="3">
                <a:pos x="hc" y="t"/>
              </a:cxn>
              <a:cxn ang="cd2">
                <a:pos x="x1" y="vc"/>
              </a:cxn>
              <a:cxn ang="cd4">
                <a:pos x="hc" y="b"/>
              </a:cxn>
              <a:cxn ang="0">
                <a:pos x="x4" y="vc"/>
              </a:cxn>
            </a:cxnLst>
            <a:rect l="l" t="t" r="r" b="b"/>
            <a:pathLst>
              <a:path w="251" h="484" extrusionOk="0">
                <a:moveTo>
                  <a:pt x="0" y="0"/>
                </a:moveTo>
                <a:lnTo>
                  <a:pt x="251" y="484"/>
                </a:lnTo>
                <a:lnTo>
                  <a:pt x="0" y="4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1800" b="0" i="0" u="none" strike="noStrike" cap="none" spc="0">
              <a:ln>
                <a:noFill/>
              </a:ln>
              <a:solidFill>
                <a:srgbClr val="FFFFFF"/>
              </a:solidFill>
              <a:latin typeface="Arial"/>
              <a:ea typeface="微软雅黑"/>
              <a:cs typeface="+mn-cs"/>
            </a:endParaRPr>
          </a:p>
        </p:txBody>
      </p:sp>
      <p:sp>
        <p:nvSpPr>
          <p:cNvPr id="53" name="圆角矩形 43"/>
          <p:cNvSpPr/>
          <p:nvPr/>
        </p:nvSpPr>
        <p:spPr bwMode="auto">
          <a:xfrm>
            <a:off x="4431182" y="1932311"/>
            <a:ext cx="3381889" cy="3134989"/>
          </a:xfrm>
          <a:prstGeom prst="roundRect">
            <a:avLst>
              <a:gd name="adj" fmla="val 6372"/>
            </a:avLst>
          </a:prstGeom>
          <a:solidFill>
            <a:srgbClr val="F4FEFC"/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715" tIns="53715" rIns="53715" bIns="53715" numCol="1" spcCol="1270" rtlCol="0" anchor="ctr" anchorCtr="0">
            <a:noAutofit/>
          </a:bodyPr>
          <a:lstStyle/>
          <a:p>
            <a:pPr algn="ctr" defTabSz="4889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sz="1000" b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/>
              <a:ea typeface="微软雅黑"/>
              <a:cs typeface="Arial"/>
            </a:endParaRPr>
          </a:p>
        </p:txBody>
      </p:sp>
      <p:sp>
        <p:nvSpPr>
          <p:cNvPr id="57" name="矩形 56"/>
          <p:cNvSpPr/>
          <p:nvPr/>
        </p:nvSpPr>
        <p:spPr bwMode="auto">
          <a:xfrm>
            <a:off x="4701160" y="1757045"/>
            <a:ext cx="560662" cy="79495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4"/>
              </a:gs>
            </a:gsLst>
            <a:lin ang="18900000" scaled="1"/>
          </a:gra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indent="457200">
              <a:defRPr/>
            </a:pPr>
            <a:endParaRPr lang="zh-CN" sz="2000" b="1">
              <a:solidFill>
                <a:prstClr val="white"/>
              </a:solidFill>
              <a:latin typeface="微软雅黑"/>
              <a:ea typeface="微软雅黑"/>
              <a:cs typeface="Arial"/>
            </a:endParaRPr>
          </a:p>
        </p:txBody>
      </p:sp>
      <p:sp>
        <p:nvSpPr>
          <p:cNvPr id="60" name="文本框 59"/>
          <p:cNvSpPr txBox="1"/>
          <p:nvPr/>
        </p:nvSpPr>
        <p:spPr bwMode="auto">
          <a:xfrm>
            <a:off x="4669216" y="1769864"/>
            <a:ext cx="547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>
                <a:solidFill>
                  <a:srgbClr val="000000"/>
                </a:solidFill>
                <a:latin typeface="等线 Light"/>
                <a:ea typeface="等线 Light"/>
              </a:rPr>
              <a:t>2</a:t>
            </a:r>
            <a:endParaRPr/>
          </a:p>
        </p:txBody>
      </p:sp>
      <p:sp>
        <p:nvSpPr>
          <p:cNvPr id="61" name="文本框 60"/>
          <p:cNvSpPr txBox="1"/>
          <p:nvPr/>
        </p:nvSpPr>
        <p:spPr bwMode="auto">
          <a:xfrm>
            <a:off x="5351689" y="2071700"/>
            <a:ext cx="220228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zh-CN" sz="2000" b="1" spc="13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智能工厂</a:t>
            </a:r>
            <a:endParaRPr/>
          </a:p>
        </p:txBody>
      </p:sp>
      <p:sp>
        <p:nvSpPr>
          <p:cNvPr id="82" name="矩形 81"/>
          <p:cNvSpPr/>
          <p:nvPr/>
        </p:nvSpPr>
        <p:spPr bwMode="auto">
          <a:xfrm>
            <a:off x="5326123" y="2478521"/>
            <a:ext cx="782324" cy="50912"/>
          </a:xfrm>
          <a:prstGeom prst="rect">
            <a:avLst/>
          </a:prstGeom>
          <a:gradFill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1800" b="0" i="0" u="none" strike="noStrike" cap="none" spc="0">
              <a:ln>
                <a:noFill/>
              </a:ln>
              <a:solidFill>
                <a:srgbClr val="FFFFFF"/>
              </a:solidFill>
              <a:latin typeface="Arial"/>
              <a:ea typeface="微软雅黑"/>
              <a:cs typeface="+mn-cs"/>
            </a:endParaRPr>
          </a:p>
        </p:txBody>
      </p:sp>
      <p:sp>
        <p:nvSpPr>
          <p:cNvPr id="83" name="文本框 82"/>
          <p:cNvSpPr txBox="1"/>
          <p:nvPr/>
        </p:nvSpPr>
        <p:spPr bwMode="auto">
          <a:xfrm>
            <a:off x="4535349" y="2636044"/>
            <a:ext cx="3222075" cy="4758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20000"/>
              </a:lnSpc>
              <a:buFont typeface="Wingdings"/>
              <a:buChar char="u"/>
              <a:defRPr/>
            </a:pPr>
            <a:r>
              <a:rPr lang="zh-CN" sz="1400" spc="130">
                <a:solidFill>
                  <a:srgbClr val="000000">
                    <a:lumMod val="75000"/>
                    <a:lumOff val="25000"/>
                  </a:srgbClr>
                </a:solidFill>
                <a:highlight>
                  <a:srgbClr val="D9D9D9"/>
                </a:highlight>
                <a:latin typeface="微软雅黑"/>
                <a:ea typeface="微软雅黑"/>
                <a:cs typeface="Arial"/>
              </a:rPr>
              <a:t>存在不足</a:t>
            </a:r>
            <a:r>
              <a:rPr lang="zh-CN" sz="1400" spc="130">
                <a:solidFill>
                  <a:srgbClr val="000000">
                    <a:lumMod val="75000"/>
                    <a:lumOff val="25000"/>
                  </a:srgbClr>
                </a:solidFill>
                <a:latin typeface="微软雅黑"/>
                <a:ea typeface="微软雅黑"/>
                <a:cs typeface="Arial"/>
              </a:rPr>
              <a:t>：</a:t>
            </a:r>
            <a:r>
              <a:rPr lang="zh-CN" sz="1200">
                <a:cs typeface="+mn-ea"/>
              </a:rPr>
              <a:t>当前</a:t>
            </a:r>
            <a:r>
              <a:rPr lang="en-US" sz="1200">
                <a:cs typeface="+mn-ea"/>
              </a:rPr>
              <a:t>制造AI</a:t>
            </a:r>
            <a:r>
              <a:rPr lang="zh-CN" sz="1200">
                <a:cs typeface="+mn-ea"/>
              </a:rPr>
              <a:t>应用点位少、重复度高、没有聚合成规模效应</a:t>
            </a:r>
            <a:endParaRPr/>
          </a:p>
        </p:txBody>
      </p:sp>
      <p:sp>
        <p:nvSpPr>
          <p:cNvPr id="84" name="文本框 83"/>
          <p:cNvSpPr txBox="1"/>
          <p:nvPr/>
        </p:nvSpPr>
        <p:spPr bwMode="auto">
          <a:xfrm>
            <a:off x="4532340" y="3202000"/>
            <a:ext cx="3119437" cy="4613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20000"/>
              </a:lnSpc>
              <a:buFont typeface="Wingdings"/>
              <a:buChar char="u"/>
              <a:defRPr/>
            </a:pPr>
            <a:r>
              <a:rPr lang="zh-CN" sz="1400" spc="130">
                <a:solidFill>
                  <a:srgbClr val="000000">
                    <a:lumMod val="75000"/>
                    <a:lumOff val="25000"/>
                  </a:srgbClr>
                </a:solidFill>
                <a:highlight>
                  <a:srgbClr val="D9D9D9"/>
                </a:highlight>
                <a:latin typeface="微软雅黑"/>
                <a:ea typeface="微软雅黑"/>
                <a:cs typeface="Arial"/>
              </a:rPr>
              <a:t>创新举措</a:t>
            </a:r>
            <a:r>
              <a:rPr lang="zh-CN" sz="1400" spc="130">
                <a:solidFill>
                  <a:srgbClr val="000000">
                    <a:lumMod val="75000"/>
                    <a:lumOff val="25000"/>
                  </a:srgbClr>
                </a:solidFill>
                <a:latin typeface="微软雅黑"/>
                <a:ea typeface="微软雅黑"/>
                <a:cs typeface="Arial"/>
              </a:rPr>
              <a:t>：</a:t>
            </a:r>
            <a:r>
              <a:rPr lang="en-US" sz="1200">
                <a:cs typeface="+mn-ea"/>
              </a:rPr>
              <a:t>AI</a:t>
            </a:r>
            <a:r>
              <a:rPr lang="zh-CN" sz="1200">
                <a:cs typeface="+mn-ea"/>
              </a:rPr>
              <a:t>规模应用，装配自动化替代、视觉去检查化，达到优化岗位目标</a:t>
            </a:r>
            <a:endParaRPr/>
          </a:p>
        </p:txBody>
      </p:sp>
      <p:sp>
        <p:nvSpPr>
          <p:cNvPr id="85" name="圆角矩形 61"/>
          <p:cNvSpPr/>
          <p:nvPr/>
        </p:nvSpPr>
        <p:spPr bwMode="auto">
          <a:xfrm>
            <a:off x="4431182" y="5411089"/>
            <a:ext cx="3381888" cy="806070"/>
          </a:xfrm>
          <a:prstGeom prst="roundRect">
            <a:avLst>
              <a:gd name="adj" fmla="val 16667"/>
            </a:avLst>
          </a:prstGeom>
          <a:solidFill>
            <a:srgbClr val="F4FEFC"/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715" tIns="53715" rIns="53715" bIns="53715" numCol="1" spcCol="1270" rtlCol="0" anchor="ctr" anchorCtr="0">
            <a:noAutofit/>
          </a:bodyPr>
          <a:lstStyle/>
          <a:p>
            <a:pPr algn="ctr" defTabSz="4889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sz="1000" b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/>
              <a:ea typeface="微软雅黑"/>
              <a:cs typeface="Arial"/>
            </a:endParaRPr>
          </a:p>
        </p:txBody>
      </p:sp>
      <p:sp>
        <p:nvSpPr>
          <p:cNvPr id="86" name="文本框 85"/>
          <p:cNvSpPr txBox="1"/>
          <p:nvPr/>
        </p:nvSpPr>
        <p:spPr bwMode="auto">
          <a:xfrm>
            <a:off x="4372050" y="5490495"/>
            <a:ext cx="3654564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ü"/>
              <a:defRPr/>
            </a:pPr>
            <a:r>
              <a:rPr lang="en-US" sz="1200" dirty="0">
                <a:cs typeface="+mn-ea"/>
              </a:rPr>
              <a:t>2025</a:t>
            </a:r>
            <a:r>
              <a:rPr lang="zh-CN" sz="1200" dirty="0">
                <a:cs typeface="+mn-ea"/>
              </a:rPr>
              <a:t>年大灯</a:t>
            </a:r>
            <a:r>
              <a:rPr lang="en-US" sz="1200" dirty="0">
                <a:cs typeface="+mn-ea"/>
              </a:rPr>
              <a:t>AI</a:t>
            </a:r>
            <a:r>
              <a:rPr lang="zh-CN" sz="1200" dirty="0">
                <a:cs typeface="+mn-ea"/>
              </a:rPr>
              <a:t>质检，</a:t>
            </a:r>
            <a:r>
              <a:rPr lang="zh-CN" sz="1200" dirty="0">
                <a:latin typeface="+mn-ea"/>
                <a:cs typeface="+mn-ea"/>
              </a:rPr>
              <a:t>发变对齿识别场景上线</a:t>
            </a:r>
            <a:endParaRPr lang="en-US" sz="1200" b="1" dirty="0">
              <a:cs typeface="+mn-ea"/>
            </a:endParaRPr>
          </a:p>
          <a:p>
            <a:pPr marL="285750" lvl="0" indent="-285750">
              <a:lnSpc>
                <a:spcPct val="150000"/>
              </a:lnSpc>
              <a:buFont typeface="Wingdings"/>
              <a:buChar char="ü"/>
              <a:defRPr/>
            </a:pPr>
            <a:r>
              <a:rPr lang="en-US" sz="1200" dirty="0">
                <a:cs typeface="+mn-ea"/>
              </a:rPr>
              <a:t>2026</a:t>
            </a:r>
            <a:r>
              <a:rPr lang="zh-CN" sz="1200" dirty="0">
                <a:cs typeface="+mn-ea"/>
              </a:rPr>
              <a:t>年实现全栈式</a:t>
            </a:r>
            <a:r>
              <a:rPr lang="en-US" sz="1200" dirty="0">
                <a:cs typeface="+mn-ea"/>
              </a:rPr>
              <a:t>AI</a:t>
            </a:r>
            <a:r>
              <a:rPr lang="zh-CN" sz="1200" dirty="0">
                <a:cs typeface="+mn-ea"/>
              </a:rPr>
              <a:t>智能工厂</a:t>
            </a:r>
            <a:endParaRPr b="1" dirty="0"/>
          </a:p>
        </p:txBody>
      </p:sp>
      <p:grpSp>
        <p:nvGrpSpPr>
          <p:cNvPr id="87" name="组合 86"/>
          <p:cNvGrpSpPr/>
          <p:nvPr/>
        </p:nvGrpSpPr>
        <p:grpSpPr bwMode="auto">
          <a:xfrm>
            <a:off x="5584991" y="5089286"/>
            <a:ext cx="657649" cy="223805"/>
            <a:chOff x="8064109" y="2070812"/>
            <a:chExt cx="657649" cy="223805"/>
          </a:xfrm>
        </p:grpSpPr>
        <p:sp>
          <p:nvSpPr>
            <p:cNvPr id="88" name="Chevron 71"/>
            <p:cNvSpPr/>
            <p:nvPr/>
          </p:nvSpPr>
          <p:spPr bwMode="auto">
            <a:xfrm rot="16199998">
              <a:off x="8311971" y="1822951"/>
              <a:ext cx="161925" cy="657649"/>
            </a:xfrm>
            <a:prstGeom prst="chevron">
              <a:avLst>
                <a:gd name="adj" fmla="val 27502"/>
              </a:avLst>
            </a:prstGeom>
            <a:gradFill>
              <a:gsLst>
                <a:gs pos="0">
                  <a:schemeClr val="accent2"/>
                </a:gs>
                <a:gs pos="97000">
                  <a:srgbClr val="FFFFFF">
                    <a:lumMod val="5000"/>
                    <a:lumOff val="95000"/>
                    <a:alpha val="0"/>
                  </a:srgbClr>
                </a:gs>
              </a:gsLst>
              <a:lin ang="0" scaled="0"/>
            </a:gradFill>
            <a:ln w="1905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  <a:defRPr/>
              </a:pPr>
              <a:endParaRPr lang="zh-CN" sz="1400">
                <a:solidFill>
                  <a:srgbClr val="FFFFFF"/>
                </a:solidFill>
                <a:cs typeface="+mn-ea"/>
              </a:endParaRPr>
            </a:p>
          </p:txBody>
        </p:sp>
        <p:sp>
          <p:nvSpPr>
            <p:cNvPr id="89" name="Chevron 72"/>
            <p:cNvSpPr/>
            <p:nvPr/>
          </p:nvSpPr>
          <p:spPr bwMode="auto">
            <a:xfrm rot="16199998">
              <a:off x="8354516" y="2096059"/>
              <a:ext cx="76835" cy="320284"/>
            </a:xfrm>
            <a:prstGeom prst="chevron">
              <a:avLst>
                <a:gd name="adj" fmla="val 29697"/>
              </a:avLst>
            </a:prstGeom>
            <a:gradFill>
              <a:gsLst>
                <a:gs pos="0">
                  <a:schemeClr val="accent2">
                    <a:alpha val="50000"/>
                  </a:schemeClr>
                </a:gs>
                <a:gs pos="97000">
                  <a:srgbClr val="FFFFFF">
                    <a:lumMod val="5000"/>
                    <a:lumOff val="95000"/>
                    <a:alpha val="0"/>
                  </a:srgbClr>
                </a:gs>
              </a:gsLst>
              <a:lin ang="0" scaled="0"/>
            </a:gradFill>
            <a:ln w="1905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  <a:defRPr/>
              </a:pPr>
              <a:endParaRPr lang="zh-CN" sz="1400">
                <a:solidFill>
                  <a:srgbClr val="FFFFFF"/>
                </a:solidFill>
                <a:cs typeface="+mn-ea"/>
              </a:endParaRPr>
            </a:p>
          </p:txBody>
        </p:sp>
      </p:grpSp>
      <p:grpSp>
        <p:nvGrpSpPr>
          <p:cNvPr id="90" name="组合 89"/>
          <p:cNvGrpSpPr/>
          <p:nvPr/>
        </p:nvGrpSpPr>
        <p:grpSpPr bwMode="auto">
          <a:xfrm>
            <a:off x="4502856" y="3741849"/>
            <a:ext cx="3150163" cy="1404857"/>
            <a:chOff x="4502856" y="3741849"/>
            <a:chExt cx="3150163" cy="1404857"/>
          </a:xfrm>
        </p:grpSpPr>
        <p:grpSp>
          <p:nvGrpSpPr>
            <p:cNvPr id="91" name="组合 90"/>
            <p:cNvGrpSpPr/>
            <p:nvPr/>
          </p:nvGrpSpPr>
          <p:grpSpPr bwMode="auto">
            <a:xfrm>
              <a:off x="5212155" y="3741849"/>
              <a:ext cx="824915" cy="833197"/>
              <a:chOff x="5399090" y="2282422"/>
              <a:chExt cx="1254451" cy="1254451"/>
            </a:xfrm>
          </p:grpSpPr>
          <p:sp>
            <p:nvSpPr>
              <p:cNvPr id="111" name="椭圆 110"/>
              <p:cNvSpPr/>
              <p:nvPr/>
            </p:nvSpPr>
            <p:spPr bwMode="auto">
              <a:xfrm>
                <a:off x="5399090" y="2282422"/>
                <a:ext cx="1254451" cy="1254451"/>
              </a:xfrm>
              <a:prstGeom prst="ellipse">
                <a:avLst/>
              </a:prstGeom>
              <a:solidFill>
                <a:schemeClr val="accent2">
                  <a:alpha val="15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>
                  <a:defRPr/>
                </a:pPr>
                <a:endParaRPr lang="zh-CN" sz="1600"/>
              </a:p>
            </p:txBody>
          </p:sp>
          <p:sp>
            <p:nvSpPr>
              <p:cNvPr id="112" name="椭圆 111"/>
              <p:cNvSpPr/>
              <p:nvPr/>
            </p:nvSpPr>
            <p:spPr bwMode="auto">
              <a:xfrm>
                <a:off x="5463488" y="2347255"/>
                <a:ext cx="1125220" cy="112522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innerShdw blurRad="152400">
                  <a:schemeClr val="accent2">
                    <a:lumMod val="20000"/>
                    <a:lumOff val="80000"/>
                    <a:alpha val="6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tIns="288290" bIns="0" numCol="1" spcCol="0" rtlCol="0" fromWordArt="0" anchor="t" anchorCtr="0" forceAA="0" compatLnSpc="1">
                <a:normAutofit/>
              </a:bodyPr>
              <a:lstStyle/>
              <a:p>
                <a:pPr lvl="0" algn="ctr">
                  <a:buClrTx/>
                  <a:buSzTx/>
                  <a:buFontTx/>
                  <a:defRPr/>
                </a:pPr>
                <a:endParaRPr lang="zh-CN" sz="1400" b="1">
                  <a:solidFill>
                    <a:srgbClr val="FFFFFF"/>
                  </a:solidFill>
                  <a:latin typeface="+mj-ea"/>
                  <a:ea typeface="+mj-ea"/>
                  <a:cs typeface="+mj-ea"/>
                </a:endParaRPr>
              </a:p>
            </p:txBody>
          </p:sp>
          <p:sp>
            <p:nvSpPr>
              <p:cNvPr id="113" name="椭圆 112"/>
              <p:cNvSpPr/>
              <p:nvPr/>
            </p:nvSpPr>
            <p:spPr bwMode="auto">
              <a:xfrm>
                <a:off x="5522229" y="2405560"/>
                <a:ext cx="1008173" cy="1008173"/>
              </a:xfrm>
              <a:prstGeom prst="ellipse">
                <a:avLst/>
              </a:prstGeom>
              <a:noFill/>
              <a:ln w="12700">
                <a:gradFill>
                  <a:gsLst>
                    <a:gs pos="0">
                      <a:srgbClr val="FFFFFF">
                        <a:alpha val="45000"/>
                      </a:srgbClr>
                    </a:gs>
                    <a:gs pos="25000">
                      <a:srgbClr val="FFFFFF">
                        <a:alpha val="0"/>
                      </a:srgbClr>
                    </a:gs>
                    <a:gs pos="75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45000"/>
                      </a:srgbClr>
                    </a:gs>
                  </a:gsLst>
                  <a:lin ang="5400000" scaled="1"/>
                </a:gradFill>
              </a:ln>
              <a:effectLst>
                <a:outerShdw dist="12700" dir="5400000" algn="t" rotWithShape="0">
                  <a:schemeClr val="accent2">
                    <a:lumMod val="75000"/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rmAutofit/>
              </a:bodyPr>
              <a:lstStyle/>
              <a:p>
                <a:pPr lvl="0" algn="ctr">
                  <a:buClrTx/>
                  <a:buSzTx/>
                  <a:buFontTx/>
                  <a:defRPr/>
                </a:pPr>
                <a:endParaRPr lang="zh-CN" sz="1400" b="1">
                  <a:latin typeface="微软雅黑"/>
                  <a:ea typeface="微软雅黑"/>
                  <a:cs typeface="微软雅黑"/>
                </a:endParaRPr>
              </a:p>
            </p:txBody>
          </p:sp>
        </p:grpSp>
        <p:sp>
          <p:nvSpPr>
            <p:cNvPr id="92" name="箭头: 虚尾 91"/>
            <p:cNvSpPr/>
            <p:nvPr/>
          </p:nvSpPr>
          <p:spPr bwMode="auto">
            <a:xfrm>
              <a:off x="4940377" y="4069077"/>
              <a:ext cx="305016" cy="319678"/>
            </a:xfrm>
            <a:prstGeom prst="stripedRightArrow">
              <a:avLst>
                <a:gd name="adj1" fmla="val 50000"/>
                <a:gd name="adj2" fmla="val 50000"/>
              </a:avLst>
            </a:prstGeom>
            <a:solidFill>
              <a:srgbClr val="7FCEEC"/>
            </a:solidFill>
            <a:ln w="12700">
              <a:noFill/>
            </a:ln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sz="1600"/>
            </a:p>
          </p:txBody>
        </p:sp>
        <p:grpSp>
          <p:nvGrpSpPr>
            <p:cNvPr id="93" name="组合 92"/>
            <p:cNvGrpSpPr/>
            <p:nvPr/>
          </p:nvGrpSpPr>
          <p:grpSpPr bwMode="auto">
            <a:xfrm>
              <a:off x="4502856" y="3747013"/>
              <a:ext cx="604520" cy="1166483"/>
              <a:chOff x="4420976" y="2313487"/>
              <a:chExt cx="719277" cy="1668587"/>
            </a:xfrm>
          </p:grpSpPr>
          <p:sp>
            <p:nvSpPr>
              <p:cNvPr id="104" name="矩形: 圆角 103"/>
              <p:cNvSpPr/>
              <p:nvPr/>
            </p:nvSpPr>
            <p:spPr bwMode="auto">
              <a:xfrm>
                <a:off x="4511824" y="2313487"/>
                <a:ext cx="431779" cy="1598216"/>
              </a:xfrm>
              <a:prstGeom prst="roundRect">
                <a:avLst>
                  <a:gd name="adj" fmla="val 21144"/>
                </a:avLst>
              </a:prstGeom>
              <a:solidFill>
                <a:srgbClr val="7FCEEC"/>
              </a:solidFill>
              <a:ln w="12700">
                <a:noFill/>
              </a:ln>
            </p:spPr>
            <p:style>
              <a:lnRef idx="2">
                <a:schemeClr val="accent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zh-CN" sz="1600"/>
              </a:p>
            </p:txBody>
          </p:sp>
          <p:sp>
            <p:nvSpPr>
              <p:cNvPr id="105" name="矩形: 圆角 104"/>
              <p:cNvSpPr/>
              <p:nvPr/>
            </p:nvSpPr>
            <p:spPr bwMode="auto">
              <a:xfrm>
                <a:off x="4547628" y="2363056"/>
                <a:ext cx="431779" cy="1619018"/>
              </a:xfrm>
              <a:prstGeom prst="roundRect">
                <a:avLst>
                  <a:gd name="adj" fmla="val 21144"/>
                </a:avLst>
              </a:prstGeom>
              <a:solidFill>
                <a:srgbClr val="D9F0F9"/>
              </a:solidFill>
              <a:ln w="12700">
                <a:noFill/>
              </a:ln>
            </p:spPr>
            <p:style>
              <a:lnRef idx="2">
                <a:schemeClr val="accent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zh-CN" sz="1600"/>
              </a:p>
            </p:txBody>
          </p:sp>
          <p:pic>
            <p:nvPicPr>
              <p:cNvPr id="106" name="图形 136" descr="单级齿轮"/>
              <p:cNvPicPr>
                <a:picLocks noChangeAspect="1"/>
              </p:cNvPicPr>
              <p:nvPr/>
            </p:nvPicPr>
            <p:blipFill>
              <a:blip r:embed="rId3"/>
              <a:stretch/>
            </p:blipFill>
            <p:spPr bwMode="auto">
              <a:xfrm>
                <a:off x="4596305" y="3028173"/>
                <a:ext cx="301636" cy="301637"/>
              </a:xfrm>
              <a:prstGeom prst="rect">
                <a:avLst/>
              </a:prstGeom>
            </p:spPr>
          </p:pic>
          <p:pic>
            <p:nvPicPr>
              <p:cNvPr id="107" name="图形 137" descr="仪表"/>
              <p:cNvPicPr>
                <a:picLocks noChangeAspect="1"/>
              </p:cNvPicPr>
              <p:nvPr/>
            </p:nvPicPr>
            <p:blipFill>
              <a:blip r:embed="rId4"/>
              <a:stretch/>
            </p:blipFill>
            <p:spPr bwMode="auto">
              <a:xfrm>
                <a:off x="4594337" y="3337853"/>
                <a:ext cx="290915" cy="290915"/>
              </a:xfrm>
              <a:prstGeom prst="rect">
                <a:avLst/>
              </a:prstGeom>
            </p:spPr>
          </p:pic>
          <p:pic>
            <p:nvPicPr>
              <p:cNvPr id="108" name="图形 138" descr="监控摄像头"/>
              <p:cNvPicPr>
                <a:picLocks noChangeAspect="1"/>
              </p:cNvPicPr>
              <p:nvPr/>
            </p:nvPicPr>
            <p:blipFill>
              <a:blip r:embed="rId5"/>
              <a:stretch/>
            </p:blipFill>
            <p:spPr bwMode="auto">
              <a:xfrm>
                <a:off x="4626437" y="3616933"/>
                <a:ext cx="316123" cy="316123"/>
              </a:xfrm>
              <a:prstGeom prst="rect">
                <a:avLst/>
              </a:prstGeom>
            </p:spPr>
          </p:pic>
          <p:pic>
            <p:nvPicPr>
              <p:cNvPr id="109" name="图形 139" descr="仙鹤"/>
              <p:cNvPicPr>
                <a:picLocks noChangeAspect="1"/>
              </p:cNvPicPr>
              <p:nvPr/>
            </p:nvPicPr>
            <p:blipFill>
              <a:blip r:embed="rId6"/>
              <a:stretch/>
            </p:blipFill>
            <p:spPr bwMode="auto">
              <a:xfrm>
                <a:off x="4629296" y="2717495"/>
                <a:ext cx="302636" cy="302636"/>
              </a:xfrm>
              <a:prstGeom prst="rect">
                <a:avLst/>
              </a:prstGeom>
            </p:spPr>
          </p:pic>
          <p:sp>
            <p:nvSpPr>
              <p:cNvPr id="110" name="文本框 109"/>
              <p:cNvSpPr txBox="1"/>
              <p:nvPr/>
            </p:nvSpPr>
            <p:spPr bwMode="auto">
              <a:xfrm>
                <a:off x="4420976" y="2389844"/>
                <a:ext cx="719277" cy="352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buClr>
                    <a:schemeClr val="tx2"/>
                  </a:buClr>
                  <a:defRPr/>
                </a:pPr>
                <a:r>
                  <a:rPr lang="zh-CN" sz="1000">
                    <a:solidFill>
                      <a:schemeClr val="bg1">
                        <a:lumMod val="50000"/>
                      </a:schemeClr>
                    </a:solidFill>
                    <a:latin typeface="+mn-ea"/>
                    <a:cs typeface="+mn-ea"/>
                  </a:rPr>
                  <a:t>自动化</a:t>
                </a:r>
                <a:endParaRPr/>
              </a:p>
            </p:txBody>
          </p:sp>
        </p:grpSp>
        <p:sp>
          <p:nvSpPr>
            <p:cNvPr id="94" name="对话气泡: 圆角矩形 93"/>
            <p:cNvSpPr/>
            <p:nvPr/>
          </p:nvSpPr>
          <p:spPr bwMode="auto">
            <a:xfrm>
              <a:off x="6352237" y="4575047"/>
              <a:ext cx="1300782" cy="264709"/>
            </a:xfrm>
            <a:prstGeom prst="wedgeRoundRectCallout">
              <a:avLst>
                <a:gd name="adj1" fmla="val -44086"/>
                <a:gd name="adj2" fmla="val -9772"/>
                <a:gd name="adj3" fmla="val 16667"/>
              </a:avLst>
            </a:prstGeom>
            <a:solidFill>
              <a:schemeClr val="bg1"/>
            </a:solidFill>
            <a:ln w="18653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lvl="0" algn="ctr">
                <a:buClr>
                  <a:srgbClr val="58595B"/>
                </a:buClr>
                <a:defRPr/>
              </a:pPr>
              <a:r>
                <a:rPr lang="zh-CN" sz="1200">
                  <a:solidFill>
                    <a:srgbClr val="FFFFFF">
                      <a:lumMod val="50000"/>
                    </a:srgbClr>
                  </a:solidFill>
                  <a:cs typeface="+mn-ea"/>
                </a:rPr>
                <a:t>视觉缺陷检查</a:t>
              </a:r>
              <a:endParaRPr/>
            </a:p>
          </p:txBody>
        </p:sp>
        <p:sp>
          <p:nvSpPr>
            <p:cNvPr id="95" name="箭头: 虚尾 94"/>
            <p:cNvSpPr/>
            <p:nvPr/>
          </p:nvSpPr>
          <p:spPr bwMode="auto">
            <a:xfrm>
              <a:off x="6096094" y="4617363"/>
              <a:ext cx="305016" cy="197385"/>
            </a:xfrm>
            <a:prstGeom prst="stripedRightArrow">
              <a:avLst>
                <a:gd name="adj1" fmla="val 50000"/>
                <a:gd name="adj2" fmla="val 50000"/>
              </a:avLst>
            </a:prstGeom>
            <a:solidFill>
              <a:srgbClr val="7FCEEC"/>
            </a:solidFill>
            <a:ln w="12700">
              <a:noFill/>
            </a:ln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sz="1600"/>
            </a:p>
          </p:txBody>
        </p:sp>
        <p:sp>
          <p:nvSpPr>
            <p:cNvPr id="96" name="对话气泡: 圆角矩形 95"/>
            <p:cNvSpPr/>
            <p:nvPr/>
          </p:nvSpPr>
          <p:spPr bwMode="auto">
            <a:xfrm>
              <a:off x="6352236" y="4202504"/>
              <a:ext cx="1300783" cy="264709"/>
            </a:xfrm>
            <a:prstGeom prst="wedgeRoundRectCallout">
              <a:avLst>
                <a:gd name="adj1" fmla="val -44086"/>
                <a:gd name="adj2" fmla="val -9772"/>
                <a:gd name="adj3" fmla="val 16667"/>
              </a:avLst>
            </a:prstGeom>
            <a:solidFill>
              <a:schemeClr val="bg1"/>
            </a:solidFill>
            <a:ln w="18653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>
                <a:buClr>
                  <a:srgbClr val="58595B"/>
                </a:buClr>
                <a:defRPr/>
              </a:pPr>
              <a:r>
                <a:rPr lang="zh-CN" sz="1200">
                  <a:solidFill>
                    <a:schemeClr val="bg1">
                      <a:lumMod val="50000"/>
                    </a:schemeClr>
                  </a:solidFill>
                  <a:latin typeface="+mn-ea"/>
                  <a:cs typeface="+mn-ea"/>
                </a:rPr>
                <a:t>精细化能源管控</a:t>
              </a:r>
              <a:endParaRPr/>
            </a:p>
          </p:txBody>
        </p:sp>
        <p:sp>
          <p:nvSpPr>
            <p:cNvPr id="97" name="对话气泡: 圆角矩形 96"/>
            <p:cNvSpPr/>
            <p:nvPr/>
          </p:nvSpPr>
          <p:spPr bwMode="auto">
            <a:xfrm>
              <a:off x="6352236" y="3829898"/>
              <a:ext cx="1300783" cy="264709"/>
            </a:xfrm>
            <a:prstGeom prst="wedgeRoundRectCallout">
              <a:avLst>
                <a:gd name="adj1" fmla="val -44086"/>
                <a:gd name="adj2" fmla="val -9772"/>
                <a:gd name="adj3" fmla="val 16667"/>
              </a:avLst>
            </a:prstGeom>
            <a:solidFill>
              <a:schemeClr val="bg1"/>
            </a:solidFill>
            <a:ln w="18653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sz="1600"/>
            </a:p>
          </p:txBody>
        </p:sp>
        <p:sp>
          <p:nvSpPr>
            <p:cNvPr id="98" name="箭头: 虚尾 97"/>
            <p:cNvSpPr/>
            <p:nvPr/>
          </p:nvSpPr>
          <p:spPr bwMode="auto">
            <a:xfrm>
              <a:off x="6077979" y="4257260"/>
              <a:ext cx="305016" cy="197385"/>
            </a:xfrm>
            <a:prstGeom prst="stripedRightArrow">
              <a:avLst>
                <a:gd name="adj1" fmla="val 50000"/>
                <a:gd name="adj2" fmla="val 50000"/>
              </a:avLst>
            </a:prstGeom>
            <a:solidFill>
              <a:srgbClr val="7FCEEC"/>
            </a:solidFill>
            <a:ln w="12700">
              <a:noFill/>
            </a:ln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sz="1600"/>
            </a:p>
          </p:txBody>
        </p:sp>
        <p:sp>
          <p:nvSpPr>
            <p:cNvPr id="99" name="箭头: 虚尾 98"/>
            <p:cNvSpPr/>
            <p:nvPr/>
          </p:nvSpPr>
          <p:spPr bwMode="auto">
            <a:xfrm>
              <a:off x="6091956" y="3884461"/>
              <a:ext cx="305016" cy="197385"/>
            </a:xfrm>
            <a:prstGeom prst="stripedRightArrow">
              <a:avLst>
                <a:gd name="adj1" fmla="val 50000"/>
                <a:gd name="adj2" fmla="val 50000"/>
              </a:avLst>
            </a:prstGeom>
            <a:solidFill>
              <a:srgbClr val="7FCEEC"/>
            </a:solidFill>
            <a:ln w="12700">
              <a:noFill/>
            </a:ln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sz="1600"/>
            </a:p>
          </p:txBody>
        </p:sp>
        <p:sp>
          <p:nvSpPr>
            <p:cNvPr id="100" name="文本框 99"/>
            <p:cNvSpPr txBox="1"/>
            <p:nvPr/>
          </p:nvSpPr>
          <p:spPr bwMode="auto">
            <a:xfrm>
              <a:off x="6350994" y="3828617"/>
              <a:ext cx="13007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tx2"/>
                </a:buClr>
                <a:defRPr/>
              </a:pPr>
              <a:r>
                <a:rPr lang="zh-CN" sz="1200">
                  <a:solidFill>
                    <a:schemeClr val="bg1">
                      <a:lumMod val="50000"/>
                    </a:schemeClr>
                  </a:solidFill>
                  <a:latin typeface="+mn-ea"/>
                  <a:cs typeface="+mn-ea"/>
                </a:rPr>
                <a:t>发变对齿识别</a:t>
              </a:r>
              <a:endParaRPr/>
            </a:p>
          </p:txBody>
        </p:sp>
        <p:pic>
          <p:nvPicPr>
            <p:cNvPr id="101" name="图片 100"/>
            <p:cNvPicPr>
              <a:picLocks noChangeAspect="1"/>
            </p:cNvPicPr>
            <p:nvPr/>
          </p:nvPicPr>
          <p:blipFill>
            <a:blip r:embed="rId7"/>
            <a:stretch/>
          </p:blipFill>
          <p:spPr bwMode="auto">
            <a:xfrm>
              <a:off x="5380713" y="3922379"/>
              <a:ext cx="455224" cy="441429"/>
            </a:xfrm>
            <a:prstGeom prst="rect">
              <a:avLst/>
            </a:prstGeom>
          </p:spPr>
        </p:pic>
        <p:pic>
          <p:nvPicPr>
            <p:cNvPr id="102" name="图形 123" descr="云"/>
            <p:cNvPicPr>
              <a:picLocks noChangeAspect="1"/>
            </p:cNvPicPr>
            <p:nvPr/>
          </p:nvPicPr>
          <p:blipFill>
            <a:blip r:embed="rId8"/>
            <a:stretch/>
          </p:blipFill>
          <p:spPr bwMode="auto">
            <a:xfrm>
              <a:off x="4978149" y="4078330"/>
              <a:ext cx="1415048" cy="1068376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3" name="文本框 102"/>
            <p:cNvSpPr txBox="1"/>
            <p:nvPr/>
          </p:nvSpPr>
          <p:spPr bwMode="auto">
            <a:xfrm>
              <a:off x="5049596" y="4573462"/>
              <a:ext cx="13436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buClr>
                  <a:schemeClr val="tx2"/>
                </a:buClr>
                <a:defRPr/>
              </a:pPr>
              <a:r>
                <a:rPr lang="en-US" sz="1200" b="1">
                  <a:solidFill>
                    <a:srgbClr val="10CF9B"/>
                  </a:solidFill>
                  <a:latin typeface="+mn-ea"/>
                </a:rPr>
                <a:t>Smart Factory</a:t>
              </a:r>
              <a:endParaRPr/>
            </a:p>
          </p:txBody>
        </p:sp>
      </p:grpSp>
      <p:sp>
        <p:nvSpPr>
          <p:cNvPr id="71" name="文本框 70"/>
          <p:cNvSpPr txBox="1"/>
          <p:nvPr/>
        </p:nvSpPr>
        <p:spPr>
          <a:xfrm>
            <a:off x="648333" y="2669709"/>
            <a:ext cx="3280730" cy="9045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1400" spc="13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+mn-ea"/>
              </a:rPr>
              <a:t>存在不足：</a:t>
            </a:r>
            <a:endParaRPr lang="en-US" altLang="zh-CN" sz="1400" spc="130" dirty="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1200" spc="13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+mn-ea"/>
              </a:rPr>
              <a:t>直订实现用户在线订</a:t>
            </a:r>
            <a:r>
              <a:rPr lang="zh-CN" altLang="en-US" sz="1200" spc="13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车，但缺乏协同统一的客户线上购买旅程全覆盖，从下订到交付，平均车辆交付</a:t>
            </a:r>
            <a:r>
              <a:rPr lang="en-US" altLang="zh-CN" sz="1200" spc="13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52</a:t>
            </a:r>
            <a:r>
              <a:rPr lang="zh-CN" altLang="en-US" sz="1200" spc="13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天。</a:t>
            </a:r>
            <a:endParaRPr lang="zh-CN" altLang="en-US" sz="1400" spc="130" dirty="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+mn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662088" y="3663851"/>
            <a:ext cx="3280730" cy="13477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1400" spc="13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+mn-ea"/>
              </a:rPr>
              <a:t>创新举措：</a:t>
            </a:r>
            <a:endParaRPr lang="en-US" altLang="zh-CN" sz="1400" spc="130" dirty="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+mn-ea"/>
            </a:endParaRPr>
          </a:p>
          <a:p>
            <a:pPr marL="228600" indent="-228600">
              <a:lnSpc>
                <a:spcPct val="120000"/>
              </a:lnSpc>
              <a:buAutoNum type="arabicPeriod"/>
            </a:pPr>
            <a:r>
              <a:rPr lang="zh-CN" altLang="en-US" sz="1200" spc="13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实现整车下订、合同签署、金融保险、车辆交付全流程线上可视化</a:t>
            </a:r>
            <a:r>
              <a:rPr lang="en-US" altLang="zh-CN" sz="1200" spc="13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</a:t>
            </a:r>
            <a:r>
              <a:rPr lang="zh-CN" altLang="en-US" sz="1200" spc="13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尾款支付及车辆交付，在</a:t>
            </a:r>
            <a:r>
              <a:rPr lang="en-US" altLang="zh-CN" sz="1200" spc="13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APP</a:t>
            </a:r>
            <a:r>
              <a:rPr lang="zh-CN" altLang="en-US" sz="1200" spc="13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实现全线上化操作。</a:t>
            </a:r>
            <a:endParaRPr lang="en-US" altLang="zh-CN" sz="1200" spc="130" dirty="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28600" indent="-228600">
              <a:lnSpc>
                <a:spcPct val="120000"/>
              </a:lnSpc>
              <a:buAutoNum type="arabicPeriod"/>
            </a:pPr>
            <a:r>
              <a:rPr lang="zh-CN" altLang="en-US" sz="1200" spc="13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业务效率提升实现</a:t>
            </a:r>
            <a:r>
              <a:rPr lang="en-US" altLang="zh-CN" sz="1200" spc="13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</a:t>
            </a:r>
            <a:r>
              <a:rPr lang="zh-CN" altLang="en-US" sz="1200" spc="13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系列交车周期缩短到</a:t>
            </a:r>
            <a:r>
              <a:rPr lang="en-US" altLang="zh-CN" sz="1200" spc="13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14.7</a:t>
            </a:r>
            <a:r>
              <a:rPr lang="zh-CN" altLang="en-US" sz="1200" spc="13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天</a:t>
            </a:r>
            <a:endParaRPr lang="en-US" altLang="zh-CN" sz="1200" spc="130" dirty="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+mn-ea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655157" y="5504941"/>
            <a:ext cx="3273906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2023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年实现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系列车型全线上化销售。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年实现全部车型可线上全链路销售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目录">
  <a:themeElements>
    <a:clrScheme name="广汽集团">
      <a:dk1>
        <a:srgbClr val="000000"/>
      </a:dk1>
      <a:lt1>
        <a:srgbClr val="FFFFFF"/>
      </a:lt1>
      <a:dk2>
        <a:srgbClr val="58595B"/>
      </a:dk2>
      <a:lt2>
        <a:srgbClr val="FFFFFF"/>
      </a:lt2>
      <a:accent1>
        <a:srgbClr val="F49BA4"/>
      </a:accent1>
      <a:accent2>
        <a:srgbClr val="E77E81"/>
      </a:accent2>
      <a:accent3>
        <a:srgbClr val="F03B4B"/>
      </a:accent3>
      <a:accent4>
        <a:srgbClr val="EB0A1E"/>
      </a:accent4>
      <a:accent5>
        <a:srgbClr val="B90514"/>
      </a:accent5>
      <a:accent6>
        <a:srgbClr val="86050E"/>
      </a:accent6>
      <a:hlink>
        <a:srgbClr val="00B7BD"/>
      </a:hlink>
      <a:folHlink>
        <a:srgbClr val="006366"/>
      </a:folHlink>
    </a:clrScheme>
    <a:fontScheme name="常规">
      <a:majorFont>
        <a:latin typeface="微软雅黑"/>
        <a:ea typeface="微软雅黑"/>
        <a:cs typeface="Arial"/>
      </a:majorFont>
      <a:minorFont>
        <a:latin typeface="微软雅黑"/>
        <a:ea typeface="微软雅黑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目录">
  <a:themeElements>
    <a:clrScheme name="广汽集团">
      <a:dk1>
        <a:srgbClr val="000000"/>
      </a:dk1>
      <a:lt1>
        <a:srgbClr val="FFFFFF"/>
      </a:lt1>
      <a:dk2>
        <a:srgbClr val="58595B"/>
      </a:dk2>
      <a:lt2>
        <a:srgbClr val="FFFFFF"/>
      </a:lt2>
      <a:accent1>
        <a:srgbClr val="F49BA4"/>
      </a:accent1>
      <a:accent2>
        <a:srgbClr val="E77E81"/>
      </a:accent2>
      <a:accent3>
        <a:srgbClr val="F03B4B"/>
      </a:accent3>
      <a:accent4>
        <a:srgbClr val="EB0A1E"/>
      </a:accent4>
      <a:accent5>
        <a:srgbClr val="B90514"/>
      </a:accent5>
      <a:accent6>
        <a:srgbClr val="86050E"/>
      </a:accent6>
      <a:hlink>
        <a:srgbClr val="00B7BD"/>
      </a:hlink>
      <a:folHlink>
        <a:srgbClr val="006366"/>
      </a:folHlink>
    </a:clrScheme>
    <a:fontScheme name="常规">
      <a:majorFont>
        <a:latin typeface="微软雅黑"/>
        <a:ea typeface="微软雅黑"/>
        <a:cs typeface="Arial"/>
      </a:majorFont>
      <a:minorFont>
        <a:latin typeface="微软雅黑"/>
        <a:ea typeface="微软雅黑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</a:majorFont>
      <a:minorFont>
        <a:latin typeface="等线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</TotalTime>
  <Words>264</Words>
  <Application>Microsoft Office PowerPoint</Application>
  <DocSecurity>0</DocSecurity>
  <PresentationFormat>宽屏</PresentationFormat>
  <Paragraphs>29</Paragraphs>
  <Slides>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微软雅黑</vt:lpstr>
      <vt:lpstr>Arial</vt:lpstr>
      <vt:lpstr>Wingdings</vt:lpstr>
      <vt:lpstr>目录</vt:lpstr>
      <vt:lpstr>1_目录</vt:lpstr>
      <vt:lpstr>oleObj</vt:lpstr>
      <vt:lpstr>四、推动科技创新落地应用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何兆亨</dc:creator>
  <cp:keywords/>
  <dc:description/>
  <cp:lastModifiedBy>Administrator</cp:lastModifiedBy>
  <cp:revision>491</cp:revision>
  <dcterms:created xsi:type="dcterms:W3CDTF">2019-12-19T14:20:00Z</dcterms:created>
  <dcterms:modified xsi:type="dcterms:W3CDTF">2024-07-16T12:10:05Z</dcterms:modified>
  <cp:category/>
  <dc:identifier/>
  <cp:contentStatus/>
  <dc:language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F7011F7FDCA6467F8B7881372B41758D</vt:lpwstr>
  </property>
  <property fmtid="{D5CDD505-2E9C-101B-9397-08002B2CF9AE}" pid="3" name="KSOProductBuildVer">
    <vt:lpwstr>2052-11.1.0.13607</vt:lpwstr>
  </property>
  <property fmtid="{D5CDD505-2E9C-101B-9397-08002B2CF9AE}" pid="4" name="ContentTypeId">
    <vt:lpwstr>0x010100578937A08102664A812E5294DF0352B4</vt:lpwstr>
  </property>
  <property fmtid="{D5CDD505-2E9C-101B-9397-08002B2CF9AE}" pid="5" name="MSIP_Label_b0d5c4f4-7a29-4385-b7a5-afbe2154ae6f_Enabled">
    <vt:lpwstr>true</vt:lpwstr>
  </property>
  <property fmtid="{D5CDD505-2E9C-101B-9397-08002B2CF9AE}" pid="6" name="MSIP_Label_b0d5c4f4-7a29-4385-b7a5-afbe2154ae6f_SetDate">
    <vt:lpwstr>2022-12-20T11:40:34Z</vt:lpwstr>
  </property>
  <property fmtid="{D5CDD505-2E9C-101B-9397-08002B2CF9AE}" pid="7" name="MSIP_Label_b0d5c4f4-7a29-4385-b7a5-afbe2154ae6f_Method">
    <vt:lpwstr>Standard</vt:lpwstr>
  </property>
  <property fmtid="{D5CDD505-2E9C-101B-9397-08002B2CF9AE}" pid="8" name="MSIP_Label_b0d5c4f4-7a29-4385-b7a5-afbe2154ae6f_Name">
    <vt:lpwstr>Confidential</vt:lpwstr>
  </property>
  <property fmtid="{D5CDD505-2E9C-101B-9397-08002B2CF9AE}" pid="9" name="MSIP_Label_b0d5c4f4-7a29-4385-b7a5-afbe2154ae6f_SiteId">
    <vt:lpwstr>2dfb2f0b-4d21-4268-9559-72926144c918</vt:lpwstr>
  </property>
  <property fmtid="{D5CDD505-2E9C-101B-9397-08002B2CF9AE}" pid="10" name="MSIP_Label_b0d5c4f4-7a29-4385-b7a5-afbe2154ae6f_ActionId">
    <vt:lpwstr>623da122-4dfc-4ff9-9c26-00bce8d0bf44</vt:lpwstr>
  </property>
  <property fmtid="{D5CDD505-2E9C-101B-9397-08002B2CF9AE}" pid="11" name="MSIP_Label_b0d5c4f4-7a29-4385-b7a5-afbe2154ae6f_ContentBits">
    <vt:lpwstr>0</vt:lpwstr>
  </property>
  <property fmtid="{D5CDD505-2E9C-101B-9397-08002B2CF9AE}" pid="12" name="bcgClassification">
    <vt:lpwstr>bcgConfidential</vt:lpwstr>
  </property>
</Properties>
</file>