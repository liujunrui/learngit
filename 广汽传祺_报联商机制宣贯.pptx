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sldIdLst>
    <p:sldId id="16434457" r:id="rId3"/>
    <p:sldId id="16434458" r:id="rId4"/>
    <p:sldId id="16434459" r:id="rId5"/>
    <p:sldId id="16434462" r:id="rId6"/>
    <p:sldId id="16434463" r:id="rId7"/>
    <p:sldId id="16434464" r:id="rId8"/>
  </p:sldIdLst>
  <p:sldSz cx="9144000" cy="5143500" type="screen16x9"/>
  <p:notesSz cx="6807200" cy="9939020"/>
  <p:custDataLst>
    <p:tags r:id="rId14"/>
  </p:custDataLst>
  <p:defaultTextStyle>
    <a:defPPr>
      <a:defRPr lang="zh-CN"/>
    </a:defPPr>
    <a:lvl1pPr marL="0" algn="l" defTabSz="68326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1630" algn="l" defTabSz="68326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3260" algn="l" defTabSz="68326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4890" algn="l" defTabSz="68326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66520" algn="l" defTabSz="68326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08150" algn="l" defTabSz="68326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49780" algn="l" defTabSz="68326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391410" algn="l" defTabSz="68326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33040" algn="l" defTabSz="68326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1942" userDrawn="1">
          <p15:clr>
            <a:srgbClr val="A4A3A4"/>
          </p15:clr>
        </p15:guide>
        <p15:guide id="2" orient="horz" pos="170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翠琥珀" initials="W用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76A3"/>
    <a:srgbClr val="014DF9"/>
    <a:srgbClr val="B10000"/>
    <a:srgbClr val="1A489D"/>
    <a:srgbClr val="E2EFDA"/>
    <a:srgbClr val="DCE6F2"/>
    <a:srgbClr val="EEECE1"/>
    <a:srgbClr val="77933C"/>
    <a:srgbClr val="604A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3438" autoAdjust="0"/>
    <p:restoredTop sz="95923" autoAdjust="0"/>
  </p:normalViewPr>
  <p:slideViewPr>
    <p:cSldViewPr snapToGrid="0" showGuides="1">
      <p:cViewPr>
        <p:scale>
          <a:sx n="75" d="100"/>
          <a:sy n="75" d="100"/>
        </p:scale>
        <p:origin x="336" y="548"/>
      </p:cViewPr>
      <p:guideLst>
        <p:guide pos="1942"/>
        <p:guide orient="horz" pos="1706"/>
      </p:guideLst>
    </p:cSldViewPr>
  </p:slideViewPr>
  <p:outlineViewPr>
    <p:cViewPr>
      <p:scale>
        <a:sx n="33" d="100"/>
        <a:sy n="33" d="100"/>
      </p:scale>
      <p:origin x="0" y="11652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558"/>
    </p:cViewPr>
  </p:sorterViewPr>
  <p:notesViewPr>
    <p:cSldViewPr snapToGrid="0">
      <p:cViewPr varScale="1">
        <p:scale>
          <a:sx n="88" d="100"/>
          <a:sy n="88" d="100"/>
        </p:scale>
        <p:origin x="382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21.xml"/><Relationship Id="rId13" Type="http://schemas.openxmlformats.org/officeDocument/2006/relationships/commentAuthors" Target="commentAuthors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BA94BC-B7E5-4145-99E4-E4EE9774233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755F83-5693-409D-92B3-1A57947A61B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122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5295" algn="l" defTabSz="91122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1225" algn="l" defTabSz="91122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66520" algn="l" defTabSz="91122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1815" algn="l" defTabSz="91122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77110" algn="l" defTabSz="91122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33040" algn="l" defTabSz="91122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88335" algn="l" defTabSz="91122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43630" algn="l" defTabSz="91122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占位符 1"/>
          <p:cNvSpPr>
            <a:spLocks noGrp="1"/>
          </p:cNvSpPr>
          <p:nvPr>
            <p:ph type="title"/>
          </p:nvPr>
        </p:nvSpPr>
        <p:spPr>
          <a:xfrm>
            <a:off x="983363" y="63102"/>
            <a:ext cx="7177274" cy="365508"/>
          </a:xfrm>
          <a:prstGeom prst="rect">
            <a:avLst/>
          </a:prstGeom>
        </p:spPr>
        <p:txBody>
          <a:bodyPr vert="horz" lIns="90554" tIns="45277" rIns="90554" bIns="45277" rtlCol="0" anchor="ctr">
            <a:noAutofit/>
          </a:bodyPr>
          <a:lstStyle>
            <a:lvl1pPr algn="ctr">
              <a:defRPr sz="1600" b="1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98357"/>
            <a:ext cx="2133600" cy="273844"/>
          </a:xfrm>
          <a:prstGeom prst="rect">
            <a:avLst/>
          </a:prstGeom>
        </p:spPr>
        <p:txBody>
          <a:bodyPr vert="horz" lIns="90554" tIns="45277" rIns="90554" bIns="4527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04240">
              <a:defRPr/>
            </a:pPr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>
              <a:defRPr/>
            </a:pPr>
            <a:fld id="{C1EAB7B6-F56B-4747-91BB-D10B5F3A0F0D}" type="datetime1">
              <a:rPr lang="zh-CN" altLang="en-US" sz="900" smtClean="0">
                <a:solidFill>
                  <a:prstClr val="black">
                    <a:tint val="75000"/>
                  </a:prstClr>
                </a:solidFill>
                <a:latin typeface="Arial" panose="020B0604020202020204"/>
              </a:rPr>
            </a:fld>
            <a:endParaRPr lang="zh-CN" altLang="en-US" sz="900">
              <a:solidFill>
                <a:prstClr val="black">
                  <a:tint val="75000"/>
                </a:prstClr>
              </a:solidFill>
              <a:latin typeface="Arial" panose="020B0604020202020204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defRPr/>
            </a:pPr>
            <a:endParaRPr lang="zh-CN" altLang="en-US" sz="900">
              <a:solidFill>
                <a:prstClr val="black">
                  <a:tint val="75000"/>
                </a:prstClr>
              </a:solidFill>
              <a:latin typeface="Arial" panose="020B060402020202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defRPr/>
            </a:pPr>
            <a:fld id="{AA4E786F-588D-4932-A7B2-AE3451FA4ACA}" type="slidenum">
              <a:rPr lang="zh-CN" altLang="en-US" sz="900" smtClean="0">
                <a:solidFill>
                  <a:prstClr val="black">
                    <a:tint val="75000"/>
                  </a:prstClr>
                </a:solidFill>
                <a:latin typeface="Arial" panose="020B0604020202020204"/>
              </a:rPr>
            </a:fld>
            <a:endParaRPr lang="zh-CN" altLang="en-US" sz="900">
              <a:solidFill>
                <a:prstClr val="black">
                  <a:tint val="75000"/>
                </a:prstClr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132339" y="63102"/>
            <a:ext cx="6879323" cy="365508"/>
          </a:xfrm>
          <a:prstGeom prst="rect">
            <a:avLst/>
          </a:prstGeom>
        </p:spPr>
        <p:txBody>
          <a:bodyPr vert="horz" lIns="90554" tIns="45277" rIns="90554" bIns="45277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571488"/>
            <a:ext cx="8229600" cy="4023137"/>
          </a:xfrm>
          <a:prstGeom prst="rect">
            <a:avLst/>
          </a:prstGeom>
        </p:spPr>
        <p:txBody>
          <a:bodyPr vert="horz" lIns="90554" tIns="45277" rIns="90554" bIns="45277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0554" tIns="45277" rIns="90554" bIns="4527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042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46E4CB8-2929-4814-8E23-BDDE060B1097}" type="datetime1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Verdana" panose="020B0604030504040204"/>
                <a:ea typeface="微软雅黑" panose="020B050302020402020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Verdana" panose="020B0604030504040204"/>
              <a:ea typeface="微软雅黑" panose="020B050302020402020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0554" tIns="45277" rIns="90554" bIns="4527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042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Verdana" panose="020B0604030504040204"/>
              <a:ea typeface="微软雅黑" panose="020B050302020402020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98357"/>
            <a:ext cx="2133600" cy="273844"/>
          </a:xfrm>
          <a:prstGeom prst="rect">
            <a:avLst/>
          </a:prstGeom>
        </p:spPr>
        <p:txBody>
          <a:bodyPr vert="horz" lIns="90554" tIns="45277" rIns="90554" bIns="4527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04240">
              <a:defRPr/>
            </a:pPr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411606"/>
            <a:ext cx="9144000" cy="34925"/>
          </a:xfrm>
          <a:prstGeom prst="rect">
            <a:avLst/>
          </a:prstGeom>
          <a:solidFill>
            <a:srgbClr val="D700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461" tIns="45226" rIns="90461" bIns="45226" anchor="ctr"/>
          <a:lstStyle/>
          <a:p>
            <a:pPr marL="0" marR="0" lvl="0" indent="0" algn="ctr" defTabSz="9042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43" y="94342"/>
            <a:ext cx="1667069" cy="26027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ctr" defTabSz="904240" rtl="0" eaLnBrk="1" latinLnBrk="0" hangingPunct="1">
        <a:spcBef>
          <a:spcPct val="0"/>
        </a:spcBef>
        <a:buNone/>
        <a:defRPr sz="2000" b="1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339090" indent="-339090" algn="l" defTabSz="9042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734695" indent="-282575" algn="l" defTabSz="90424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30300" indent="-226060" algn="l" defTabSz="90424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583055" indent="-226060" algn="l" defTabSz="904240" rtl="0" eaLnBrk="1" latinLnBrk="0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34540" indent="-226060" algn="l" defTabSz="904240" rtl="0" eaLnBrk="1" latinLnBrk="0" hangingPunct="1">
        <a:spcBef>
          <a:spcPct val="20000"/>
        </a:spcBef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486660" indent="-226060" algn="l" defTabSz="9042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39415" indent="-226060" algn="l" defTabSz="9042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391535" indent="-226060" algn="l" defTabSz="9042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43655" indent="-226060" algn="l" defTabSz="9042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042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2120" algn="l" defTabSz="9042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04240" algn="l" defTabSz="9042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56360" algn="l" defTabSz="9042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09115" algn="l" defTabSz="9042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60600" algn="l" defTabSz="9042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12720" algn="l" defTabSz="9042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65475" algn="l" defTabSz="9042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17595" algn="l" defTabSz="9042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5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6" Type="http://schemas.openxmlformats.org/officeDocument/2006/relationships/slideLayout" Target="../slideLayouts/slideLayout3.xml"/><Relationship Id="rId15" Type="http://schemas.openxmlformats.org/officeDocument/2006/relationships/tags" Target="../tags/tag20.xml"/><Relationship Id="rId14" Type="http://schemas.openxmlformats.org/officeDocument/2006/relationships/tags" Target="../tags/tag19.xml"/><Relationship Id="rId13" Type="http://schemas.openxmlformats.org/officeDocument/2006/relationships/tags" Target="../tags/tag18.xml"/><Relationship Id="rId12" Type="http://schemas.openxmlformats.org/officeDocument/2006/relationships/tags" Target="../tags/tag17.xml"/><Relationship Id="rId11" Type="http://schemas.openxmlformats.org/officeDocument/2006/relationships/tags" Target="../tags/tag16.xml"/><Relationship Id="rId10" Type="http://schemas.openxmlformats.org/officeDocument/2006/relationships/tags" Target="../tags/tag15.xml"/><Relationship Id="rId1" Type="http://schemas.openxmlformats.org/officeDocument/2006/relationships/tags" Target="../tags/tag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0" y="2022475"/>
            <a:ext cx="9143365" cy="137858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/>
              <a:t>报联商机制宣贯</a:t>
            </a:r>
            <a:endParaRPr lang="zh-CN" altLang="en-US" sz="2800"/>
          </a:p>
        </p:txBody>
      </p:sp>
      <p:sp>
        <p:nvSpPr>
          <p:cNvPr id="21" name="文本框 20"/>
          <p:cNvSpPr txBox="1"/>
          <p:nvPr/>
        </p:nvSpPr>
        <p:spPr>
          <a:xfrm>
            <a:off x="3251835" y="4391660"/>
            <a:ext cx="32893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广汽传祺用户生态部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PMO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2025/1/17 @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中国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广州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目</a:t>
            </a:r>
            <a:r>
              <a:rPr lang="en-US" altLang="zh-CN"/>
              <a:t>      </a:t>
            </a:r>
            <a:r>
              <a:rPr lang="zh-CN" altLang="en-US"/>
              <a:t>录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36" name="任意多边形: 形状 21"/>
          <p:cNvSpPr/>
          <p:nvPr>
            <p:custDataLst>
              <p:tags r:id="rId1"/>
            </p:custDataLst>
          </p:nvPr>
        </p:nvSpPr>
        <p:spPr>
          <a:xfrm>
            <a:off x="2686685" y="1817619"/>
            <a:ext cx="3818473" cy="1115411"/>
          </a:xfrm>
          <a:custGeom>
            <a:avLst/>
            <a:gdLst>
              <a:gd name="connsiteX0" fmla="*/ 4924244 w 9848488"/>
              <a:gd name="connsiteY0" fmla="*/ 0 h 2006368"/>
              <a:gd name="connsiteX1" fmla="*/ 9775437 w 9848488"/>
              <a:gd name="connsiteY1" fmla="*/ 1858432 h 2006368"/>
              <a:gd name="connsiteX2" fmla="*/ 9848488 w 9848488"/>
              <a:gd name="connsiteY2" fmla="*/ 2006368 h 2006368"/>
              <a:gd name="connsiteX3" fmla="*/ 0 w 9848488"/>
              <a:gd name="connsiteY3" fmla="*/ 2006368 h 2006368"/>
              <a:gd name="connsiteX4" fmla="*/ 73051 w 9848488"/>
              <a:gd name="connsiteY4" fmla="*/ 1858432 h 2006368"/>
              <a:gd name="connsiteX5" fmla="*/ 4924244 w 9848488"/>
              <a:gd name="connsiteY5" fmla="*/ 0 h 2006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8488" h="2006368">
                <a:moveTo>
                  <a:pt x="4924244" y="0"/>
                </a:moveTo>
                <a:cubicBezTo>
                  <a:pt x="7203603" y="0"/>
                  <a:pt x="9132307" y="781751"/>
                  <a:pt x="9775437" y="1858432"/>
                </a:cubicBezTo>
                <a:lnTo>
                  <a:pt x="9848488" y="2006368"/>
                </a:lnTo>
                <a:lnTo>
                  <a:pt x="0" y="2006368"/>
                </a:lnTo>
                <a:lnTo>
                  <a:pt x="73051" y="1858432"/>
                </a:lnTo>
                <a:cubicBezTo>
                  <a:pt x="716182" y="781751"/>
                  <a:pt x="2644886" y="0"/>
                  <a:pt x="4924244" y="0"/>
                </a:cubicBezTo>
                <a:close/>
              </a:path>
            </a:pathLst>
          </a:custGeom>
          <a:noFill/>
          <a:ln w="15875">
            <a:gradFill>
              <a:gsLst>
                <a:gs pos="0">
                  <a:schemeClr val="accent1">
                    <a:lumMod val="40000"/>
                    <a:lumOff val="60000"/>
                    <a:alpha val="100000"/>
                  </a:schemeClr>
                </a:gs>
                <a:gs pos="92000">
                  <a:schemeClr val="accent1">
                    <a:alpha val="0"/>
                  </a:schemeClr>
                </a:gs>
              </a:gsLst>
              <a:lin ang="5400000" scaled="1"/>
            </a:gra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25">
              <a:solidFill>
                <a:schemeClr val="lt1"/>
              </a:solidFill>
            </a:endParaRPr>
          </a:p>
        </p:txBody>
      </p:sp>
      <p:sp>
        <p:nvSpPr>
          <p:cNvPr id="21" name="任意多边形: 形状 17"/>
          <p:cNvSpPr/>
          <p:nvPr>
            <p:custDataLst>
              <p:tags r:id="rId2"/>
            </p:custDataLst>
          </p:nvPr>
        </p:nvSpPr>
        <p:spPr>
          <a:xfrm>
            <a:off x="2738255" y="2018104"/>
            <a:ext cx="3715334" cy="996627"/>
          </a:xfrm>
          <a:custGeom>
            <a:avLst/>
            <a:gdLst>
              <a:gd name="connsiteX0" fmla="*/ 4924244 w 9848488"/>
              <a:gd name="connsiteY0" fmla="*/ 0 h 2006368"/>
              <a:gd name="connsiteX1" fmla="*/ 9775437 w 9848488"/>
              <a:gd name="connsiteY1" fmla="*/ 1858432 h 2006368"/>
              <a:gd name="connsiteX2" fmla="*/ 9848488 w 9848488"/>
              <a:gd name="connsiteY2" fmla="*/ 2006368 h 2006368"/>
              <a:gd name="connsiteX3" fmla="*/ 0 w 9848488"/>
              <a:gd name="connsiteY3" fmla="*/ 2006368 h 2006368"/>
              <a:gd name="connsiteX4" fmla="*/ 73051 w 9848488"/>
              <a:gd name="connsiteY4" fmla="*/ 1858432 h 2006368"/>
              <a:gd name="connsiteX5" fmla="*/ 4924244 w 9848488"/>
              <a:gd name="connsiteY5" fmla="*/ 0 h 2006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8488" h="2006368">
                <a:moveTo>
                  <a:pt x="4924244" y="0"/>
                </a:moveTo>
                <a:cubicBezTo>
                  <a:pt x="7203603" y="0"/>
                  <a:pt x="9132307" y="781751"/>
                  <a:pt x="9775437" y="1858432"/>
                </a:cubicBezTo>
                <a:lnTo>
                  <a:pt x="9848488" y="2006368"/>
                </a:lnTo>
                <a:lnTo>
                  <a:pt x="0" y="2006368"/>
                </a:lnTo>
                <a:lnTo>
                  <a:pt x="73051" y="1858432"/>
                </a:lnTo>
                <a:cubicBezTo>
                  <a:pt x="716182" y="781751"/>
                  <a:pt x="2644886" y="0"/>
                  <a:pt x="4924244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gradFill>
              <a:gsLst>
                <a:gs pos="0">
                  <a:schemeClr val="accent1">
                    <a:alpha val="100000"/>
                  </a:schemeClr>
                </a:gs>
                <a:gs pos="87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25">
              <a:solidFill>
                <a:schemeClr val="lt1"/>
              </a:solidFill>
            </a:endParaRPr>
          </a:p>
        </p:txBody>
      </p:sp>
      <p:sp>
        <p:nvSpPr>
          <p:cNvPr id="23" name="任意多边形: 形状 4"/>
          <p:cNvSpPr/>
          <p:nvPr>
            <p:custDataLst>
              <p:tags r:id="rId3"/>
            </p:custDataLst>
          </p:nvPr>
        </p:nvSpPr>
        <p:spPr>
          <a:xfrm>
            <a:off x="4453087" y="2750142"/>
            <a:ext cx="304937" cy="154371"/>
          </a:xfrm>
          <a:custGeom>
            <a:avLst/>
            <a:gdLst>
              <a:gd name="connsiteX0" fmla="*/ 1450658 w 1450657"/>
              <a:gd name="connsiteY0" fmla="*/ 523875 h 734377"/>
              <a:gd name="connsiteX1" fmla="*/ 161925 w 1450657"/>
              <a:gd name="connsiteY1" fmla="*/ 734377 h 734377"/>
              <a:gd name="connsiteX2" fmla="*/ 0 w 1450657"/>
              <a:gd name="connsiteY2" fmla="*/ 0 h 734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50657" h="734377">
                <a:moveTo>
                  <a:pt x="1450658" y="523875"/>
                </a:moveTo>
                <a:lnTo>
                  <a:pt x="161925" y="734377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000">
                <a:schemeClr val="accent1">
                  <a:lumMod val="78000"/>
                  <a:lumOff val="22000"/>
                  <a:alpha val="100000"/>
                </a:schemeClr>
              </a:gs>
              <a:gs pos="78000">
                <a:schemeClr val="accent1">
                  <a:lumMod val="91000"/>
                  <a:alpha val="100000"/>
                </a:schemeClr>
              </a:gs>
            </a:gsLst>
            <a:lin ang="16200000" scaled="0"/>
          </a:gradFill>
          <a:ln w="483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82600" tIns="41300" rIns="82600" bIns="41300" numCol="1" spcCol="0" rtlCol="0" fromWordArt="0" anchor="ctr" anchorCtr="0" forceAA="0" compatLnSpc="1">
            <a:noAutofit/>
          </a:bodyPr>
          <a:p>
            <a:endParaRPr lang="zh-CN" altLang="en-US" sz="1625">
              <a:solidFill>
                <a:schemeClr val="tx1"/>
              </a:solidFill>
            </a:endParaRPr>
          </a:p>
        </p:txBody>
      </p:sp>
      <p:sp>
        <p:nvSpPr>
          <p:cNvPr id="24" name="任意多边形: 形状 5"/>
          <p:cNvSpPr/>
          <p:nvPr>
            <p:custDataLst>
              <p:tags r:id="rId4"/>
            </p:custDataLst>
          </p:nvPr>
        </p:nvSpPr>
        <p:spPr>
          <a:xfrm>
            <a:off x="4287322" y="2647377"/>
            <a:ext cx="199822" cy="257084"/>
          </a:xfrm>
          <a:custGeom>
            <a:avLst/>
            <a:gdLst>
              <a:gd name="connsiteX0" fmla="*/ 0 w 950595"/>
              <a:gd name="connsiteY0" fmla="*/ 0 h 1223009"/>
              <a:gd name="connsiteX1" fmla="*/ 788670 w 950595"/>
              <a:gd name="connsiteY1" fmla="*/ 488633 h 1223009"/>
              <a:gd name="connsiteX2" fmla="*/ 950595 w 950595"/>
              <a:gd name="connsiteY2" fmla="*/ 1223010 h 1223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0595" h="1223009">
                <a:moveTo>
                  <a:pt x="0" y="0"/>
                </a:moveTo>
                <a:lnTo>
                  <a:pt x="788670" y="488633"/>
                </a:lnTo>
                <a:lnTo>
                  <a:pt x="950595" y="1223010"/>
                </a:lnTo>
                <a:close/>
              </a:path>
            </a:pathLst>
          </a:custGeom>
          <a:gradFill>
            <a:gsLst>
              <a:gs pos="19000">
                <a:schemeClr val="accent1">
                  <a:lumMod val="60000"/>
                  <a:lumOff val="40000"/>
                  <a:alpha val="100000"/>
                </a:schemeClr>
              </a:gs>
              <a:gs pos="92000">
                <a:schemeClr val="accent1">
                  <a:alpha val="100000"/>
                </a:schemeClr>
              </a:gs>
            </a:gsLst>
            <a:lin ang="0" scaled="0"/>
          </a:gradFill>
          <a:ln w="483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82600" tIns="41300" rIns="82600" bIns="41300" numCol="1" spcCol="0" rtlCol="0" fromWordArt="0" anchor="ctr" anchorCtr="0" forceAA="0" compatLnSpc="1">
            <a:noAutofit/>
          </a:bodyPr>
          <a:p>
            <a:endParaRPr lang="zh-CN" altLang="en-US" sz="1625">
              <a:solidFill>
                <a:schemeClr val="tx1"/>
              </a:solidFill>
            </a:endParaRPr>
          </a:p>
        </p:txBody>
      </p:sp>
      <p:sp>
        <p:nvSpPr>
          <p:cNvPr id="25" name="任意多边形: 形状 6"/>
          <p:cNvSpPr/>
          <p:nvPr>
            <p:custDataLst>
              <p:tags r:id="rId5"/>
            </p:custDataLst>
          </p:nvPr>
        </p:nvSpPr>
        <p:spPr>
          <a:xfrm>
            <a:off x="4287322" y="2409270"/>
            <a:ext cx="165783" cy="340777"/>
          </a:xfrm>
          <a:custGeom>
            <a:avLst/>
            <a:gdLst>
              <a:gd name="connsiteX0" fmla="*/ 0 w 788670"/>
              <a:gd name="connsiteY0" fmla="*/ 1132523 h 1621155"/>
              <a:gd name="connsiteX1" fmla="*/ 619125 w 788670"/>
              <a:gd name="connsiteY1" fmla="*/ 0 h 1621155"/>
              <a:gd name="connsiteX2" fmla="*/ 788670 w 788670"/>
              <a:gd name="connsiteY2" fmla="*/ 1621155 h 1621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88670" h="1621155">
                <a:moveTo>
                  <a:pt x="0" y="1132523"/>
                </a:moveTo>
                <a:lnTo>
                  <a:pt x="619125" y="0"/>
                </a:lnTo>
                <a:lnTo>
                  <a:pt x="788670" y="1621155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  <a:lumOff val="50000"/>
                  <a:alpha val="100000"/>
                </a:schemeClr>
              </a:gs>
              <a:gs pos="100000">
                <a:schemeClr val="accent1">
                  <a:lumMod val="86000"/>
                  <a:lumOff val="14000"/>
                  <a:alpha val="100000"/>
                </a:schemeClr>
              </a:gs>
            </a:gsLst>
            <a:lin ang="600000" scaled="0"/>
          </a:gradFill>
          <a:ln w="48331" cap="flat">
            <a:noFill/>
            <a:prstDash val="solid"/>
            <a:miter/>
          </a:ln>
        </p:spPr>
        <p:txBody>
          <a:bodyPr rtlCol="0" anchor="ctr"/>
          <a:p>
            <a:endParaRPr lang="zh-CN" altLang="en-US" sz="1625">
              <a:solidFill>
                <a:schemeClr val="tx1"/>
              </a:solidFill>
            </a:endParaRPr>
          </a:p>
        </p:txBody>
      </p:sp>
      <p:sp>
        <p:nvSpPr>
          <p:cNvPr id="26" name="任意多边形: 形状 7"/>
          <p:cNvSpPr/>
          <p:nvPr>
            <p:custDataLst>
              <p:tags r:id="rId6"/>
            </p:custDataLst>
          </p:nvPr>
        </p:nvSpPr>
        <p:spPr>
          <a:xfrm>
            <a:off x="4453087" y="2534792"/>
            <a:ext cx="304937" cy="325360"/>
          </a:xfrm>
          <a:custGeom>
            <a:avLst/>
            <a:gdLst>
              <a:gd name="connsiteX0" fmla="*/ 1385888 w 1450657"/>
              <a:gd name="connsiteY0" fmla="*/ 0 h 1547812"/>
              <a:gd name="connsiteX1" fmla="*/ 1450658 w 1450657"/>
              <a:gd name="connsiteY1" fmla="*/ 1547812 h 1547812"/>
              <a:gd name="connsiteX2" fmla="*/ 0 w 1450657"/>
              <a:gd name="connsiteY2" fmla="*/ 1023938 h 1547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50657" h="1547812">
                <a:moveTo>
                  <a:pt x="1385888" y="0"/>
                </a:moveTo>
                <a:lnTo>
                  <a:pt x="1450658" y="1547812"/>
                </a:lnTo>
                <a:lnTo>
                  <a:pt x="0" y="1023938"/>
                </a:lnTo>
                <a:close/>
              </a:path>
            </a:pathLst>
          </a:custGeom>
          <a:gradFill flip="none" rotWithShape="1">
            <a:gsLst>
              <a:gs pos="36000">
                <a:schemeClr val="accent1">
                  <a:lumMod val="75000"/>
                  <a:alpha val="100000"/>
                </a:schemeClr>
              </a:gs>
              <a:gs pos="100000">
                <a:schemeClr val="accent1">
                  <a:lumMod val="70000"/>
                  <a:lumOff val="30000"/>
                  <a:alpha val="100000"/>
                </a:schemeClr>
              </a:gs>
            </a:gsLst>
            <a:lin ang="1800000" scaled="0"/>
            <a:tileRect/>
          </a:gradFill>
          <a:ln w="48331" cap="flat">
            <a:noFill/>
            <a:prstDash val="solid"/>
            <a:miter/>
          </a:ln>
        </p:spPr>
        <p:txBody>
          <a:bodyPr rtlCol="0" anchor="ctr"/>
          <a:p>
            <a:endParaRPr lang="zh-CN" altLang="en-US" sz="1625">
              <a:solidFill>
                <a:schemeClr val="tx1"/>
              </a:solidFill>
            </a:endParaRPr>
          </a:p>
        </p:txBody>
      </p:sp>
      <p:sp>
        <p:nvSpPr>
          <p:cNvPr id="27" name="任意多边形: 形状 9"/>
          <p:cNvSpPr/>
          <p:nvPr>
            <p:custDataLst>
              <p:tags r:id="rId7"/>
            </p:custDataLst>
          </p:nvPr>
        </p:nvSpPr>
        <p:spPr>
          <a:xfrm>
            <a:off x="4712993" y="2330939"/>
            <a:ext cx="193814" cy="265093"/>
          </a:xfrm>
          <a:custGeom>
            <a:avLst/>
            <a:gdLst>
              <a:gd name="connsiteX0" fmla="*/ 149542 w 922019"/>
              <a:gd name="connsiteY0" fmla="*/ 969645 h 1261109"/>
              <a:gd name="connsiteX1" fmla="*/ 0 w 922019"/>
              <a:gd name="connsiteY1" fmla="*/ 0 h 1261109"/>
              <a:gd name="connsiteX2" fmla="*/ 922020 w 922019"/>
              <a:gd name="connsiteY2" fmla="*/ 1261110 h 1261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2019" h="1261109">
                <a:moveTo>
                  <a:pt x="149542" y="969645"/>
                </a:moveTo>
                <a:lnTo>
                  <a:pt x="0" y="0"/>
                </a:lnTo>
                <a:lnTo>
                  <a:pt x="922020" y="1261110"/>
                </a:lnTo>
                <a:close/>
              </a:path>
            </a:pathLst>
          </a:custGeom>
          <a:gradFill>
            <a:gsLst>
              <a:gs pos="1000">
                <a:schemeClr val="accent1">
                  <a:lumMod val="60000"/>
                  <a:lumOff val="40000"/>
                  <a:alpha val="100000"/>
                </a:schemeClr>
              </a:gs>
              <a:gs pos="92000">
                <a:schemeClr val="accent1">
                  <a:alpha val="100000"/>
                </a:schemeClr>
              </a:gs>
            </a:gsLst>
            <a:lin ang="9600000" scaled="0"/>
          </a:gradFill>
          <a:ln w="48331" cap="flat">
            <a:noFill/>
            <a:prstDash val="solid"/>
            <a:miter/>
          </a:ln>
        </p:spPr>
        <p:txBody>
          <a:bodyPr rtlCol="0" anchor="ctr"/>
          <a:p>
            <a:endParaRPr lang="zh-CN" altLang="en-US" sz="1625">
              <a:solidFill>
                <a:schemeClr val="tx1"/>
              </a:solidFill>
            </a:endParaRPr>
          </a:p>
        </p:txBody>
      </p:sp>
      <p:sp>
        <p:nvSpPr>
          <p:cNvPr id="28" name="任意多边形: 形状 10"/>
          <p:cNvSpPr/>
          <p:nvPr>
            <p:custDataLst>
              <p:tags r:id="rId8"/>
            </p:custDataLst>
          </p:nvPr>
        </p:nvSpPr>
        <p:spPr>
          <a:xfrm>
            <a:off x="4744373" y="2534792"/>
            <a:ext cx="162379" cy="325360"/>
          </a:xfrm>
          <a:custGeom>
            <a:avLst/>
            <a:gdLst>
              <a:gd name="connsiteX0" fmla="*/ 0 w 772477"/>
              <a:gd name="connsiteY0" fmla="*/ 0 h 1547812"/>
              <a:gd name="connsiteX1" fmla="*/ 772477 w 772477"/>
              <a:gd name="connsiteY1" fmla="*/ 291465 h 1547812"/>
              <a:gd name="connsiteX2" fmla="*/ 64770 w 772477"/>
              <a:gd name="connsiteY2" fmla="*/ 1547812 h 1547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72477" h="1547812">
                <a:moveTo>
                  <a:pt x="0" y="0"/>
                </a:moveTo>
                <a:lnTo>
                  <a:pt x="772477" y="291465"/>
                </a:lnTo>
                <a:lnTo>
                  <a:pt x="64770" y="1547812"/>
                </a:lnTo>
                <a:close/>
              </a:path>
            </a:pathLst>
          </a:custGeom>
          <a:gradFill>
            <a:gsLst>
              <a:gs pos="28000">
                <a:schemeClr val="accent1">
                  <a:lumMod val="75000"/>
                  <a:alpha val="100000"/>
                </a:schemeClr>
              </a:gs>
              <a:gs pos="100000">
                <a:schemeClr val="accent1">
                  <a:lumMod val="70000"/>
                  <a:lumOff val="30000"/>
                  <a:alpha val="100000"/>
                </a:schemeClr>
              </a:gs>
            </a:gsLst>
            <a:lin ang="21594000" scaled="0"/>
          </a:gradFill>
          <a:ln w="48331" cap="flat">
            <a:noFill/>
            <a:prstDash val="solid"/>
            <a:miter/>
          </a:ln>
        </p:spPr>
        <p:txBody>
          <a:bodyPr rtlCol="0" anchor="ctr"/>
          <a:p>
            <a:endParaRPr lang="zh-CN" altLang="en-US" sz="1625">
              <a:solidFill>
                <a:schemeClr val="tx1"/>
              </a:solidFill>
            </a:endParaRPr>
          </a:p>
        </p:txBody>
      </p:sp>
      <p:sp>
        <p:nvSpPr>
          <p:cNvPr id="29" name="任意多边形: 形状 11"/>
          <p:cNvSpPr/>
          <p:nvPr>
            <p:custDataLst>
              <p:tags r:id="rId9"/>
            </p:custDataLst>
          </p:nvPr>
        </p:nvSpPr>
        <p:spPr>
          <a:xfrm>
            <a:off x="4417395" y="2330939"/>
            <a:ext cx="326961" cy="203826"/>
          </a:xfrm>
          <a:custGeom>
            <a:avLst/>
            <a:gdLst>
              <a:gd name="connsiteX0" fmla="*/ 0 w 1555432"/>
              <a:gd name="connsiteY0" fmla="*/ 372428 h 969645"/>
              <a:gd name="connsiteX1" fmla="*/ 1405890 w 1555432"/>
              <a:gd name="connsiteY1" fmla="*/ 0 h 969645"/>
              <a:gd name="connsiteX2" fmla="*/ 1555433 w 1555432"/>
              <a:gd name="connsiteY2" fmla="*/ 969645 h 969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55432" h="969645">
                <a:moveTo>
                  <a:pt x="0" y="372428"/>
                </a:moveTo>
                <a:lnTo>
                  <a:pt x="1405890" y="0"/>
                </a:lnTo>
                <a:lnTo>
                  <a:pt x="1555433" y="969645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5000"/>
                  <a:lumOff val="45000"/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7200000" scaled="0"/>
            <a:tileRect/>
          </a:gradFill>
          <a:ln w="48331" cap="flat">
            <a:noFill/>
            <a:prstDash val="solid"/>
            <a:miter/>
          </a:ln>
        </p:spPr>
        <p:txBody>
          <a:bodyPr rtlCol="0" anchor="ctr"/>
          <a:p>
            <a:endParaRPr lang="zh-CN" altLang="en-US" sz="1625">
              <a:solidFill>
                <a:schemeClr val="tx1"/>
              </a:solidFill>
            </a:endParaRPr>
          </a:p>
        </p:txBody>
      </p:sp>
      <p:sp>
        <p:nvSpPr>
          <p:cNvPr id="30" name="任意多边形: 形状 12"/>
          <p:cNvSpPr/>
          <p:nvPr>
            <p:custDataLst>
              <p:tags r:id="rId10"/>
            </p:custDataLst>
          </p:nvPr>
        </p:nvSpPr>
        <p:spPr>
          <a:xfrm>
            <a:off x="4417395" y="2409270"/>
            <a:ext cx="326961" cy="340777"/>
          </a:xfrm>
          <a:custGeom>
            <a:avLst/>
            <a:gdLst>
              <a:gd name="connsiteX0" fmla="*/ 0 w 1555432"/>
              <a:gd name="connsiteY0" fmla="*/ 0 h 1621155"/>
              <a:gd name="connsiteX1" fmla="*/ 1555433 w 1555432"/>
              <a:gd name="connsiteY1" fmla="*/ 597218 h 1621155"/>
              <a:gd name="connsiteX2" fmla="*/ 169545 w 1555432"/>
              <a:gd name="connsiteY2" fmla="*/ 1621155 h 1621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55432" h="1621155">
                <a:moveTo>
                  <a:pt x="0" y="0"/>
                </a:moveTo>
                <a:lnTo>
                  <a:pt x="1555433" y="597218"/>
                </a:lnTo>
                <a:lnTo>
                  <a:pt x="169545" y="1621155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36000"/>
                  <a:lumOff val="64000"/>
                  <a:alpha val="100000"/>
                </a:schemeClr>
              </a:gs>
              <a:gs pos="100000">
                <a:schemeClr val="accent1">
                  <a:lumMod val="77000"/>
                  <a:lumOff val="23000"/>
                  <a:alpha val="100000"/>
                </a:schemeClr>
              </a:gs>
            </a:gsLst>
            <a:lin ang="2700000" scaled="1"/>
            <a:tileRect/>
          </a:gradFill>
          <a:ln w="48331" cap="flat">
            <a:noFill/>
            <a:prstDash val="solid"/>
            <a:miter/>
          </a:ln>
        </p:spPr>
        <p:txBody>
          <a:bodyPr rtlCol="0" anchor="ctr"/>
          <a:p>
            <a:endParaRPr lang="zh-CN" altLang="en-US" sz="1625">
              <a:solidFill>
                <a:schemeClr val="tx1"/>
              </a:solidFill>
            </a:endParaRPr>
          </a:p>
        </p:txBody>
      </p:sp>
      <p:sp>
        <p:nvSpPr>
          <p:cNvPr id="31" name="椭圆 30"/>
          <p:cNvSpPr/>
          <p:nvPr>
            <p:custDataLst>
              <p:tags r:id="rId11"/>
            </p:custDataLst>
          </p:nvPr>
        </p:nvSpPr>
        <p:spPr>
          <a:xfrm rot="20464926">
            <a:off x="4077960" y="2524731"/>
            <a:ext cx="1066828" cy="222872"/>
          </a:xfrm>
          <a:prstGeom prst="ellipse">
            <a:avLst/>
          </a:prstGeom>
          <a:noFill/>
          <a:ln w="9525">
            <a:gradFill flip="none" rotWithShape="1">
              <a:gsLst>
                <a:gs pos="0">
                  <a:schemeClr val="accent1">
                    <a:alpha val="10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25">
              <a:solidFill>
                <a:schemeClr val="lt1"/>
              </a:solidFill>
            </a:endParaRPr>
          </a:p>
        </p:txBody>
      </p:sp>
      <p:sp>
        <p:nvSpPr>
          <p:cNvPr id="32" name="椭圆 31"/>
          <p:cNvSpPr/>
          <p:nvPr>
            <p:custDataLst>
              <p:tags r:id="rId12"/>
            </p:custDataLst>
          </p:nvPr>
        </p:nvSpPr>
        <p:spPr>
          <a:xfrm rot="997938">
            <a:off x="4119641" y="2524731"/>
            <a:ext cx="983280" cy="222872"/>
          </a:xfrm>
          <a:prstGeom prst="ellipse">
            <a:avLst/>
          </a:prstGeom>
          <a:noFill/>
          <a:ln w="19050">
            <a:gradFill flip="none" rotWithShape="1">
              <a:gsLst>
                <a:gs pos="0">
                  <a:schemeClr val="accent1">
                    <a:alpha val="10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25">
              <a:solidFill>
                <a:schemeClr val="lt1"/>
              </a:solidFill>
            </a:endParaRPr>
          </a:p>
        </p:txBody>
      </p:sp>
      <p:sp>
        <p:nvSpPr>
          <p:cNvPr id="33" name="椭圆 32"/>
          <p:cNvSpPr/>
          <p:nvPr>
            <p:custDataLst>
              <p:tags r:id="rId13"/>
            </p:custDataLst>
          </p:nvPr>
        </p:nvSpPr>
        <p:spPr>
          <a:xfrm rot="19668910">
            <a:off x="4047538" y="2524731"/>
            <a:ext cx="1066828" cy="222872"/>
          </a:xfrm>
          <a:prstGeom prst="ellipse">
            <a:avLst/>
          </a:prstGeom>
          <a:noFill/>
          <a:ln w="19050">
            <a:gradFill flip="none" rotWithShape="1">
              <a:gsLst>
                <a:gs pos="1000">
                  <a:schemeClr val="accent1">
                    <a:lumMod val="60000"/>
                    <a:lumOff val="40000"/>
                    <a:alpha val="10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16200000" scaled="1"/>
              <a:tileRect/>
            </a:gra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25">
              <a:solidFill>
                <a:schemeClr val="lt1"/>
              </a:solidFill>
            </a:endParaRPr>
          </a:p>
        </p:txBody>
      </p:sp>
      <p:sp>
        <p:nvSpPr>
          <p:cNvPr id="34" name="椭圆 33"/>
          <p:cNvSpPr/>
          <p:nvPr>
            <p:custDataLst>
              <p:tags r:id="rId14"/>
            </p:custDataLst>
          </p:nvPr>
        </p:nvSpPr>
        <p:spPr>
          <a:xfrm>
            <a:off x="4923792" y="2594677"/>
            <a:ext cx="41593" cy="41593"/>
          </a:xfrm>
          <a:prstGeom prst="ellipse">
            <a:avLst/>
          </a:prstGeom>
          <a:gradFill>
            <a:gsLst>
              <a:gs pos="1000">
                <a:schemeClr val="accent1">
                  <a:lumMod val="75000"/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25">
              <a:solidFill>
                <a:schemeClr val="lt1"/>
              </a:solidFill>
            </a:endParaRPr>
          </a:p>
        </p:txBody>
      </p:sp>
      <p:sp>
        <p:nvSpPr>
          <p:cNvPr id="35" name="椭圆 34"/>
          <p:cNvSpPr/>
          <p:nvPr>
            <p:custDataLst>
              <p:tags r:id="rId15"/>
            </p:custDataLst>
          </p:nvPr>
        </p:nvSpPr>
        <p:spPr>
          <a:xfrm>
            <a:off x="4686883" y="2750861"/>
            <a:ext cx="41593" cy="41593"/>
          </a:xfrm>
          <a:prstGeom prst="ellipse">
            <a:avLst/>
          </a:prstGeom>
          <a:gradFill flip="none" rotWithShape="1">
            <a:gsLst>
              <a:gs pos="1000">
                <a:schemeClr val="accent1">
                  <a:lumMod val="20000"/>
                  <a:lumOff val="80000"/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25">
              <a:solidFill>
                <a:schemeClr val="lt1"/>
              </a:solidFill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275590" y="3107055"/>
            <a:ext cx="2396490" cy="7556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6504940" y="3107055"/>
            <a:ext cx="2396490" cy="7556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371475" y="2701925"/>
            <a:ext cx="2101850" cy="352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、报联商流程说明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6587490" y="2701925"/>
            <a:ext cx="2232025" cy="4051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、禅道系统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使用说明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报联商流程</a:t>
            </a:r>
            <a:r>
              <a:rPr lang="zh-CN" altLang="en-US"/>
              <a:t>说明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3909060" y="532130"/>
            <a:ext cx="5107940" cy="4467225"/>
          </a:xfrm>
          <a:prstGeom prst="rect">
            <a:avLst/>
          </a:prstGeom>
        </p:spPr>
      </p:pic>
      <p:grpSp>
        <p:nvGrpSpPr>
          <p:cNvPr id="70" name="组合 69"/>
          <p:cNvGrpSpPr/>
          <p:nvPr/>
        </p:nvGrpSpPr>
        <p:grpSpPr>
          <a:xfrm>
            <a:off x="203835" y="532130"/>
            <a:ext cx="3521710" cy="4418965"/>
            <a:chOff x="8711" y="786"/>
            <a:chExt cx="5546" cy="6959"/>
          </a:xfrm>
        </p:grpSpPr>
        <p:sp>
          <p:nvSpPr>
            <p:cNvPr id="45" name="矩形 44"/>
            <p:cNvSpPr/>
            <p:nvPr/>
          </p:nvSpPr>
          <p:spPr>
            <a:xfrm>
              <a:off x="8711" y="786"/>
              <a:ext cx="5546" cy="6959"/>
            </a:xfrm>
            <a:prstGeom prst="rect">
              <a:avLst/>
            </a:prstGeom>
            <a:ln w="9525" cap="flat" cmpd="sng" algn="ctr">
              <a:solidFill>
                <a:schemeClr val="accent1"/>
              </a:solidFill>
              <a:prstDash val="solid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64" name="组合 63"/>
            <p:cNvGrpSpPr/>
            <p:nvPr/>
          </p:nvGrpSpPr>
          <p:grpSpPr>
            <a:xfrm>
              <a:off x="8806" y="832"/>
              <a:ext cx="5282" cy="504"/>
              <a:chOff x="8806" y="832"/>
              <a:chExt cx="5282" cy="504"/>
            </a:xfrm>
          </p:grpSpPr>
          <p:sp>
            <p:nvSpPr>
              <p:cNvPr id="51" name="椭圆 50"/>
              <p:cNvSpPr/>
              <p:nvPr/>
            </p:nvSpPr>
            <p:spPr>
              <a:xfrm>
                <a:off x="8806" y="863"/>
                <a:ext cx="482" cy="473"/>
              </a:xfrm>
              <a:prstGeom prst="ellipse">
                <a:avLst/>
              </a:prstGeom>
            </p:spPr>
            <p:style>
              <a:lnRef idx="0">
                <a:srgbClr val="FFFFFF"/>
              </a:lnRef>
              <a:fillRef idx="3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/>
                  <a:t>1</a:t>
                </a:r>
                <a:endParaRPr lang="en-US" altLang="zh-CN"/>
              </a:p>
            </p:txBody>
          </p:sp>
          <p:sp>
            <p:nvSpPr>
              <p:cNvPr id="52" name="文本框 51"/>
              <p:cNvSpPr txBox="1"/>
              <p:nvPr/>
            </p:nvSpPr>
            <p:spPr>
              <a:xfrm>
                <a:off x="9288" y="832"/>
                <a:ext cx="4800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/>
                  <a:t>紧</a:t>
                </a:r>
                <a:r>
                  <a:rPr lang="zh-CN" altLang="en-US"/>
                  <a:t>要事件处理</a:t>
                </a:r>
                <a:r>
                  <a:rPr lang="zh-CN" altLang="en-US"/>
                  <a:t>流程</a:t>
                </a:r>
                <a:endParaRPr lang="zh-CN" altLang="en-US"/>
              </a:p>
            </p:txBody>
          </p:sp>
        </p:grpSp>
        <p:grpSp>
          <p:nvGrpSpPr>
            <p:cNvPr id="63" name="组合 62"/>
            <p:cNvGrpSpPr/>
            <p:nvPr/>
          </p:nvGrpSpPr>
          <p:grpSpPr>
            <a:xfrm>
              <a:off x="8806" y="4229"/>
              <a:ext cx="5373" cy="483"/>
              <a:chOff x="8806" y="4121"/>
              <a:chExt cx="5282" cy="483"/>
            </a:xfrm>
          </p:grpSpPr>
          <p:sp>
            <p:nvSpPr>
              <p:cNvPr id="53" name="椭圆 52"/>
              <p:cNvSpPr/>
              <p:nvPr/>
            </p:nvSpPr>
            <p:spPr>
              <a:xfrm>
                <a:off x="8806" y="4130"/>
                <a:ext cx="482" cy="474"/>
              </a:xfrm>
              <a:prstGeom prst="ellipse">
                <a:avLst/>
              </a:prstGeom>
            </p:spPr>
            <p:style>
              <a:lnRef idx="0">
                <a:srgbClr val="FFFFFF"/>
              </a:lnRef>
              <a:fillRef idx="3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/>
                  <a:t>2</a:t>
                </a:r>
                <a:endParaRPr lang="en-US" altLang="zh-CN"/>
              </a:p>
            </p:txBody>
          </p:sp>
          <p:sp>
            <p:nvSpPr>
              <p:cNvPr id="55" name="文本框 54"/>
              <p:cNvSpPr txBox="1"/>
              <p:nvPr/>
            </p:nvSpPr>
            <p:spPr>
              <a:xfrm>
                <a:off x="9288" y="4121"/>
                <a:ext cx="4800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/>
                  <a:t>非紧</a:t>
                </a:r>
                <a:r>
                  <a:rPr lang="zh-CN" altLang="en-US"/>
                  <a:t>要事件处理</a:t>
                </a:r>
                <a:r>
                  <a:rPr lang="zh-CN" altLang="en-US"/>
                  <a:t>流程</a:t>
                </a:r>
                <a:endParaRPr lang="zh-CN" altLang="en-US"/>
              </a:p>
            </p:txBody>
          </p:sp>
        </p:grpSp>
        <p:sp>
          <p:nvSpPr>
            <p:cNvPr id="57" name="文本框 56"/>
            <p:cNvSpPr txBox="1"/>
            <p:nvPr/>
          </p:nvSpPr>
          <p:spPr>
            <a:xfrm>
              <a:off x="8728" y="1334"/>
              <a:ext cx="5452" cy="271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marL="228600" indent="-228600" algn="l">
                <a:lnSpc>
                  <a:spcPct val="100000"/>
                </a:lnSpc>
                <a:buFont typeface="Wingdings" panose="05000000000000000000" charset="0"/>
                <a:buChar char="Ø"/>
              </a:pP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1.1 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事件接收人在接收到外部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/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内部联络后，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30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分钟内需要通知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PMO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进行事件登记；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228600" indent="-228600" algn="l">
                <a:lnSpc>
                  <a:spcPct val="100000"/>
                </a:lnSpc>
                <a:buFont typeface="Wingdings" panose="05000000000000000000" charset="0"/>
                <a:buChar char="Ø"/>
              </a:pP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1.2 PMO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在禅道管理系统上登记事件，且在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30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分钟内通知相关担当及业务经理、科部长；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marL="228600" indent="-228600" algn="l">
                <a:lnSpc>
                  <a:spcPct val="100000"/>
                </a:lnSpc>
                <a:buFont typeface="Wingdings" panose="05000000000000000000" charset="0"/>
                <a:buChar char="Ø"/>
              </a:pP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1.3 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科长接到通知后判断事件是否紧要事件，如紧要事件，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10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分钟内通知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PMO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召集紧急会议进行检讨；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marL="228600" indent="-228600" algn="l">
                <a:lnSpc>
                  <a:spcPct val="100000"/>
                </a:lnSpc>
                <a:buFont typeface="Wingdings" panose="05000000000000000000" charset="0"/>
                <a:buChar char="Ø"/>
              </a:pP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1.4 PMO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在接到会议召集通知后，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30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分钟内组织会议；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marL="228600" indent="-228600" algn="l">
                <a:lnSpc>
                  <a:spcPct val="100000"/>
                </a:lnSpc>
                <a:buFont typeface="Wingdings" panose="05000000000000000000" charset="0"/>
                <a:buChar char="Ø"/>
              </a:pP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1.5 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紧急会议上制定解决方案，担当根据方案进行实施；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marL="228600" indent="-228600" algn="l">
                <a:lnSpc>
                  <a:spcPct val="100000"/>
                </a:lnSpc>
                <a:buFont typeface="Wingdings" panose="05000000000000000000" charset="0"/>
                <a:buChar char="Ø"/>
              </a:pP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1.6 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实施完成后进行事件汇报，由科部长进行事件汇报确认，如汇报通过，则关闭事件，否则将重新实施并汇报。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8806" y="4712"/>
              <a:ext cx="5374" cy="180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marL="228600" indent="-228600" algn="l">
                <a:lnSpc>
                  <a:spcPct val="100000"/>
                </a:lnSpc>
                <a:buClrTx/>
                <a:buSzTx/>
                <a:buFont typeface="Wingdings" panose="05000000000000000000" charset="0"/>
                <a:buChar char="Ø"/>
              </a:pP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2.1 科长判断后若为非紧要事件，由担当先制作解决方案。</a:t>
              </a:r>
              <a:endParaRPr lang="en-US" altLang="zh-CN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228600" indent="-228600" algn="l">
                <a:lnSpc>
                  <a:spcPct val="100000"/>
                </a:lnSpc>
                <a:buClrTx/>
                <a:buSzTx/>
                <a:buFont typeface="Wingdings" panose="05000000000000000000" charset="0"/>
                <a:buChar char="Ø"/>
              </a:pP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2.2 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担当根据事件级别分类进行方案汇报，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若方案汇报未通过，则重新返回2.1；</a:t>
              </a:r>
              <a:endParaRPr lang="en-US" altLang="zh-CN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marL="228600" indent="-228600" algn="l">
                <a:lnSpc>
                  <a:spcPct val="100000"/>
                </a:lnSpc>
                <a:buClrTx/>
                <a:buSzTx/>
                <a:buFont typeface="Wingdings" panose="05000000000000000000" charset="0"/>
                <a:buChar char="Ø"/>
              </a:pP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2.3 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若方案汇报通过，则进行方案实施;</a:t>
              </a:r>
              <a:endParaRPr lang="en-US" altLang="zh-CN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228600" indent="-228600" algn="l">
                <a:lnSpc>
                  <a:spcPct val="100000"/>
                </a:lnSpc>
                <a:buClrTx/>
                <a:buSzTx/>
                <a:buFont typeface="Wingdings" panose="05000000000000000000" charset="0"/>
                <a:buChar char="Ø"/>
              </a:pP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2.4 方案实施后的流程参照“紧要事件处理流程” 1.6执行。</a:t>
              </a:r>
              <a:endParaRPr lang="en-US" altLang="zh-CN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71450" indent="-171450">
                <a:buFont typeface="Wingdings" panose="05000000000000000000" charset="0"/>
                <a:buChar char="Ø"/>
              </a:pPr>
              <a:endParaRPr lang="en-US" altLang="zh-CN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8" name="文本框 67"/>
            <p:cNvSpPr txBox="1"/>
            <p:nvPr/>
          </p:nvSpPr>
          <p:spPr>
            <a:xfrm>
              <a:off x="8838" y="6710"/>
              <a:ext cx="5342" cy="87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  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注：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PMO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全流程进行监控，担当需每日进行事件处理进度更新，直至事件关闭。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9" name="五角星 68"/>
            <p:cNvSpPr/>
            <p:nvPr/>
          </p:nvSpPr>
          <p:spPr>
            <a:xfrm>
              <a:off x="8979" y="6710"/>
              <a:ext cx="317" cy="266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禅道管理系统使用</a:t>
            </a:r>
            <a:r>
              <a:rPr lang="zh-CN" altLang="en-US"/>
              <a:t>说明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75565" y="487680"/>
            <a:ext cx="8981440" cy="10985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60000"/>
              </a:lnSpc>
            </a:pPr>
            <a:r>
              <a:rPr lang="zh-CN" alt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登录说明：</a:t>
            </a:r>
            <a:endParaRPr lang="en-US" altLang="zh-CN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60000"/>
              </a:lnSpc>
            </a:pPr>
            <a:r>
              <a:rPr lang="en-US" altLang="zh-CN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、登录路径：</a:t>
            </a:r>
            <a:r>
              <a:rPr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http://172.18.82.143:8080/zentao/user-login-L3plbnRhby8=.html</a:t>
            </a:r>
            <a:endParaRPr dirty="0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60000"/>
              </a:lnSpc>
            </a:pPr>
            <a:r>
              <a:rPr lang="en-US" altLang="zh-CN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、账号密码：默认账号名为姓名的拼音小写，默认密码：Get1688!@#</a:t>
            </a:r>
            <a:r>
              <a:rPr lang="en-US" altLang="zh-CN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123456</a:t>
            </a:r>
            <a:r>
              <a:rPr lang="zh-CN" altLang="en-US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，首次登录请修改密码。</a:t>
            </a:r>
            <a:endParaRPr lang="zh-CN" altLang="en-US" dirty="0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60000"/>
              </a:lnSpc>
            </a:pPr>
            <a:endParaRPr lang="zh-CN" altLang="en-US" dirty="0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7105" y="1793240"/>
            <a:ext cx="4123055" cy="260731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07645" y="6380480"/>
            <a:ext cx="46164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rgbClr val="FF0000"/>
                </a:solidFill>
              </a:rPr>
              <a:t>注：使用过程中如有疑问，可咨询</a:t>
            </a:r>
            <a:r>
              <a:rPr lang="en-US" altLang="zh-CN" sz="1200">
                <a:solidFill>
                  <a:srgbClr val="FF0000"/>
                </a:solidFill>
              </a:rPr>
              <a:t>PMO_</a:t>
            </a:r>
            <a:r>
              <a:rPr lang="zh-CN" altLang="en-US" sz="1200">
                <a:solidFill>
                  <a:srgbClr val="FF0000"/>
                </a:solidFill>
              </a:rPr>
              <a:t>陈彤华，</a:t>
            </a:r>
            <a:r>
              <a:rPr lang="en-US" altLang="zh-CN" sz="1200">
                <a:solidFill>
                  <a:srgbClr val="FF0000"/>
                </a:solidFill>
              </a:rPr>
              <a:t>13580508146</a:t>
            </a:r>
            <a:endParaRPr lang="en-US" altLang="zh-CN" sz="1200">
              <a:solidFill>
                <a:srgbClr val="FF0000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" y="1814195"/>
            <a:ext cx="4533900" cy="25863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>
                <a:sym typeface="+mn-ea"/>
              </a:rPr>
              <a:t>禅道管理系统使用说明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p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66040" y="570230"/>
            <a:ext cx="3048000" cy="427863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b="1">
                <a:ln>
                  <a:noFill/>
                </a:ln>
                <a:sym typeface="+mn-ea"/>
              </a:rPr>
              <a:t>事件进度更新说明：</a:t>
            </a:r>
            <a:endParaRPr lang="en-US" altLang="zh-CN" b="1">
              <a:ln>
                <a:noFill/>
              </a:ln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n>
                  <a:noFill/>
                </a:ln>
                <a:sym typeface="+mn-ea"/>
              </a:rPr>
              <a:t>1</a:t>
            </a:r>
            <a:r>
              <a:rPr lang="zh-CN" altLang="en-US">
                <a:ln>
                  <a:noFill/>
                </a:ln>
                <a:sym typeface="+mn-ea"/>
              </a:rPr>
              <a:t>、登录后，系统默认进入</a:t>
            </a:r>
            <a:r>
              <a:rPr lang="en-US" altLang="zh-CN">
                <a:ln>
                  <a:noFill/>
                </a:ln>
                <a:sym typeface="+mn-ea"/>
              </a:rPr>
              <a:t>“</a:t>
            </a:r>
            <a:r>
              <a:rPr lang="zh-CN" altLang="en-US">
                <a:ln>
                  <a:noFill/>
                </a:ln>
                <a:sym typeface="+mn-ea"/>
              </a:rPr>
              <a:t>仪表盘</a:t>
            </a:r>
            <a:r>
              <a:rPr lang="en-US" altLang="zh-CN">
                <a:ln>
                  <a:noFill/>
                </a:ln>
                <a:sym typeface="+mn-ea"/>
              </a:rPr>
              <a:t>”</a:t>
            </a:r>
            <a:r>
              <a:rPr lang="zh-CN" altLang="en-US">
                <a:ln>
                  <a:noFill/>
                </a:ln>
                <a:sym typeface="+mn-ea"/>
              </a:rPr>
              <a:t>页面。</a:t>
            </a:r>
            <a:endParaRPr lang="zh-CN" altLang="en-US">
              <a:ln>
                <a:noFill/>
              </a:ln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n>
                  <a:noFill/>
                </a:ln>
                <a:sym typeface="+mn-ea"/>
              </a:rPr>
              <a:t>2</a:t>
            </a:r>
            <a:r>
              <a:rPr lang="zh-CN" altLang="en-US">
                <a:ln>
                  <a:noFill/>
                </a:ln>
                <a:sym typeface="+mn-ea"/>
              </a:rPr>
              <a:t>、点击</a:t>
            </a:r>
            <a:r>
              <a:rPr lang="en-US" altLang="zh-CN">
                <a:ln>
                  <a:noFill/>
                </a:ln>
                <a:sym typeface="+mn-ea"/>
              </a:rPr>
              <a:t>“</a:t>
            </a:r>
            <a:r>
              <a:rPr lang="zh-CN" altLang="en-US">
                <a:ln>
                  <a:noFill/>
                </a:ln>
                <a:sym typeface="+mn-ea"/>
              </a:rPr>
              <a:t>指派给我</a:t>
            </a:r>
            <a:r>
              <a:rPr lang="en-US" altLang="zh-CN">
                <a:ln>
                  <a:noFill/>
                </a:ln>
                <a:sym typeface="+mn-ea"/>
              </a:rPr>
              <a:t>”</a:t>
            </a:r>
            <a:r>
              <a:rPr lang="zh-CN" altLang="en-US">
                <a:ln>
                  <a:noFill/>
                </a:ln>
                <a:sym typeface="+mn-ea"/>
              </a:rPr>
              <a:t>下的任务数字</a:t>
            </a:r>
            <a:r>
              <a:rPr lang="en-US" altLang="zh-CN">
                <a:ln>
                  <a:noFill/>
                </a:ln>
                <a:sym typeface="+mn-ea"/>
              </a:rPr>
              <a:t> </a:t>
            </a:r>
            <a:r>
              <a:rPr lang="zh-CN" altLang="en-US">
                <a:ln>
                  <a:noFill/>
                </a:ln>
                <a:sym typeface="+mn-ea"/>
              </a:rPr>
              <a:t>，进入</a:t>
            </a:r>
            <a:r>
              <a:rPr lang="zh-CN" altLang="en-US">
                <a:ln>
                  <a:noFill/>
                </a:ln>
                <a:sym typeface="+mn-ea"/>
              </a:rPr>
              <a:t>任务列表。</a:t>
            </a:r>
            <a:endParaRPr lang="zh-CN" altLang="en-US">
              <a:ln>
                <a:noFill/>
              </a:ln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n>
                  <a:noFill/>
                </a:ln>
                <a:sym typeface="+mn-ea"/>
              </a:rPr>
              <a:t>3</a:t>
            </a:r>
            <a:r>
              <a:rPr lang="zh-CN" altLang="en-US">
                <a:ln>
                  <a:noFill/>
                </a:ln>
                <a:sym typeface="+mn-ea"/>
              </a:rPr>
              <a:t>、点击对应的任务，进入任务详情界面。</a:t>
            </a:r>
            <a:endParaRPr lang="zh-CN" altLang="en-US">
              <a:ln>
                <a:noFill/>
              </a:ln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n>
                  <a:noFill/>
                </a:ln>
                <a:solidFill>
                  <a:schemeClr val="tx1"/>
                </a:solidFill>
                <a:sym typeface="+mn-ea"/>
              </a:rPr>
              <a:t>4</a:t>
            </a:r>
            <a:r>
              <a:rPr lang="zh-CN" altLang="en-US">
                <a:ln>
                  <a:noFill/>
                </a:ln>
                <a:solidFill>
                  <a:schemeClr val="tx1"/>
                </a:solidFill>
                <a:sym typeface="+mn-ea"/>
              </a:rPr>
              <a:t>、点击任务详情页的</a:t>
            </a:r>
            <a:r>
              <a:rPr lang="en-US" altLang="zh-CN">
                <a:ln>
                  <a:noFill/>
                </a:ln>
                <a:solidFill>
                  <a:schemeClr val="tx1"/>
                </a:solidFill>
                <a:sym typeface="+mn-ea"/>
              </a:rPr>
              <a:t>“</a:t>
            </a:r>
            <a:r>
              <a:rPr lang="zh-CN" altLang="en-US">
                <a:ln>
                  <a:noFill/>
                </a:ln>
                <a:solidFill>
                  <a:schemeClr val="tx1"/>
                </a:solidFill>
                <a:sym typeface="+mn-ea"/>
              </a:rPr>
              <a:t>添加备注</a:t>
            </a:r>
            <a:r>
              <a:rPr lang="en-US" altLang="zh-CN">
                <a:ln>
                  <a:noFill/>
                </a:ln>
                <a:solidFill>
                  <a:schemeClr val="tx1"/>
                </a:solidFill>
                <a:sym typeface="+mn-ea"/>
              </a:rPr>
              <a:t>”</a:t>
            </a:r>
            <a:r>
              <a:rPr lang="zh-CN" altLang="en-US">
                <a:ln>
                  <a:noFill/>
                </a:ln>
                <a:solidFill>
                  <a:schemeClr val="tx1"/>
                </a:solidFill>
                <a:sym typeface="+mn-ea"/>
              </a:rPr>
              <a:t>，系统弹出添加备注框。</a:t>
            </a:r>
            <a:endParaRPr lang="zh-CN" altLang="en-US">
              <a:ln>
                <a:noFill/>
              </a:ln>
              <a:solidFill>
                <a:schemeClr val="tx1"/>
              </a:solidFill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n>
                  <a:noFill/>
                </a:ln>
                <a:solidFill>
                  <a:schemeClr val="tx1"/>
                </a:solidFill>
                <a:sym typeface="+mn-ea"/>
              </a:rPr>
              <a:t>5</a:t>
            </a:r>
            <a:r>
              <a:rPr lang="zh-CN" altLang="en-US">
                <a:ln>
                  <a:noFill/>
                </a:ln>
                <a:solidFill>
                  <a:schemeClr val="tx1"/>
                </a:solidFill>
                <a:sym typeface="+mn-ea"/>
              </a:rPr>
              <a:t>、填写事件进度，点击</a:t>
            </a:r>
            <a:r>
              <a:rPr lang="en-US" altLang="zh-CN">
                <a:ln>
                  <a:noFill/>
                </a:ln>
                <a:solidFill>
                  <a:schemeClr val="tx1"/>
                </a:solidFill>
                <a:sym typeface="+mn-ea"/>
              </a:rPr>
              <a:t>“</a:t>
            </a:r>
            <a:r>
              <a:rPr lang="zh-CN" altLang="en-US">
                <a:ln>
                  <a:noFill/>
                </a:ln>
                <a:solidFill>
                  <a:schemeClr val="tx1"/>
                </a:solidFill>
                <a:sym typeface="+mn-ea"/>
              </a:rPr>
              <a:t>备注</a:t>
            </a:r>
            <a:r>
              <a:rPr lang="en-US" altLang="zh-CN">
                <a:ln>
                  <a:noFill/>
                </a:ln>
                <a:solidFill>
                  <a:schemeClr val="tx1"/>
                </a:solidFill>
                <a:sym typeface="+mn-ea"/>
              </a:rPr>
              <a:t>”</a:t>
            </a:r>
            <a:r>
              <a:rPr lang="zh-CN" altLang="en-US">
                <a:ln>
                  <a:noFill/>
                </a:ln>
                <a:solidFill>
                  <a:schemeClr val="tx1"/>
                </a:solidFill>
                <a:sym typeface="+mn-ea"/>
              </a:rPr>
              <a:t>按钮，完成事件进度更新。</a:t>
            </a:r>
            <a:endParaRPr lang="zh-CN" altLang="en-US">
              <a:ln>
                <a:noFill/>
              </a:ln>
              <a:solidFill>
                <a:schemeClr val="tx1"/>
              </a:solidFill>
              <a:sym typeface="+mn-ea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3190240" y="523240"/>
            <a:ext cx="5839460" cy="4580255"/>
            <a:chOff x="130" y="777"/>
            <a:chExt cx="9196" cy="7213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30" y="777"/>
              <a:ext cx="9196" cy="1130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0" y="2136"/>
              <a:ext cx="9195" cy="1342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1" y="6114"/>
              <a:ext cx="9195" cy="1876"/>
            </a:xfrm>
            <a:prstGeom prst="rect">
              <a:avLst/>
            </a:prstGeom>
          </p:spPr>
        </p:pic>
        <p:sp>
          <p:nvSpPr>
            <p:cNvPr id="11" name="下箭头 10"/>
            <p:cNvSpPr/>
            <p:nvPr/>
          </p:nvSpPr>
          <p:spPr>
            <a:xfrm>
              <a:off x="4402" y="1801"/>
              <a:ext cx="642" cy="338"/>
            </a:xfrm>
            <a:prstGeom prst="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下箭头 11"/>
            <p:cNvSpPr/>
            <p:nvPr/>
          </p:nvSpPr>
          <p:spPr>
            <a:xfrm>
              <a:off x="4447" y="3362"/>
              <a:ext cx="642" cy="361"/>
            </a:xfrm>
            <a:prstGeom prst="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0" y="3726"/>
              <a:ext cx="9196" cy="2139"/>
            </a:xfrm>
            <a:prstGeom prst="rect">
              <a:avLst/>
            </a:prstGeom>
          </p:spPr>
        </p:pic>
        <p:sp>
          <p:nvSpPr>
            <p:cNvPr id="16" name="下箭头 15"/>
            <p:cNvSpPr/>
            <p:nvPr/>
          </p:nvSpPr>
          <p:spPr>
            <a:xfrm>
              <a:off x="4447" y="5865"/>
              <a:ext cx="642" cy="361"/>
            </a:xfrm>
            <a:prstGeom prst="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p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20" name="矩形 19"/>
          <p:cNvSpPr/>
          <p:nvPr/>
        </p:nvSpPr>
        <p:spPr>
          <a:xfrm>
            <a:off x="0" y="2022475"/>
            <a:ext cx="9143365" cy="137858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/>
              <a:t>以上，</a:t>
            </a:r>
            <a:r>
              <a:rPr lang="zh-CN" altLang="en-US" sz="2800"/>
              <a:t>谢谢</a:t>
            </a:r>
            <a:endParaRPr lang="zh-CN" altLang="en-US" sz="2800"/>
          </a:p>
        </p:txBody>
      </p:sp>
      <p:sp>
        <p:nvSpPr>
          <p:cNvPr id="21" name="文本框 20"/>
          <p:cNvSpPr txBox="1"/>
          <p:nvPr/>
        </p:nvSpPr>
        <p:spPr>
          <a:xfrm>
            <a:off x="2926715" y="4429125"/>
            <a:ext cx="32893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广汽传祺用户生态部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PMO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2025/1/17 @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中国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广州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SLIDE_ID" val="diagram20231109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1109"/>
  <p:tag name="KSO_WM_SLIDE_TYPE" val="text"/>
  <p:tag name="KSO_WM_SLIDE_SUBTYPE" val="diag"/>
  <p:tag name="KSO_WM_SLIDE_SIZE" val="811.55*234.25"/>
  <p:tag name="KSO_WM_SLIDE_POSITION" val="82.55*208.45"/>
  <p:tag name="KSO_WM_SLIDE_LAYOUT" val="a_m"/>
  <p:tag name="KSO_WM_SLIDE_LAYOUT_CNT" val="1_1"/>
  <p:tag name="KSO_WM_SPECIAL_SOURCE" val="bdnull"/>
  <p:tag name="KSO_WM_DIAGRAM_GROUP_CODE" val="m1-1"/>
  <p:tag name="KSO_WM_SLIDE_DIAGTYPE" val="m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1*l_i*1_15"/>
  <p:tag name="KSO_WM_TEMPLATE_CATEGORY" val="diagram"/>
  <p:tag name="KSO_WM_TEMPLATE_INDEX" val="20231731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15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182.05,&quot;left&quot;:211.55,&quot;top&quot;:103.8,&quot;width&quot;:300.6671653543307}"/>
  <p:tag name="KSO_WM_DIAGRAM_COLOR_MATCH_VALUE" val="{&quot;shape&quot;:{&quot;fill&quot;:{&quot;type&quot;:0},&quot;glow&quot;:{&quot;colorType&quot;:0},&quot;line&quot;:{&quot;gradient&quot;:[{&quot;brightness&quot;:0.6000000238418579,&quot;colorType&quot;:1,&quot;foreColorIndex&quot;:5,&quot;pos&quot;:0,&quot;transparency&quot;:0},{&quot;brightness&quot;:0,&quot;colorType&quot;:1,&quot;foreColorIndex&quot;:5,&quot;pos&quot;:0.9200000166893005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1*l_i*1_1"/>
  <p:tag name="KSO_WM_TEMPLATE_CATEGORY" val="diagram"/>
  <p:tag name="KSO_WM_TEMPLATE_INDEX" val="20231731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182.05,&quot;left&quot;:211.55,&quot;top&quot;:103.8,&quot;width&quot;:300.6671653543307}"/>
  <p:tag name="KSO_WM_DIAGRAM_COLOR_MATCH_VALUE" val="{&quot;shape&quot;:{&quot;fill&quot;:{&quot;gradient&quot;:[{&quot;brightness&quot;:0,&quot;colorType&quot;:1,&quot;foreColorIndex&quot;:5,&quot;pos&quot;:0,&quot;transparency&quot;:0.8500000238418579},{&quot;brightness&quot;:0,&quot;colorType&quot;:1,&quot;foreColorIndex&quot;:5,&quot;pos&quot;:1,&quot;transparency&quot;:1}],&quot;type&quot;:3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00000047683716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1*l_i*1_2"/>
  <p:tag name="KSO_WM_TEMPLATE_CATEGORY" val="diagram"/>
  <p:tag name="KSO_WM_TEMPLATE_INDEX" val="20231731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182.05,&quot;left&quot;:211.55,&quot;top&quot;:103.8,&quot;width&quot;:300.6671653543307}"/>
  <p:tag name="KSO_WM_DIAGRAM_COLOR_MATCH_VALUE" val="{&quot;shape&quot;:{&quot;fill&quot;:{&quot;gradient&quot;:[{&quot;brightness&quot;:0.2199999988079071,&quot;colorType&quot;:1,&quot;foreColorIndex&quot;:5,&quot;pos&quot;:0.009999999776482582,&quot;transparency&quot;:0},{&quot;brightness&quot;:-0.09000000357627869,&quot;colorType&quot;:1,&quot;foreColorIndex&quot;:5,&quot;pos&quot;:0.7799999713897705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1*l_i*1_3"/>
  <p:tag name="KSO_WM_TEMPLATE_CATEGORY" val="diagram"/>
  <p:tag name="KSO_WM_TEMPLATE_INDEX" val="20231731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3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182.05,&quot;left&quot;:211.55,&quot;top&quot;:103.8,&quot;width&quot;:300.6671653543307}"/>
  <p:tag name="KSO_WM_DIAGRAM_COLOR_MATCH_VALUE" val="{&quot;shape&quot;:{&quot;fill&quot;:{&quot;gradient&quot;:[{&quot;brightness&quot;:0.4000000059604645,&quot;colorType&quot;:1,&quot;foreColorIndex&quot;:5,&quot;pos&quot;:0.1899999976158142,&quot;transparency&quot;:0},{&quot;brightness&quot;:0,&quot;colorType&quot;:1,&quot;foreColorIndex&quot;:5,&quot;pos&quot;:0.9200000166893005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1*l_i*1_4"/>
  <p:tag name="KSO_WM_TEMPLATE_CATEGORY" val="diagram"/>
  <p:tag name="KSO_WM_TEMPLATE_INDEX" val="20231731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4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182.05,&quot;left&quot;:211.55,&quot;top&quot;:103.8,&quot;width&quot;:300.6671653543307}"/>
  <p:tag name="KSO_WM_DIAGRAM_COLOR_MATCH_VALUE" val="{&quot;shape&quot;:{&quot;fill&quot;:{&quot;gradient&quot;:[{&quot;brightness&quot;:0.5,&quot;colorType&quot;:1,&quot;foreColorIndex&quot;:5,&quot;pos&quot;:0,&quot;transparency&quot;:0},{&quot;brightness&quot;:0.1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1*l_i*1_5"/>
  <p:tag name="KSO_WM_TEMPLATE_CATEGORY" val="diagram"/>
  <p:tag name="KSO_WM_TEMPLATE_INDEX" val="20231731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5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182.05,&quot;left&quot;:211.55,&quot;top&quot;:103.8,&quot;width&quot;:300.6671653543307}"/>
  <p:tag name="KSO_WM_DIAGRAM_COLOR_MATCH_VALUE" val="{&quot;shape&quot;:{&quot;fill&quot;:{&quot;gradient&quot;:[{&quot;brightness&quot;:-0.25,&quot;colorType&quot;:1,&quot;foreColorIndex&quot;:5,&quot;pos&quot;:0.36000001430511475,&quot;transparency&quot;:0},{&quot;brightness&quot;:0.30000001192092896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1*l_i*1_6"/>
  <p:tag name="KSO_WM_TEMPLATE_CATEGORY" val="diagram"/>
  <p:tag name="KSO_WM_TEMPLATE_INDEX" val="20231731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6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182.05,&quot;left&quot;:211.55,&quot;top&quot;:103.8,&quot;width&quot;:300.6671653543307}"/>
  <p:tag name="KSO_WM_DIAGRAM_COLOR_MATCH_VALUE" val="{&quot;shape&quot;:{&quot;fill&quot;:{&quot;gradient&quot;:[{&quot;brightness&quot;:0.4000000059604645,&quot;colorType&quot;:1,&quot;foreColorIndex&quot;:5,&quot;pos&quot;:0.009999999776482582,&quot;transparency&quot;:0},{&quot;brightness&quot;:0,&quot;colorType&quot;:1,&quot;foreColorIndex&quot;:5,&quot;pos&quot;:0.9200000166893005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1*l_i*1_7"/>
  <p:tag name="KSO_WM_TEMPLATE_CATEGORY" val="diagram"/>
  <p:tag name="KSO_WM_TEMPLATE_INDEX" val="20231731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7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182.05,&quot;left&quot;:211.55,&quot;top&quot;:103.8,&quot;width&quot;:300.6671653543307}"/>
  <p:tag name="KSO_WM_DIAGRAM_COLOR_MATCH_VALUE" val="{&quot;shape&quot;:{&quot;fill&quot;:{&quot;gradient&quot;:[{&quot;brightness&quot;:-0.25,&quot;colorType&quot;:1,&quot;foreColorIndex&quot;:5,&quot;pos&quot;:0.2800000011920929,&quot;transparency&quot;:0},{&quot;brightness&quot;:0.30000001192092896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1*l_i*1_8"/>
  <p:tag name="KSO_WM_TEMPLATE_CATEGORY" val="diagram"/>
  <p:tag name="KSO_WM_TEMPLATE_INDEX" val="20231731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8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182.05,&quot;left&quot;:211.55,&quot;top&quot;:103.8,&quot;width&quot;:300.6671653543307}"/>
  <p:tag name="KSO_WM_DIAGRAM_COLOR_MATCH_VALUE" val="{&quot;shape&quot;:{&quot;fill&quot;:{&quot;gradient&quot;:[{&quot;brightness&quot;:0.44999998807907104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1*l_i*1_9"/>
  <p:tag name="KSO_WM_TEMPLATE_CATEGORY" val="diagram"/>
  <p:tag name="KSO_WM_TEMPLATE_INDEX" val="20231731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9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182.05,&quot;left&quot;:211.55,&quot;top&quot;:103.8,&quot;width&quot;:300.6671653543307}"/>
  <p:tag name="KSO_WM_DIAGRAM_COLOR_MATCH_VALUE" val="{&quot;shape&quot;:{&quot;fill&quot;:{&quot;gradient&quot;:[{&quot;brightness&quot;:0.6399999856948853,&quot;colorType&quot;:1,&quot;foreColorIndex&quot;:5,&quot;pos&quot;:0,&quot;transparency&quot;:0},{&quot;brightness&quot;:0.23000000417232513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1*l_i*1_10"/>
  <p:tag name="KSO_WM_TEMPLATE_CATEGORY" val="diagram"/>
  <p:tag name="KSO_WM_TEMPLATE_INDEX" val="20231731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10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182.05,&quot;left&quot;:211.55,&quot;top&quot;:103.8,&quot;width&quot;:300.6671653543307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1*l_i*1_11"/>
  <p:tag name="KSO_WM_TEMPLATE_CATEGORY" val="diagram"/>
  <p:tag name="KSO_WM_TEMPLATE_INDEX" val="20231731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1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182.05,&quot;left&quot;:211.55,&quot;top&quot;:103.8,&quot;width&quot;:300.6671653543307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1*l_i*1_12"/>
  <p:tag name="KSO_WM_TEMPLATE_CATEGORY" val="diagram"/>
  <p:tag name="KSO_WM_TEMPLATE_INDEX" val="20231731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1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182.05,&quot;left&quot;:211.55,&quot;top&quot;:103.8,&quot;width&quot;:300.6671653543307}"/>
  <p:tag name="KSO_WM_DIAGRAM_COLOR_MATCH_VALUE" val="{&quot;shape&quot;:{&quot;fill&quot;:{&quot;type&quot;:0},&quot;glow&quot;:{&quot;colorType&quot;:0},&quot;line&quot;:{&quot;gradient&quot;:[{&quot;brightness&quot;:0.4000000059604645,&quot;colorType&quot;:1,&quot;foreColorIndex&quot;:5,&quot;pos&quot;:0.009999999776482582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1*l_i*1_13"/>
  <p:tag name="KSO_WM_TEMPLATE_CATEGORY" val="diagram"/>
  <p:tag name="KSO_WM_TEMPLATE_INDEX" val="20231731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13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182.05,&quot;left&quot;:211.55,&quot;top&quot;:103.8,&quot;width&quot;:300.6671653543307}"/>
  <p:tag name="KSO_WM_DIAGRAM_COLOR_MATCH_VALUE" val="{&quot;shape&quot;:{&quot;fill&quot;:{&quot;gradient&quot;:[{&quot;brightness&quot;:-0.25,&quot;colorType&quot;:1,&quot;foreColorIndex&quot;:5,&quot;pos&quot;:0.009999999776482582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1*l_i*1_14"/>
  <p:tag name="KSO_WM_TEMPLATE_CATEGORY" val="diagram"/>
  <p:tag name="KSO_WM_TEMPLATE_INDEX" val="20231731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14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182.05,&quot;left&quot;:211.55,&quot;top&quot;:103.8,&quot;width&quot;:300.6671653543307}"/>
  <p:tag name="KSO_WM_DIAGRAM_COLOR_MATCH_VALUE" val="{&quot;shape&quot;:{&quot;fill&quot;:{&quot;gradient&quot;:[{&quot;brightness&quot;:0.800000011920929,&quot;colorType&quot;:1,&quot;foreColorIndex&quot;:5,&quot;pos&quot;:0.009999999776482582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21.xml><?xml version="1.0" encoding="utf-8"?>
<p:tagLst xmlns:p="http://schemas.openxmlformats.org/presentationml/2006/main">
  <p:tag name="resource_record_key" val="{&quot;70&quot;:[3320067,3333429]}"/>
</p:tagLst>
</file>

<file path=ppt/theme/theme1.xml><?xml version="1.0" encoding="utf-8"?>
<a:theme xmlns:a="http://schemas.openxmlformats.org/drawingml/2006/main" name="28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Verdana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840</Words>
  <Application>WPS 演示</Application>
  <PresentationFormat>全屏显示(16:9)</PresentationFormat>
  <Paragraphs>71</Paragraphs>
  <Slides>6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Arial</vt:lpstr>
      <vt:lpstr>宋体</vt:lpstr>
      <vt:lpstr>Wingdings</vt:lpstr>
      <vt:lpstr>Verdana</vt:lpstr>
      <vt:lpstr>微软雅黑</vt:lpstr>
      <vt:lpstr>Arial</vt:lpstr>
      <vt:lpstr>Wingdings</vt:lpstr>
      <vt:lpstr>Arial Unicode MS</vt:lpstr>
      <vt:lpstr>Calibri</vt:lpstr>
      <vt:lpstr>Verdana</vt:lpstr>
      <vt:lpstr>28_Office 主题</vt:lpstr>
      <vt:lpstr>PowerPoint 演示文稿</vt:lpstr>
      <vt:lpstr>目      录</vt:lpstr>
      <vt:lpstr>报联商流程说明</vt:lpstr>
      <vt:lpstr>禅道管理系统使用说明</vt:lpstr>
      <vt:lpstr>禅道管理系统使用说明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【1011-23点】媒介11月方案</dc:title>
  <dc:creator>李文珊</dc:creator>
  <dc:description>GS4 10月回顾</dc:description>
  <cp:lastModifiedBy>陈彤华</cp:lastModifiedBy>
  <cp:revision>7913</cp:revision>
  <cp:lastPrinted>1900-01-01T00:00:00Z</cp:lastPrinted>
  <dcterms:created xsi:type="dcterms:W3CDTF">1900-01-01T00:00:00Z</dcterms:created>
  <dcterms:modified xsi:type="dcterms:W3CDTF">2025-01-20T03:03:18Z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2052-12.1.0.19770</vt:lpwstr>
  </property>
  <property fmtid="{D5CDD505-2E9C-101B-9397-08002B2CF9AE}" pid="3" name="Presentation">
    <vt:lpwstr>【1011-23点】媒介11月方案</vt:lpwstr>
  </property>
  <property fmtid="{D5CDD505-2E9C-101B-9397-08002B2CF9AE}" pid="4" name="SlideDescription">
    <vt:lpwstr>GS4 10月回顾</vt:lpwstr>
  </property>
  <property fmtid="{D5CDD505-2E9C-101B-9397-08002B2CF9AE}" pid="5" name="ICV">
    <vt:lpwstr>B00D600E679246288D703DC5CB535E44_12</vt:lpwstr>
  </property>
</Properties>
</file>